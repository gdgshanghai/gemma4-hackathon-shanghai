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6" r:id="rId4"/>
    <p:sldId id="262" r:id="rId5"/>
    <p:sldId id="267" r:id="rId6"/>
    <p:sldId id="268" r:id="rId7"/>
    <p:sldId id="269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817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我不是不想做，是一看到这么多，就觉得今晚做不完，干脆不想开始。</a:t>
            </a:r>
          </a:p>
          <a:p>
            <a:endParaRPr lang="zh-CN" altLang="en-US"/>
          </a:p>
          <a:p>
            <a:r>
              <a:rPr lang="zh-CN" altLang="en-US"/>
              <a:t>今晚先把七科任务全部看清，再确认今晚先做什么；系统留出缓冲，避免拖到睡前。停止学习后，未完成任务进入下一晚，第二天还能接着规划。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StudyPilot internal evening-planning scenario and approved V11 concept copy.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半决赛时，她还在六年级，难的是不知道先做哪个。升入初一，要求来自不同老师，学科、截止日期和完成状态都分散了。孩子面对的已经不是多几门课，而是第一次要自己安排整个晚上：先做什么、怎么接着做。看不清全貌，就更不愿意开始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StudyPilot semifinal scenario and approved V11 concept copy.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家长放入学校作业单，孩子用自然语言说明进度，系统先补齐遗漏，再让孩子看见今晚全貌并确定路线。睡前孩子只复盘偏差，第二晚继续；一周以后，家长再用真实观察校准规划参数。它不答题，也不监控，只在开始前帮孩子规划，在结束时帮助反思。</a:t>
            </a:r>
          </a:p>
        </p:txBody>
      </p:sp>
    </p:spTree>
    <p:extLst>
      <p:ext uri="{BB962C8B-B14F-4D97-AF65-F5344CB8AC3E}">
        <p14:creationId xmlns:p14="http://schemas.microsoft.com/office/powerpoint/2010/main" val="3819041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单击播放</a:t>
            </a:r>
            <a:r>
              <a:rPr lang="en-US" altLang="zh-CN"/>
              <a:t>】</a:t>
            </a:r>
            <a:r>
              <a:rPr lang="zh-CN" altLang="en-US"/>
              <a:t>现在用一百秒看完一个完整闭环。这里全部是固定合成数据。前八秒，家长放入学校当天作业单；第八到第十六秒，孩子用自己的话说明七科进度和学习边界。第十六到第二十秒是真实的本地 </a:t>
            </a:r>
            <a:r>
              <a:rPr lang="en-US" altLang="zh-CN"/>
              <a:t>Gemma 4 Native Function Calling</a:t>
            </a:r>
            <a:r>
              <a:rPr lang="zh-CN" altLang="en-US"/>
              <a:t>，本次盘点实测十四点九八秒，视频只压缩了等待。第二十到第三十一秒，学校作业单自动补回孩子遗漏的地理；接着看清一百七十分钟的今晚容量。第四十到第七十秒，系统把必做任务、具体日期的后续安排、一次缓冲和真实余量编成路线，孩子自己确认。第七十到第八十二秒，孩子睡前只复盘偏差并关闭今晚；随后家长查看归档记录，不审批孩子的路线。最后十秒模拟一周后的主动校准：</a:t>
            </a:r>
            <a:r>
              <a:rPr lang="en-US" altLang="zh-CN"/>
              <a:t>Gemma </a:t>
            </a:r>
            <a:r>
              <a:rPr lang="zh-CN" altLang="en-US"/>
              <a:t>提取观察，程序计算建议，本次校准实测十三点五零秒，只有家长确认后才产生新的画像版本。</a:t>
            </a:r>
            <a:r>
              <a:rPr lang="en-US" altLang="zh-CN"/>
              <a:t>Gemma </a:t>
            </a:r>
            <a:r>
              <a:rPr lang="zh-CN" altLang="en-US"/>
              <a:t>负责听懂，程序负责不说谎，孩子和家长负责最后确认。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我的第一步不是先假设 </a:t>
            </a:r>
            <a:r>
              <a:rPr lang="en-US" altLang="zh-CN"/>
              <a:t>Gemma </a:t>
            </a:r>
            <a:r>
              <a:rPr lang="zh-CN" altLang="en-US"/>
              <a:t>应该站在系统中心，而是把家庭今晚真的会遇到的情况做成测试题，先看它能理解什么、会错什么。半决赛用六十条裸模型边界用例测试 </a:t>
            </a:r>
            <a:r>
              <a:rPr lang="en-US" altLang="zh-CN"/>
              <a:t>Gemma</a:t>
            </a:r>
            <a:r>
              <a:rPr lang="zh-CN" altLang="en-US"/>
              <a:t>：它能理解语言，却不能稳定守住截止、容量和一致性。于是重新分工：</a:t>
            </a:r>
            <a:r>
              <a:rPr lang="en-US" altLang="zh-CN"/>
              <a:t>Gemma </a:t>
            </a:r>
            <a:r>
              <a:rPr lang="zh-CN" altLang="en-US"/>
              <a:t>负责理解，程序负责规划，人负责确认。决赛的一千零三十条确定性系统测试和六条真实 </a:t>
            </a:r>
            <a:r>
              <a:rPr lang="en-US" altLang="zh-CN"/>
              <a:t>LM </a:t>
            </a:r>
            <a:r>
              <a:rPr lang="zh-CN" altLang="en-US"/>
              <a:t>门禁，验证的是重构后的系统。测试结果决定 </a:t>
            </a:r>
            <a:r>
              <a:rPr lang="en-US" altLang="zh-CN"/>
              <a:t>Gemma </a:t>
            </a:r>
            <a:r>
              <a:rPr lang="zh-CN" altLang="en-US"/>
              <a:t>在产品里的位置。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StudyPilot internal 60-case model boundary evaluation and 1030-case deterministic system test record.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084635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Gemma </a:t>
            </a:r>
            <a:r>
              <a:rPr lang="zh-CN" altLang="en-US"/>
              <a:t>的职责定下来以后，不是继续加 </a:t>
            </a:r>
            <a:r>
              <a:rPr lang="en-US" altLang="zh-CN"/>
              <a:t>Prompt</a:t>
            </a:r>
            <a:r>
              <a:rPr lang="zh-CN" altLang="en-US"/>
              <a:t>，而是在模型外面加一层 </a:t>
            </a:r>
            <a:r>
              <a:rPr lang="en-US" altLang="zh-CN"/>
              <a:t>Harness </a:t>
            </a:r>
            <a:r>
              <a:rPr lang="zh-CN" altLang="en-US"/>
              <a:t>护栏：原话先存下来，只允许规定的工具和字段，错了就拒绝或停止，并留下候选和 </a:t>
            </a:r>
            <a:r>
              <a:rPr lang="en-US" altLang="zh-CN"/>
              <a:t>Trace</a:t>
            </a:r>
            <a:r>
              <a:rPr lang="zh-CN" altLang="en-US"/>
              <a:t>。身份、版本和幂等键由服务器注入；模型只能提交候选，孩子或家长确认后才成为系统事实。</a:t>
            </a:r>
            <a:r>
              <a:rPr lang="en-US" altLang="zh-CN"/>
              <a:t>Harness </a:t>
            </a:r>
            <a:r>
              <a:rPr lang="zh-CN" altLang="en-US"/>
              <a:t>不让模型永远正确，它让错误可拒绝、可停止、可追溯。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StudyPilot Harness contract, Native Function Calling guardrails, and internal trace evidence.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99865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Gemma </a:t>
            </a:r>
            <a:r>
              <a:rPr lang="zh-CN" altLang="en-US"/>
              <a:t>听懂以后，规则引擎接手规划；状态机和长期记忆把任务接到下一晚。</a:t>
            </a:r>
            <a:r>
              <a:rPr lang="en-US" altLang="zh-CN"/>
              <a:t>Gemma </a:t>
            </a:r>
            <a:r>
              <a:rPr lang="zh-CN" altLang="en-US"/>
              <a:t>只提交候选，人类确认（孩子或家长）后候选才成为事实；</a:t>
            </a:r>
            <a:r>
              <a:rPr lang="en-US" altLang="zh-CN"/>
              <a:t>Python </a:t>
            </a:r>
            <a:r>
              <a:rPr lang="zh-CN" altLang="en-US"/>
              <a:t>根据已确认事实检查截止、估时、容量和缓冲，排出可复现路线。状态机知道流程走到哪一步，</a:t>
            </a:r>
            <a:r>
              <a:rPr lang="en-US" altLang="zh-CN"/>
              <a:t>SQLite </a:t>
            </a:r>
            <a:r>
              <a:rPr lang="zh-CN" altLang="en-US"/>
              <a:t>保存待完成任务和家庭画像，让中断后的流程能够恢复。</a:t>
            </a:r>
            <a:r>
              <a:rPr lang="en-US" altLang="zh-CN"/>
              <a:t>Gemma </a:t>
            </a:r>
            <a:r>
              <a:rPr lang="zh-CN" altLang="en-US"/>
              <a:t>是语义入口，不是整个系统；理解语言只是入口，任务能跨夜、状态能恢复，才构成产品。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StudyPilot deterministic planner, state-machine, SQLite persistence, and human-confirmation contracts.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932191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孩子 </a:t>
            </a:r>
            <a:r>
              <a:rPr lang="en-US" altLang="zh-CN"/>
              <a:t>Loop </a:t>
            </a:r>
            <a:r>
              <a:rPr lang="zh-CN" altLang="en-US"/>
              <a:t>的顺序是：家长先输入作业单，孩子再说今晚情况，</a:t>
            </a:r>
            <a:r>
              <a:rPr lang="en-US" altLang="zh-CN"/>
              <a:t>Gemma </a:t>
            </a:r>
            <a:r>
              <a:rPr lang="zh-CN" altLang="en-US"/>
              <a:t>整理成候选，孩子确认后由 </a:t>
            </a:r>
            <a:r>
              <a:rPr lang="en-US" altLang="zh-CN"/>
              <a:t>Python </a:t>
            </a:r>
            <a:r>
              <a:rPr lang="zh-CN" altLang="en-US"/>
              <a:t>排出路线，未完成任务进入下一晚。家长 </a:t>
            </a:r>
            <a:r>
              <a:rPr lang="en-US" altLang="zh-CN"/>
              <a:t>Loop </a:t>
            </a:r>
            <a:r>
              <a:rPr lang="zh-CN" altLang="en-US"/>
              <a:t>必须主动发起：家长输入观察，</a:t>
            </a:r>
            <a:r>
              <a:rPr lang="en-US" altLang="zh-CN"/>
              <a:t>Gemma </a:t>
            </a:r>
            <a:r>
              <a:rPr lang="zh-CN" altLang="en-US"/>
              <a:t>提取证据，程序计算建议，家长校准作业时间并确认，才生成新的家庭画像版本。两处受控语义入口共用同一套确定性内核，并在下一晚规划汇合；这不是模型在后台自己学习。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StudyPilot child and parent loop contracts, confirmation flow, and persistence model.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商业化有可能，但要先把真实家庭连续用好；这条路会很难。现在只能证明系统可以运行，真实家庭证据还是零晚。下一步先用一夜，再连续使用两周，只回答三个问题：遗漏是否减少，孩子是否更容易自己开始，估时偏差是否收敛。验证之后，才在家庭订阅、本地软件或规划 </a:t>
            </a:r>
            <a:r>
              <a:rPr lang="en-US" altLang="zh-CN"/>
              <a:t>Skill </a:t>
            </a:r>
            <a:r>
              <a:rPr lang="zh-CN" altLang="en-US"/>
              <a:t>中选择产品形态；预期付费者是家长，但同样要靠真实使用验证。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StudyPilot pilot protocol and approved V11 validation copy; no real-family outcome is claimed.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最后，她提出真实问题，也定义什么才算有用；我记录真实失败，用评测决定 </a:t>
            </a:r>
            <a:r>
              <a:rPr lang="en-US" altLang="zh-CN"/>
              <a:t>Gemma </a:t>
            </a:r>
            <a:r>
              <a:rPr lang="zh-CN" altLang="en-US"/>
              <a:t>该站在哪里。于是 </a:t>
            </a:r>
            <a:r>
              <a:rPr lang="en-US" altLang="zh-CN"/>
              <a:t>Gemma </a:t>
            </a:r>
            <a:r>
              <a:rPr lang="zh-CN" altLang="en-US"/>
              <a:t>理解、</a:t>
            </a:r>
            <a:r>
              <a:rPr lang="en-US" altLang="zh-CN"/>
              <a:t>Harness </a:t>
            </a:r>
            <a:r>
              <a:rPr lang="zh-CN" altLang="en-US"/>
              <a:t>控制、</a:t>
            </a:r>
            <a:r>
              <a:rPr lang="en-US" altLang="zh-CN"/>
              <a:t>Python </a:t>
            </a:r>
            <a:r>
              <a:rPr lang="zh-CN" altLang="en-US"/>
              <a:t>规划、人来确认，我们一起做成时间规划小助手。我们的核心贡献是：需求来自真实使用者，模型边界来自真实失败。下一步把它放进真实初一生活连续使用，记录偏差，继续校准。她希望以后不用爸爸提醒，也能自己知道今晚先做什么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StudyPilot father-daughter co-creation story and approved V11 closing copy.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5">
            <a:extLst>
              <a:ext uri="{FF2B5EF4-FFF2-40B4-BE49-F238E27FC236}">
                <a16:creationId xmlns:a16="http://schemas.microsoft.com/office/drawing/2014/main" id="{70319416-55A3-C264-FC0A-7DC806B861D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2" name="Rectangle 2">
              <a:extLst>
                <a:ext uri="{FF2B5EF4-FFF2-40B4-BE49-F238E27FC236}">
                  <a16:creationId xmlns:a16="http://schemas.microsoft.com/office/drawing/2014/main" id="{F485BCC0-6EAA-5395-9EBC-B1F2A5B5A0D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43" name="Rectangle 3">
              <a:extLst>
                <a:ext uri="{FF2B5EF4-FFF2-40B4-BE49-F238E27FC236}">
                  <a16:creationId xmlns:a16="http://schemas.microsoft.com/office/drawing/2014/main" id="{67CEE6C6-6255-DB5F-266D-65C3337BCE7C}"/>
                </a:ext>
              </a:extLst>
            </p:cNvPr>
            <p:cNvSpPr/>
            <p:nvPr/>
          </p:nvSpPr>
          <p:spPr>
            <a:xfrm>
              <a:off x="8610600" y="0"/>
              <a:ext cx="3581400" cy="6858000"/>
            </a:xfrm>
            <a:prstGeom prst="rect">
              <a:avLst/>
            </a:prstGeom>
            <a:solidFill>
              <a:srgbClr val="002FA7"/>
            </a:solidFill>
            <a:ln>
              <a:noFill/>
            </a:ln>
          </p:spPr>
        </p:sp>
        <p:sp>
          <p:nvSpPr>
            <p:cNvPr id="44" name="Line 4">
              <a:extLst>
                <a:ext uri="{FF2B5EF4-FFF2-40B4-BE49-F238E27FC236}">
                  <a16:creationId xmlns:a16="http://schemas.microsoft.com/office/drawing/2014/main" id="{C30F6CA6-8926-406D-F539-2CF231489854}"/>
                </a:ext>
              </a:extLst>
            </p:cNvPr>
            <p:cNvSpPr/>
            <p:nvPr/>
          </p:nvSpPr>
          <p:spPr>
            <a:xfrm>
              <a:off x="533400" y="514350"/>
              <a:ext cx="7562850" cy="9525"/>
            </a:xfrm>
            <a:custGeom>
              <a:avLst/>
              <a:gdLst/>
              <a:ahLst/>
              <a:cxnLst/>
              <a:rect l="l" t="t" r="r" b="b"/>
              <a:pathLst>
                <a:path w="7562850" h="9525">
                  <a:moveTo>
                    <a:pt x="0" y="0"/>
                  </a:moveTo>
                  <a:lnTo>
                    <a:pt x="7562850" y="0"/>
                  </a:lnTo>
                </a:path>
              </a:pathLst>
            </a:custGeom>
            <a:noFill/>
            <a:ln w="19050">
              <a:solidFill>
                <a:srgbClr val="D4D4D2"/>
              </a:solidFill>
            </a:ln>
          </p:spPr>
        </p:sp>
      </p:grpSp>
      <p:grpSp>
        <p:nvGrpSpPr>
          <p:cNvPr id="45" name="Group 10">
            <a:extLst>
              <a:ext uri="{FF2B5EF4-FFF2-40B4-BE49-F238E27FC236}">
                <a16:creationId xmlns:a16="http://schemas.microsoft.com/office/drawing/2014/main" id="{BE8E8DB9-16E2-91F6-61D2-8E69EFAB8961}"/>
              </a:ext>
            </a:extLst>
          </p:cNvPr>
          <p:cNvGrpSpPr/>
          <p:nvPr/>
        </p:nvGrpSpPr>
        <p:grpSpPr>
          <a:xfrm>
            <a:off x="457200" y="1174432"/>
            <a:ext cx="3923348" cy="2773680"/>
            <a:chOff x="457200" y="1174432"/>
            <a:chExt cx="3923348" cy="2773680"/>
          </a:xfrm>
        </p:grpSpPr>
        <p:sp>
          <p:nvSpPr>
            <p:cNvPr id="46" name="TextBox 6">
              <a:extLst>
                <a:ext uri="{FF2B5EF4-FFF2-40B4-BE49-F238E27FC236}">
                  <a16:creationId xmlns:a16="http://schemas.microsoft.com/office/drawing/2014/main" id="{AE9DDE53-E65D-FED9-4655-B15BDAE2DE3F}"/>
                </a:ext>
              </a:extLst>
            </p:cNvPr>
            <p:cNvSpPr txBox="1"/>
            <p:nvPr/>
          </p:nvSpPr>
          <p:spPr>
            <a:xfrm>
              <a:off x="512445" y="1174432"/>
              <a:ext cx="3149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2FA7"/>
                  </a:solidFill>
                  <a:latin typeface="Microsoft YaHei UI"/>
                  <a:ea typeface="Microsoft YaHei"/>
                  <a:cs typeface="Microsoft YaHei UI"/>
                </a:rPr>
                <a:t>GEMMA 4 本地推理 · 父女共创</a:t>
              </a:r>
            </a:p>
          </p:txBody>
        </p:sp>
        <p:sp>
          <p:nvSpPr>
            <p:cNvPr id="47" name="TextBox 7">
              <a:extLst>
                <a:ext uri="{FF2B5EF4-FFF2-40B4-BE49-F238E27FC236}">
                  <a16:creationId xmlns:a16="http://schemas.microsoft.com/office/drawing/2014/main" id="{1761553A-082B-EE96-0893-665E23691010}"/>
                </a:ext>
              </a:extLst>
            </p:cNvPr>
            <p:cNvSpPr txBox="1"/>
            <p:nvPr/>
          </p:nvSpPr>
          <p:spPr>
            <a:xfrm>
              <a:off x="457200" y="1676400"/>
              <a:ext cx="351282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时间规划</a:t>
              </a:r>
            </a:p>
          </p:txBody>
        </p:sp>
        <p:sp>
          <p:nvSpPr>
            <p:cNvPr id="48" name="TextBox 8">
              <a:extLst>
                <a:ext uri="{FF2B5EF4-FFF2-40B4-BE49-F238E27FC236}">
                  <a16:creationId xmlns:a16="http://schemas.microsoft.com/office/drawing/2014/main" id="{A4C845A8-23D4-4744-9ACD-DFC5B6A2A372}"/>
                </a:ext>
              </a:extLst>
            </p:cNvPr>
            <p:cNvSpPr txBox="1"/>
            <p:nvPr/>
          </p:nvSpPr>
          <p:spPr>
            <a:xfrm>
              <a:off x="457200" y="2571750"/>
              <a:ext cx="2672715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小助手</a:t>
              </a:r>
            </a:p>
          </p:txBody>
        </p:sp>
        <p:sp>
          <p:nvSpPr>
            <p:cNvPr id="49" name="TextBox 9">
              <a:extLst>
                <a:ext uri="{FF2B5EF4-FFF2-40B4-BE49-F238E27FC236}">
                  <a16:creationId xmlns:a16="http://schemas.microsoft.com/office/drawing/2014/main" id="{144CA928-FC8E-1419-B6D5-ADECAD992E92}"/>
                </a:ext>
              </a:extLst>
            </p:cNvPr>
            <p:cNvSpPr txBox="1"/>
            <p:nvPr/>
          </p:nvSpPr>
          <p:spPr>
            <a:xfrm>
              <a:off x="542925" y="3490912"/>
              <a:ext cx="383762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665A"/>
                  </a:solidFill>
                  <a:latin typeface="Microsoft YaHei UI"/>
                  <a:ea typeface="Microsoft YaHei"/>
                  <a:cs typeface="Microsoft YaHei UI"/>
                </a:rPr>
                <a:t>先看清今晚，再一步步完成</a:t>
              </a:r>
            </a:p>
          </p:txBody>
        </p:sp>
      </p:grpSp>
      <p:grpSp>
        <p:nvGrpSpPr>
          <p:cNvPr id="50" name="Group 16">
            <a:extLst>
              <a:ext uri="{FF2B5EF4-FFF2-40B4-BE49-F238E27FC236}">
                <a16:creationId xmlns:a16="http://schemas.microsoft.com/office/drawing/2014/main" id="{E3C99C53-59AE-6D63-E490-D9D6BC4FE490}"/>
              </a:ext>
            </a:extLst>
          </p:cNvPr>
          <p:cNvGrpSpPr/>
          <p:nvPr/>
        </p:nvGrpSpPr>
        <p:grpSpPr>
          <a:xfrm>
            <a:off x="533400" y="4343400"/>
            <a:ext cx="7334250" cy="1466850"/>
            <a:chOff x="533400" y="4343400"/>
            <a:chExt cx="7334250" cy="1466850"/>
          </a:xfrm>
        </p:grpSpPr>
        <p:sp>
          <p:nvSpPr>
            <p:cNvPr id="51" name="Rectangle 11">
              <a:extLst>
                <a:ext uri="{FF2B5EF4-FFF2-40B4-BE49-F238E27FC236}">
                  <a16:creationId xmlns:a16="http://schemas.microsoft.com/office/drawing/2014/main" id="{105A5E27-E7B6-1118-41F4-9BAF4F43645C}"/>
                </a:ext>
              </a:extLst>
            </p:cNvPr>
            <p:cNvSpPr/>
            <p:nvPr/>
          </p:nvSpPr>
          <p:spPr>
            <a:xfrm>
              <a:off x="533400" y="4343400"/>
              <a:ext cx="7334250" cy="1466850"/>
            </a:xfrm>
            <a:prstGeom prst="rect">
              <a:avLst/>
            </a:prstGeom>
            <a:solidFill>
              <a:srgbClr val="F0F0EE"/>
            </a:solidFill>
            <a:ln>
              <a:noFill/>
            </a:ln>
          </p:spPr>
        </p:sp>
        <p:sp>
          <p:nvSpPr>
            <p:cNvPr id="52" name="Rectangle 12">
              <a:extLst>
                <a:ext uri="{FF2B5EF4-FFF2-40B4-BE49-F238E27FC236}">
                  <a16:creationId xmlns:a16="http://schemas.microsoft.com/office/drawing/2014/main" id="{CD23E2C0-81EC-0997-0289-3F8042EB4A83}"/>
                </a:ext>
              </a:extLst>
            </p:cNvPr>
            <p:cNvSpPr/>
            <p:nvPr/>
          </p:nvSpPr>
          <p:spPr>
            <a:xfrm>
              <a:off x="533400" y="4343400"/>
              <a:ext cx="76200" cy="146685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53" name="TextBox 13">
              <a:extLst>
                <a:ext uri="{FF2B5EF4-FFF2-40B4-BE49-F238E27FC236}">
                  <a16:creationId xmlns:a16="http://schemas.microsoft.com/office/drawing/2014/main" id="{5CF6862D-A8EF-72BC-ED6F-502EA9352838}"/>
                </a:ext>
              </a:extLst>
            </p:cNvPr>
            <p:cNvSpPr txBox="1"/>
            <p:nvPr/>
          </p:nvSpPr>
          <p:spPr>
            <a:xfrm>
              <a:off x="813435" y="4590098"/>
              <a:ext cx="429521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“我不是不想做，是一看到这么多，</a:t>
              </a:r>
            </a:p>
          </p:txBody>
        </p:sp>
        <p:sp>
          <p:nvSpPr>
            <p:cNvPr id="54" name="TextBox 14">
              <a:extLst>
                <a:ext uri="{FF2B5EF4-FFF2-40B4-BE49-F238E27FC236}">
                  <a16:creationId xmlns:a16="http://schemas.microsoft.com/office/drawing/2014/main" id="{BA46B3C4-B49F-1188-406D-6C2A3E87A9DA}"/>
                </a:ext>
              </a:extLst>
            </p:cNvPr>
            <p:cNvSpPr txBox="1"/>
            <p:nvPr/>
          </p:nvSpPr>
          <p:spPr>
            <a:xfrm>
              <a:off x="813435" y="4980622"/>
              <a:ext cx="456824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就觉得今晚做不完，干脆不想开始。”</a:t>
              </a:r>
            </a:p>
          </p:txBody>
        </p:sp>
        <p:sp>
          <p:nvSpPr>
            <p:cNvPr id="55" name="TextBox 15">
              <a:extLst>
                <a:ext uri="{FF2B5EF4-FFF2-40B4-BE49-F238E27FC236}">
                  <a16:creationId xmlns:a16="http://schemas.microsoft.com/office/drawing/2014/main" id="{753A30C8-3E8F-69C3-6C1D-C82E1B9B3939}"/>
                </a:ext>
              </a:extLst>
            </p:cNvPr>
            <p:cNvSpPr txBox="1"/>
            <p:nvPr/>
          </p:nvSpPr>
          <p:spPr>
            <a:xfrm>
              <a:off x="821055" y="5435918"/>
              <a:ext cx="13214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5252"/>
                  </a:solidFill>
                  <a:latin typeface="Microsoft YaHei UI"/>
                  <a:ea typeface="Microsoft YaHei"/>
                  <a:cs typeface="Microsoft YaHei UI"/>
                </a:rPr>
                <a:t>女儿 · 初一新生</a:t>
              </a:r>
            </a:p>
          </p:txBody>
        </p:sp>
      </p:grpSp>
      <p:grpSp>
        <p:nvGrpSpPr>
          <p:cNvPr id="56" name="Group 38">
            <a:extLst>
              <a:ext uri="{FF2B5EF4-FFF2-40B4-BE49-F238E27FC236}">
                <a16:creationId xmlns:a16="http://schemas.microsoft.com/office/drawing/2014/main" id="{BD1C0E24-FAAA-A9A5-11B1-05E4C3A93AFF}"/>
              </a:ext>
            </a:extLst>
          </p:cNvPr>
          <p:cNvGrpSpPr/>
          <p:nvPr/>
        </p:nvGrpSpPr>
        <p:grpSpPr>
          <a:xfrm>
            <a:off x="8957310" y="621506"/>
            <a:ext cx="2878932" cy="5738813"/>
            <a:chOff x="8957310" y="621506"/>
            <a:chExt cx="2878932" cy="5738813"/>
          </a:xfrm>
        </p:grpSpPr>
        <p:grpSp>
          <p:nvGrpSpPr>
            <p:cNvPr id="57" name="Group 20">
              <a:extLst>
                <a:ext uri="{FF2B5EF4-FFF2-40B4-BE49-F238E27FC236}">
                  <a16:creationId xmlns:a16="http://schemas.microsoft.com/office/drawing/2014/main" id="{CF7D703A-1078-9C72-4A8A-38D7138AFE54}"/>
                </a:ext>
              </a:extLst>
            </p:cNvPr>
            <p:cNvGrpSpPr/>
            <p:nvPr/>
          </p:nvGrpSpPr>
          <p:grpSpPr>
            <a:xfrm>
              <a:off x="9060656" y="621506"/>
              <a:ext cx="300038" cy="300038"/>
              <a:chOff x="9060656" y="621506"/>
              <a:chExt cx="300038" cy="300038"/>
            </a:xfrm>
          </p:grpSpPr>
          <p:sp>
            <p:nvSpPr>
              <p:cNvPr id="75" name="Freeform 17">
                <a:extLst>
                  <a:ext uri="{FF2B5EF4-FFF2-40B4-BE49-F238E27FC236}">
                    <a16:creationId xmlns:a16="http://schemas.microsoft.com/office/drawing/2014/main" id="{E14D29C7-3553-608E-DE99-6CDDFB9B858C}"/>
                  </a:ext>
                </a:extLst>
              </p:cNvPr>
              <p:cNvSpPr/>
              <p:nvPr/>
            </p:nvSpPr>
            <p:spPr>
              <a:xfrm>
                <a:off x="9060656" y="85486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6" name="Freeform 18">
                <a:extLst>
                  <a:ext uri="{FF2B5EF4-FFF2-40B4-BE49-F238E27FC236}">
                    <a16:creationId xmlns:a16="http://schemas.microsoft.com/office/drawing/2014/main" id="{F252DCE7-B742-2FB4-B767-4C45B8477535}"/>
                  </a:ext>
                </a:extLst>
              </p:cNvPr>
              <p:cNvSpPr/>
              <p:nvPr/>
            </p:nvSpPr>
            <p:spPr>
              <a:xfrm>
                <a:off x="9294019" y="62150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7" name="Freeform 19">
                <a:extLst>
                  <a:ext uri="{FF2B5EF4-FFF2-40B4-BE49-F238E27FC236}">
                    <a16:creationId xmlns:a16="http://schemas.microsoft.com/office/drawing/2014/main" id="{2616035B-01DD-6A39-805D-7C359555DB5A}"/>
                  </a:ext>
                </a:extLst>
              </p:cNvPr>
              <p:cNvSpPr/>
              <p:nvPr/>
            </p:nvSpPr>
            <p:spPr>
              <a:xfrm>
                <a:off x="9177338" y="65484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8" name="TextBox 21">
              <a:extLst>
                <a:ext uri="{FF2B5EF4-FFF2-40B4-BE49-F238E27FC236}">
                  <a16:creationId xmlns:a16="http://schemas.microsoft.com/office/drawing/2014/main" id="{2BD35E9E-1ADD-CF61-6C1E-08975C45AACD}"/>
                </a:ext>
              </a:extLst>
            </p:cNvPr>
            <p:cNvSpPr txBox="1"/>
            <p:nvPr/>
          </p:nvSpPr>
          <p:spPr>
            <a:xfrm>
              <a:off x="9544050" y="70485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今晚路线</a:t>
              </a:r>
            </a:p>
          </p:txBody>
        </p:sp>
        <p:sp>
          <p:nvSpPr>
            <p:cNvPr id="59" name="TextBox 22">
              <a:extLst>
                <a:ext uri="{FF2B5EF4-FFF2-40B4-BE49-F238E27FC236}">
                  <a16:creationId xmlns:a16="http://schemas.microsoft.com/office/drawing/2014/main" id="{09EED09A-FD4B-6FF1-9F58-FFA882AC6324}"/>
                </a:ext>
              </a:extLst>
            </p:cNvPr>
            <p:cNvSpPr txBox="1"/>
            <p:nvPr/>
          </p:nvSpPr>
          <p:spPr>
            <a:xfrm>
              <a:off x="8957310" y="1261110"/>
              <a:ext cx="929983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170</a:t>
              </a:r>
            </a:p>
          </p:txBody>
        </p:sp>
        <p:sp>
          <p:nvSpPr>
            <p:cNvPr id="60" name="TextBox 23">
              <a:extLst>
                <a:ext uri="{FF2B5EF4-FFF2-40B4-BE49-F238E27FC236}">
                  <a16:creationId xmlns:a16="http://schemas.microsoft.com/office/drawing/2014/main" id="{4FAD41D2-2FEB-DDBA-3118-333DDE5596D3}"/>
                </a:ext>
              </a:extLst>
            </p:cNvPr>
            <p:cNvSpPr txBox="1"/>
            <p:nvPr/>
          </p:nvSpPr>
          <p:spPr>
            <a:xfrm>
              <a:off x="10264140" y="15201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分钟</a:t>
              </a:r>
            </a:p>
          </p:txBody>
        </p:sp>
        <p:sp>
          <p:nvSpPr>
            <p:cNvPr id="61" name="Line 24">
              <a:extLst>
                <a:ext uri="{FF2B5EF4-FFF2-40B4-BE49-F238E27FC236}">
                  <a16:creationId xmlns:a16="http://schemas.microsoft.com/office/drawing/2014/main" id="{E59E1DDF-0484-0A90-071D-1A599D61D798}"/>
                </a:ext>
              </a:extLst>
            </p:cNvPr>
            <p:cNvSpPr/>
            <p:nvPr/>
          </p:nvSpPr>
          <p:spPr>
            <a:xfrm>
              <a:off x="9220200" y="2343150"/>
              <a:ext cx="9525" cy="3371850"/>
            </a:xfrm>
            <a:custGeom>
              <a:avLst/>
              <a:gdLst/>
              <a:ahLst/>
              <a:cxnLst/>
              <a:rect l="l" t="t" r="r" b="b"/>
              <a:pathLst>
                <a:path w="9525" h="3371850">
                  <a:moveTo>
                    <a:pt x="0" y="0"/>
                  </a:moveTo>
                  <a:lnTo>
                    <a:pt x="0" y="3371850"/>
                  </a:lnTo>
                </a:path>
              </a:pathLst>
            </a:custGeom>
            <a:noFill/>
            <a:ln w="28575">
              <a:solidFill>
                <a:srgbClr val="FFFFFF">
                  <a:alpha val="72000"/>
                </a:srgbClr>
              </a:solidFill>
            </a:ln>
          </p:spPr>
        </p:sp>
        <p:sp>
          <p:nvSpPr>
            <p:cNvPr id="62" name="Ellipse 25">
              <a:extLst>
                <a:ext uri="{FF2B5EF4-FFF2-40B4-BE49-F238E27FC236}">
                  <a16:creationId xmlns:a16="http://schemas.microsoft.com/office/drawing/2014/main" id="{0EDE9893-F203-EEE4-72EC-FF3FB51CDEF3}"/>
                </a:ext>
              </a:extLst>
            </p:cNvPr>
            <p:cNvSpPr/>
            <p:nvPr/>
          </p:nvSpPr>
          <p:spPr>
            <a:xfrm>
              <a:off x="9134475" y="2390775"/>
              <a:ext cx="171450" cy="171450"/>
            </a:xfrm>
            <a:prstGeom prst="ellipse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63" name="Ellipse 26">
              <a:extLst>
                <a:ext uri="{FF2B5EF4-FFF2-40B4-BE49-F238E27FC236}">
                  <a16:creationId xmlns:a16="http://schemas.microsoft.com/office/drawing/2014/main" id="{B838A89C-FCFD-5004-A8F6-AFDD72E6710A}"/>
                </a:ext>
              </a:extLst>
            </p:cNvPr>
            <p:cNvSpPr/>
            <p:nvPr/>
          </p:nvSpPr>
          <p:spPr>
            <a:xfrm>
              <a:off x="9134475" y="34575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Ellipse 27">
              <a:extLst>
                <a:ext uri="{FF2B5EF4-FFF2-40B4-BE49-F238E27FC236}">
                  <a16:creationId xmlns:a16="http://schemas.microsoft.com/office/drawing/2014/main" id="{F8EB8A53-B64E-7FCD-CAB1-619769CCB0AE}"/>
                </a:ext>
              </a:extLst>
            </p:cNvPr>
            <p:cNvSpPr/>
            <p:nvPr/>
          </p:nvSpPr>
          <p:spPr>
            <a:xfrm>
              <a:off x="9134475" y="45243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Ellipse 28">
              <a:extLst>
                <a:ext uri="{FF2B5EF4-FFF2-40B4-BE49-F238E27FC236}">
                  <a16:creationId xmlns:a16="http://schemas.microsoft.com/office/drawing/2014/main" id="{7BD7D9F1-FBD5-FD19-7DAC-CFF6C3280729}"/>
                </a:ext>
              </a:extLst>
            </p:cNvPr>
            <p:cNvSpPr/>
            <p:nvPr/>
          </p:nvSpPr>
          <p:spPr>
            <a:xfrm>
              <a:off x="9134475" y="5591175"/>
              <a:ext cx="171450" cy="171450"/>
            </a:xfrm>
            <a:prstGeom prst="ellipse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66" name="TextBox 29">
              <a:extLst>
                <a:ext uri="{FF2B5EF4-FFF2-40B4-BE49-F238E27FC236}">
                  <a16:creationId xmlns:a16="http://schemas.microsoft.com/office/drawing/2014/main" id="{5FA02511-528C-EC2F-FFB2-14C066A74198}"/>
                </a:ext>
              </a:extLst>
            </p:cNvPr>
            <p:cNvSpPr txBox="1"/>
            <p:nvPr/>
          </p:nvSpPr>
          <p:spPr>
            <a:xfrm>
              <a:off x="9486900" y="2400300"/>
              <a:ext cx="5631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19:30</a:t>
              </a:r>
            </a:p>
          </p:txBody>
        </p:sp>
        <p:sp>
          <p:nvSpPr>
            <p:cNvPr id="67" name="TextBox 30">
              <a:extLst>
                <a:ext uri="{FF2B5EF4-FFF2-40B4-BE49-F238E27FC236}">
                  <a16:creationId xmlns:a16="http://schemas.microsoft.com/office/drawing/2014/main" id="{26E67BF3-59DD-8FA4-C20A-A20FEFAF6F31}"/>
                </a:ext>
              </a:extLst>
            </p:cNvPr>
            <p:cNvSpPr txBox="1"/>
            <p:nvPr/>
          </p:nvSpPr>
          <p:spPr>
            <a:xfrm>
              <a:off x="9485948" y="2687479"/>
              <a:ext cx="151018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先看清七科任务</a:t>
              </a:r>
            </a:p>
          </p:txBody>
        </p:sp>
        <p:sp>
          <p:nvSpPr>
            <p:cNvPr id="68" name="TextBox 31">
              <a:extLst>
                <a:ext uri="{FF2B5EF4-FFF2-40B4-BE49-F238E27FC236}">
                  <a16:creationId xmlns:a16="http://schemas.microsoft.com/office/drawing/2014/main" id="{A8376598-E15D-91BF-AE5A-F44120D8E836}"/>
                </a:ext>
              </a:extLst>
            </p:cNvPr>
            <p:cNvSpPr txBox="1"/>
            <p:nvPr/>
          </p:nvSpPr>
          <p:spPr>
            <a:xfrm>
              <a:off x="9486900" y="3467100"/>
              <a:ext cx="5631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20:15</a:t>
              </a:r>
            </a:p>
          </p:txBody>
        </p:sp>
        <p:sp>
          <p:nvSpPr>
            <p:cNvPr id="69" name="TextBox 32">
              <a:extLst>
                <a:ext uri="{FF2B5EF4-FFF2-40B4-BE49-F238E27FC236}">
                  <a16:creationId xmlns:a16="http://schemas.microsoft.com/office/drawing/2014/main" id="{7F557B0E-55F3-B3FF-7825-975EA669A291}"/>
                </a:ext>
              </a:extLst>
            </p:cNvPr>
            <p:cNvSpPr txBox="1"/>
            <p:nvPr/>
          </p:nvSpPr>
          <p:spPr>
            <a:xfrm>
              <a:off x="9485948" y="3754279"/>
              <a:ext cx="17202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确认今晚先做什么</a:t>
              </a:r>
            </a:p>
          </p:txBody>
        </p:sp>
        <p:sp>
          <p:nvSpPr>
            <p:cNvPr id="70" name="TextBox 33">
              <a:extLst>
                <a:ext uri="{FF2B5EF4-FFF2-40B4-BE49-F238E27FC236}">
                  <a16:creationId xmlns:a16="http://schemas.microsoft.com/office/drawing/2014/main" id="{AB24F5D3-394C-E046-FB6C-EA4ED60BFA7C}"/>
                </a:ext>
              </a:extLst>
            </p:cNvPr>
            <p:cNvSpPr txBox="1"/>
            <p:nvPr/>
          </p:nvSpPr>
          <p:spPr>
            <a:xfrm>
              <a:off x="9486900" y="4533900"/>
              <a:ext cx="5631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21:30</a:t>
              </a:r>
            </a:p>
          </p:txBody>
        </p:sp>
        <p:sp>
          <p:nvSpPr>
            <p:cNvPr id="71" name="TextBox 34">
              <a:extLst>
                <a:ext uri="{FF2B5EF4-FFF2-40B4-BE49-F238E27FC236}">
                  <a16:creationId xmlns:a16="http://schemas.microsoft.com/office/drawing/2014/main" id="{7C61B5CD-41AD-C281-2978-7E0759072B72}"/>
                </a:ext>
              </a:extLst>
            </p:cNvPr>
            <p:cNvSpPr txBox="1"/>
            <p:nvPr/>
          </p:nvSpPr>
          <p:spPr>
            <a:xfrm>
              <a:off x="9485948" y="4821079"/>
              <a:ext cx="23502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留出缓冲，避免拖到睡前</a:t>
              </a:r>
            </a:p>
          </p:txBody>
        </p:sp>
        <p:sp>
          <p:nvSpPr>
            <p:cNvPr id="72" name="TextBox 35">
              <a:extLst>
                <a:ext uri="{FF2B5EF4-FFF2-40B4-BE49-F238E27FC236}">
                  <a16:creationId xmlns:a16="http://schemas.microsoft.com/office/drawing/2014/main" id="{598ACFF9-1E0A-72B2-BA18-D0A7B471CEA3}"/>
                </a:ext>
              </a:extLst>
            </p:cNvPr>
            <p:cNvSpPr txBox="1"/>
            <p:nvPr/>
          </p:nvSpPr>
          <p:spPr>
            <a:xfrm>
              <a:off x="9486900" y="5495925"/>
              <a:ext cx="6156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22:20</a:t>
              </a:r>
            </a:p>
          </p:txBody>
        </p:sp>
        <p:sp>
          <p:nvSpPr>
            <p:cNvPr id="73" name="TextBox 36">
              <a:extLst>
                <a:ext uri="{FF2B5EF4-FFF2-40B4-BE49-F238E27FC236}">
                  <a16:creationId xmlns:a16="http://schemas.microsoft.com/office/drawing/2014/main" id="{8875F5A0-46BD-9261-67A0-37A8AB09E273}"/>
                </a:ext>
              </a:extLst>
            </p:cNvPr>
            <p:cNvSpPr txBox="1"/>
            <p:nvPr/>
          </p:nvSpPr>
          <p:spPr>
            <a:xfrm>
              <a:off x="9485948" y="5773579"/>
              <a:ext cx="109013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停止学习，</a:t>
              </a:r>
            </a:p>
          </p:txBody>
        </p:sp>
        <p:sp>
          <p:nvSpPr>
            <p:cNvPr id="74" name="TextBox 37">
              <a:extLst>
                <a:ext uri="{FF2B5EF4-FFF2-40B4-BE49-F238E27FC236}">
                  <a16:creationId xmlns:a16="http://schemas.microsoft.com/office/drawing/2014/main" id="{29563D3D-4EC0-320B-E29E-DE1A9F5C52E5}"/>
                </a:ext>
              </a:extLst>
            </p:cNvPr>
            <p:cNvSpPr txBox="1"/>
            <p:nvPr/>
          </p:nvSpPr>
          <p:spPr>
            <a:xfrm>
              <a:off x="9485948" y="6040279"/>
              <a:ext cx="214026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未完成任务进入下一晚</a:t>
              </a:r>
            </a:p>
          </p:txBody>
        </p:sp>
      </p:grpSp>
      <p:grpSp>
        <p:nvGrpSpPr>
          <p:cNvPr id="78" name="Group 41">
            <a:extLst>
              <a:ext uri="{FF2B5EF4-FFF2-40B4-BE49-F238E27FC236}">
                <a16:creationId xmlns:a16="http://schemas.microsoft.com/office/drawing/2014/main" id="{E4B52C4F-5F07-FF02-B9C1-28252B73A293}"/>
              </a:ext>
            </a:extLst>
          </p:cNvPr>
          <p:cNvGrpSpPr/>
          <p:nvPr/>
        </p:nvGrpSpPr>
        <p:grpSpPr>
          <a:xfrm>
            <a:off x="518160" y="6366510"/>
            <a:ext cx="11212830" cy="243840"/>
            <a:chOff x="518160" y="6366510"/>
            <a:chExt cx="11212830" cy="243840"/>
          </a:xfrm>
        </p:grpSpPr>
        <p:sp>
          <p:nvSpPr>
            <p:cNvPr id="79" name="TextBox 39">
              <a:extLst>
                <a:ext uri="{FF2B5EF4-FFF2-40B4-BE49-F238E27FC236}">
                  <a16:creationId xmlns:a16="http://schemas.microsoft.com/office/drawing/2014/main" id="{CCF352F5-8B0E-92CE-2E58-CAF8A19AE962}"/>
                </a:ext>
              </a:extLst>
            </p:cNvPr>
            <p:cNvSpPr txBox="1"/>
            <p:nvPr/>
          </p:nvSpPr>
          <p:spPr>
            <a:xfrm>
              <a:off x="518160" y="6366510"/>
              <a:ext cx="29268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37373"/>
                  </a:solidFill>
                  <a:latin typeface="Microsoft YaHei UI"/>
                  <a:ea typeface="Microsoft YaHei"/>
                  <a:cs typeface="Microsoft YaHei UI"/>
                </a:rPr>
                <a:t>时间规划小助手 · 2026 Gemma 决赛路演</a:t>
              </a:r>
            </a:p>
          </p:txBody>
        </p:sp>
        <p:sp>
          <p:nvSpPr>
            <p:cNvPr id="80" name="TextBox 40">
              <a:extLst>
                <a:ext uri="{FF2B5EF4-FFF2-40B4-BE49-F238E27FC236}">
                  <a16:creationId xmlns:a16="http://schemas.microsoft.com/office/drawing/2014/main" id="{836DEE58-0C49-7FDA-B6E1-9F0573393346}"/>
                </a:ext>
              </a:extLst>
            </p:cNvPr>
            <p:cNvSpPr txBox="1"/>
            <p:nvPr/>
          </p:nvSpPr>
          <p:spPr>
            <a:xfrm>
              <a:off x="11564493" y="6366510"/>
              <a:ext cx="1664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4">
            <a:extLst>
              <a:ext uri="{FF2B5EF4-FFF2-40B4-BE49-F238E27FC236}">
                <a16:creationId xmlns:a16="http://schemas.microsoft.com/office/drawing/2014/main" id="{A5D543CB-5924-3F45-5DE9-EA1AAFDB82B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7" name="Rectangle 2">
              <a:extLst>
                <a:ext uri="{FF2B5EF4-FFF2-40B4-BE49-F238E27FC236}">
                  <a16:creationId xmlns:a16="http://schemas.microsoft.com/office/drawing/2014/main" id="{68109FC3-4C66-1C90-4EE4-D4B6624DE60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8" name="Rectangle 3">
              <a:extLst>
                <a:ext uri="{FF2B5EF4-FFF2-40B4-BE49-F238E27FC236}">
                  <a16:creationId xmlns:a16="http://schemas.microsoft.com/office/drawing/2014/main" id="{17880BEE-EEEC-B050-E346-5B39F372FEFC}"/>
                </a:ext>
              </a:extLst>
            </p:cNvPr>
            <p:cNvSpPr/>
            <p:nvPr/>
          </p:nvSpPr>
          <p:spPr>
            <a:xfrm>
              <a:off x="0" y="0"/>
              <a:ext cx="171450" cy="6858000"/>
            </a:xfrm>
            <a:prstGeom prst="rect">
              <a:avLst/>
            </a:prstGeom>
            <a:solidFill>
              <a:srgbClr val="002FA7"/>
            </a:solidFill>
            <a:ln>
              <a:noFill/>
            </a:ln>
          </p:spPr>
        </p:sp>
      </p:grpSp>
      <p:grpSp>
        <p:nvGrpSpPr>
          <p:cNvPr id="39" name="Group 8">
            <a:extLst>
              <a:ext uri="{FF2B5EF4-FFF2-40B4-BE49-F238E27FC236}">
                <a16:creationId xmlns:a16="http://schemas.microsoft.com/office/drawing/2014/main" id="{463A8358-1B42-1124-F274-CBED8FC05326}"/>
              </a:ext>
            </a:extLst>
          </p:cNvPr>
          <p:cNvGrpSpPr/>
          <p:nvPr/>
        </p:nvGrpSpPr>
        <p:grpSpPr>
          <a:xfrm>
            <a:off x="489585" y="398621"/>
            <a:ext cx="11169015" cy="1034891"/>
            <a:chOff x="489585" y="398621"/>
            <a:chExt cx="11169015" cy="1034891"/>
          </a:xfrm>
        </p:grpSpPr>
        <p:sp>
          <p:nvSpPr>
            <p:cNvPr id="40" name="TextBox 5">
              <a:extLst>
                <a:ext uri="{FF2B5EF4-FFF2-40B4-BE49-F238E27FC236}">
                  <a16:creationId xmlns:a16="http://schemas.microsoft.com/office/drawing/2014/main" id="{A94C7A19-1DFA-FFA7-0681-EA5B6552C0CD}"/>
                </a:ext>
              </a:extLst>
            </p:cNvPr>
            <p:cNvSpPr txBox="1"/>
            <p:nvPr/>
          </p:nvSpPr>
          <p:spPr>
            <a:xfrm>
              <a:off x="515302" y="398621"/>
              <a:ext cx="21511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2FA7"/>
                  </a:solidFill>
                  <a:latin typeface="Consolas"/>
                  <a:ea typeface="Microsoft YaHei"/>
                  <a:cs typeface="Consolas"/>
                </a:rPr>
                <a:t>01 / PROBLEM EVOLVED</a:t>
              </a:r>
            </a:p>
          </p:txBody>
        </p:sp>
        <p:sp>
          <p:nvSpPr>
            <p:cNvPr id="41" name="TextBox 6">
              <a:extLst>
                <a:ext uri="{FF2B5EF4-FFF2-40B4-BE49-F238E27FC236}">
                  <a16:creationId xmlns:a16="http://schemas.microsoft.com/office/drawing/2014/main" id="{14E42F16-3F25-076A-F099-E14DB09F0197}"/>
                </a:ext>
              </a:extLst>
            </p:cNvPr>
            <p:cNvSpPr txBox="1"/>
            <p:nvPr/>
          </p:nvSpPr>
          <p:spPr>
            <a:xfrm>
              <a:off x="489585" y="732472"/>
              <a:ext cx="6367415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问题没有消失，而是升了一层</a:t>
              </a:r>
            </a:p>
          </p:txBody>
        </p:sp>
        <p:sp>
          <p:nvSpPr>
            <p:cNvPr id="42" name="Line 7">
              <a:extLst>
                <a:ext uri="{FF2B5EF4-FFF2-40B4-BE49-F238E27FC236}">
                  <a16:creationId xmlns:a16="http://schemas.microsoft.com/office/drawing/2014/main" id="{C6858C8A-0162-2235-3235-7EC1BBAA2392}"/>
                </a:ext>
              </a:extLst>
            </p:cNvPr>
            <p:cNvSpPr/>
            <p:nvPr/>
          </p:nvSpPr>
          <p:spPr>
            <a:xfrm>
              <a:off x="533400" y="13335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D4D4D2"/>
              </a:solidFill>
            </a:ln>
          </p:spPr>
        </p:sp>
      </p:grpSp>
      <p:grpSp>
        <p:nvGrpSpPr>
          <p:cNvPr id="43" name="Group 15">
            <a:extLst>
              <a:ext uri="{FF2B5EF4-FFF2-40B4-BE49-F238E27FC236}">
                <a16:creationId xmlns:a16="http://schemas.microsoft.com/office/drawing/2014/main" id="{A1F684D3-B77B-3DF5-023B-473B73A2379F}"/>
              </a:ext>
            </a:extLst>
          </p:cNvPr>
          <p:cNvGrpSpPr/>
          <p:nvPr/>
        </p:nvGrpSpPr>
        <p:grpSpPr>
          <a:xfrm>
            <a:off x="533400" y="1809750"/>
            <a:ext cx="4476750" cy="2133600"/>
            <a:chOff x="533400" y="1809750"/>
            <a:chExt cx="4476750" cy="2133600"/>
          </a:xfrm>
        </p:grpSpPr>
        <p:sp>
          <p:nvSpPr>
            <p:cNvPr id="44" name="Rectangle 9">
              <a:extLst>
                <a:ext uri="{FF2B5EF4-FFF2-40B4-BE49-F238E27FC236}">
                  <a16:creationId xmlns:a16="http://schemas.microsoft.com/office/drawing/2014/main" id="{66148867-C63F-CAB9-2691-10B4A549B480}"/>
                </a:ext>
              </a:extLst>
            </p:cNvPr>
            <p:cNvSpPr/>
            <p:nvPr/>
          </p:nvSpPr>
          <p:spPr>
            <a:xfrm>
              <a:off x="533400" y="1809750"/>
              <a:ext cx="4476750" cy="2133600"/>
            </a:xfrm>
            <a:prstGeom prst="rect">
              <a:avLst/>
            </a:prstGeom>
            <a:solidFill>
              <a:srgbClr val="F0F0EE"/>
            </a:solidFill>
            <a:ln>
              <a:noFill/>
            </a:ln>
          </p:spPr>
        </p:sp>
        <p:sp>
          <p:nvSpPr>
            <p:cNvPr id="45" name="Rectangle 10">
              <a:extLst>
                <a:ext uri="{FF2B5EF4-FFF2-40B4-BE49-F238E27FC236}">
                  <a16:creationId xmlns:a16="http://schemas.microsoft.com/office/drawing/2014/main" id="{5607BD28-C297-40CF-58F1-75224AD72BD2}"/>
                </a:ext>
              </a:extLst>
            </p:cNvPr>
            <p:cNvSpPr/>
            <p:nvPr/>
          </p:nvSpPr>
          <p:spPr>
            <a:xfrm>
              <a:off x="533400" y="1809750"/>
              <a:ext cx="76200" cy="2133600"/>
            </a:xfrm>
            <a:prstGeom prst="rect">
              <a:avLst/>
            </a:prstGeom>
            <a:solidFill>
              <a:srgbClr val="1F665A"/>
            </a:solidFill>
            <a:ln>
              <a:noFill/>
            </a:ln>
          </p:spPr>
        </p:sp>
        <p:sp>
          <p:nvSpPr>
            <p:cNvPr id="46" name="TextBox 11">
              <a:extLst>
                <a:ext uri="{FF2B5EF4-FFF2-40B4-BE49-F238E27FC236}">
                  <a16:creationId xmlns:a16="http://schemas.microsoft.com/office/drawing/2014/main" id="{87E891C0-01E7-2863-A2A5-765FE873CDA2}"/>
                </a:ext>
              </a:extLst>
            </p:cNvPr>
            <p:cNvSpPr txBox="1"/>
            <p:nvPr/>
          </p:nvSpPr>
          <p:spPr>
            <a:xfrm>
              <a:off x="821055" y="2025968"/>
              <a:ext cx="1385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665A"/>
                  </a:solidFill>
                  <a:latin typeface="Consolas"/>
                  <a:ea typeface="Microsoft YaHei"/>
                  <a:cs typeface="Consolas"/>
                </a:rPr>
                <a:t>六年级 · 半决赛</a:t>
              </a:r>
            </a:p>
          </p:txBody>
        </p:sp>
        <p:sp>
          <p:nvSpPr>
            <p:cNvPr id="47" name="TextBox 12">
              <a:extLst>
                <a:ext uri="{FF2B5EF4-FFF2-40B4-BE49-F238E27FC236}">
                  <a16:creationId xmlns:a16="http://schemas.microsoft.com/office/drawing/2014/main" id="{A4A33D02-5EC8-27BB-FF9C-4F4E6C3331B2}"/>
                </a:ext>
              </a:extLst>
            </p:cNvPr>
            <p:cNvSpPr txBox="1"/>
            <p:nvPr/>
          </p:nvSpPr>
          <p:spPr>
            <a:xfrm>
              <a:off x="805815" y="2448878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难的是：</a:t>
              </a:r>
            </a:p>
          </p:txBody>
        </p:sp>
        <p:sp>
          <p:nvSpPr>
            <p:cNvPr id="48" name="TextBox 13">
              <a:extLst>
                <a:ext uri="{FF2B5EF4-FFF2-40B4-BE49-F238E27FC236}">
                  <a16:creationId xmlns:a16="http://schemas.microsoft.com/office/drawing/2014/main" id="{8A63B186-ADE2-14E9-445E-0C04483F98D8}"/>
                </a:ext>
              </a:extLst>
            </p:cNvPr>
            <p:cNvSpPr txBox="1"/>
            <p:nvPr/>
          </p:nvSpPr>
          <p:spPr>
            <a:xfrm>
              <a:off x="798195" y="2841308"/>
              <a:ext cx="228528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先做哪个？</a:t>
              </a:r>
            </a:p>
          </p:txBody>
        </p:sp>
        <p:sp>
          <p:nvSpPr>
            <p:cNvPr id="49" name="TextBox 14">
              <a:extLst>
                <a:ext uri="{FF2B5EF4-FFF2-40B4-BE49-F238E27FC236}">
                  <a16:creationId xmlns:a16="http://schemas.microsoft.com/office/drawing/2014/main" id="{8244C6B7-0DC6-128F-5E07-344FF89C15A6}"/>
                </a:ext>
              </a:extLst>
            </p:cNvPr>
            <p:cNvSpPr txBox="1"/>
            <p:nvPr/>
          </p:nvSpPr>
          <p:spPr>
            <a:xfrm>
              <a:off x="819150" y="3476625"/>
              <a:ext cx="32985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5252"/>
                  </a:solidFill>
                  <a:latin typeface="Microsoft YaHei UI"/>
                  <a:ea typeface="Microsoft YaHei"/>
                  <a:cs typeface="Microsoft YaHei UI"/>
                </a:rPr>
                <a:t>作业已经知道 · 顺序混乱 · 启动困难</a:t>
              </a:r>
            </a:p>
          </p:txBody>
        </p:sp>
      </p:grpSp>
      <p:grpSp>
        <p:nvGrpSpPr>
          <p:cNvPr id="50" name="Group 19">
            <a:extLst>
              <a:ext uri="{FF2B5EF4-FFF2-40B4-BE49-F238E27FC236}">
                <a16:creationId xmlns:a16="http://schemas.microsoft.com/office/drawing/2014/main" id="{DE6BB773-9C25-E008-2E8A-DD87CDB9668E}"/>
              </a:ext>
            </a:extLst>
          </p:cNvPr>
          <p:cNvGrpSpPr/>
          <p:nvPr/>
        </p:nvGrpSpPr>
        <p:grpSpPr>
          <a:xfrm>
            <a:off x="5181600" y="2362200"/>
            <a:ext cx="971550" cy="1128712"/>
            <a:chOff x="5181600" y="2362200"/>
            <a:chExt cx="971550" cy="1128712"/>
          </a:xfrm>
        </p:grpSpPr>
        <p:sp>
          <p:nvSpPr>
            <p:cNvPr id="51" name="Line 16">
              <a:extLst>
                <a:ext uri="{FF2B5EF4-FFF2-40B4-BE49-F238E27FC236}">
                  <a16:creationId xmlns:a16="http://schemas.microsoft.com/office/drawing/2014/main" id="{CF844133-2508-905F-6E01-2ED428C9B81A}"/>
                </a:ext>
              </a:extLst>
            </p:cNvPr>
            <p:cNvSpPr/>
            <p:nvPr/>
          </p:nvSpPr>
          <p:spPr>
            <a:xfrm>
              <a:off x="5181600" y="2457450"/>
              <a:ext cx="857250" cy="685800"/>
            </a:xfrm>
            <a:custGeom>
              <a:avLst/>
              <a:gdLst/>
              <a:ahLst/>
              <a:cxnLst/>
              <a:rect l="l" t="t" r="r" b="b"/>
              <a:pathLst>
                <a:path w="857250" h="685800">
                  <a:moveTo>
                    <a:pt x="0" y="685800"/>
                  </a:moveTo>
                  <a:lnTo>
                    <a:pt x="857250" y="0"/>
                  </a:lnTo>
                </a:path>
              </a:pathLst>
            </a:custGeom>
            <a:noFill/>
            <a:ln w="57150">
              <a:solidFill>
                <a:srgbClr val="002FA7"/>
              </a:solidFill>
            </a:ln>
          </p:spPr>
        </p:sp>
        <p:sp>
          <p:nvSpPr>
            <p:cNvPr id="52" name="Polygon 17">
              <a:extLst>
                <a:ext uri="{FF2B5EF4-FFF2-40B4-BE49-F238E27FC236}">
                  <a16:creationId xmlns:a16="http://schemas.microsoft.com/office/drawing/2014/main" id="{52674573-9848-E890-2DB5-288553FD6115}"/>
                </a:ext>
              </a:extLst>
            </p:cNvPr>
            <p:cNvSpPr/>
            <p:nvPr/>
          </p:nvSpPr>
          <p:spPr>
            <a:xfrm>
              <a:off x="5905500" y="2362200"/>
              <a:ext cx="247650" cy="247650"/>
            </a:xfrm>
            <a:custGeom>
              <a:avLst/>
              <a:gdLst/>
              <a:ahLst/>
              <a:cxnLst/>
              <a:rect l="l" t="t" r="r" b="b"/>
              <a:pathLst>
                <a:path w="247650" h="247650">
                  <a:moveTo>
                    <a:pt x="247650" y="0"/>
                  </a:moveTo>
                  <a:lnTo>
                    <a:pt x="95250" y="247650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</p:sp>
        <p:sp>
          <p:nvSpPr>
            <p:cNvPr id="53" name="TextBox 18">
              <a:extLst>
                <a:ext uri="{FF2B5EF4-FFF2-40B4-BE49-F238E27FC236}">
                  <a16:creationId xmlns:a16="http://schemas.microsoft.com/office/drawing/2014/main" id="{F28042AD-1271-20A6-E3D3-027B8370FCF6}"/>
                </a:ext>
              </a:extLst>
            </p:cNvPr>
            <p:cNvSpPr txBox="1"/>
            <p:nvPr/>
          </p:nvSpPr>
          <p:spPr>
            <a:xfrm>
              <a:off x="5186458" y="32165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2FA7"/>
                  </a:solidFill>
                  <a:latin typeface="Microsoft YaHei UI"/>
                  <a:ea typeface="Microsoft YaHei"/>
                  <a:cs typeface="Microsoft YaHei UI"/>
                </a:rPr>
                <a:t>责任升级</a:t>
              </a:r>
            </a:p>
          </p:txBody>
        </p:sp>
      </p:grpSp>
      <p:grpSp>
        <p:nvGrpSpPr>
          <p:cNvPr id="54" name="Group 27">
            <a:extLst>
              <a:ext uri="{FF2B5EF4-FFF2-40B4-BE49-F238E27FC236}">
                <a16:creationId xmlns:a16="http://schemas.microsoft.com/office/drawing/2014/main" id="{CE4A9E3D-DFF2-80CB-0CFC-95F902F54185}"/>
              </a:ext>
            </a:extLst>
          </p:cNvPr>
          <p:cNvGrpSpPr/>
          <p:nvPr/>
        </p:nvGrpSpPr>
        <p:grpSpPr>
          <a:xfrm>
            <a:off x="6286500" y="1581150"/>
            <a:ext cx="5372100" cy="2590800"/>
            <a:chOff x="6286500" y="1581150"/>
            <a:chExt cx="5372100" cy="2590800"/>
          </a:xfrm>
        </p:grpSpPr>
        <p:sp>
          <p:nvSpPr>
            <p:cNvPr id="55" name="Rectangle 20">
              <a:extLst>
                <a:ext uri="{FF2B5EF4-FFF2-40B4-BE49-F238E27FC236}">
                  <a16:creationId xmlns:a16="http://schemas.microsoft.com/office/drawing/2014/main" id="{6E148142-A6E8-5B0F-FEFE-5622DC56FFDF}"/>
                </a:ext>
              </a:extLst>
            </p:cNvPr>
            <p:cNvSpPr/>
            <p:nvPr/>
          </p:nvSpPr>
          <p:spPr>
            <a:xfrm>
              <a:off x="6286500" y="1581150"/>
              <a:ext cx="5372100" cy="2590800"/>
            </a:xfrm>
            <a:prstGeom prst="rect">
              <a:avLst/>
            </a:prstGeom>
            <a:solidFill>
              <a:srgbClr val="002FA7"/>
            </a:solidFill>
            <a:ln>
              <a:noFill/>
            </a:ln>
          </p:spPr>
        </p:sp>
        <p:sp>
          <p:nvSpPr>
            <p:cNvPr id="56" name="Rectangle 21">
              <a:extLst>
                <a:ext uri="{FF2B5EF4-FFF2-40B4-BE49-F238E27FC236}">
                  <a16:creationId xmlns:a16="http://schemas.microsoft.com/office/drawing/2014/main" id="{13542FF9-F513-4AD3-1495-0F8A21DDD3F3}"/>
                </a:ext>
              </a:extLst>
            </p:cNvPr>
            <p:cNvSpPr/>
            <p:nvPr/>
          </p:nvSpPr>
          <p:spPr>
            <a:xfrm>
              <a:off x="6286500" y="1581150"/>
              <a:ext cx="5372100" cy="9525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57" name="TextBox 22">
              <a:extLst>
                <a:ext uri="{FF2B5EF4-FFF2-40B4-BE49-F238E27FC236}">
                  <a16:creationId xmlns:a16="http://schemas.microsoft.com/office/drawing/2014/main" id="{552ED9DB-C712-DF2E-5866-342BD4A44B8F}"/>
                </a:ext>
              </a:extLst>
            </p:cNvPr>
            <p:cNvSpPr txBox="1"/>
            <p:nvPr/>
          </p:nvSpPr>
          <p:spPr>
            <a:xfrm>
              <a:off x="6612255" y="1930718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初一 · 决赛</a:t>
              </a:r>
            </a:p>
          </p:txBody>
        </p:sp>
        <p:sp>
          <p:nvSpPr>
            <p:cNvPr id="58" name="TextBox 23">
              <a:extLst>
                <a:ext uri="{FF2B5EF4-FFF2-40B4-BE49-F238E27FC236}">
                  <a16:creationId xmlns:a16="http://schemas.microsoft.com/office/drawing/2014/main" id="{9CDBB071-A764-7B43-5EE1-A572A9D95D5D}"/>
                </a:ext>
              </a:extLst>
            </p:cNvPr>
            <p:cNvSpPr txBox="1"/>
            <p:nvPr/>
          </p:nvSpPr>
          <p:spPr>
            <a:xfrm>
              <a:off x="6597015" y="2353628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难的是：</a:t>
              </a:r>
            </a:p>
          </p:txBody>
        </p:sp>
        <p:sp>
          <p:nvSpPr>
            <p:cNvPr id="59" name="TextBox 24">
              <a:extLst>
                <a:ext uri="{FF2B5EF4-FFF2-40B4-BE49-F238E27FC236}">
                  <a16:creationId xmlns:a16="http://schemas.microsoft.com/office/drawing/2014/main" id="{DE85C50C-857F-AAB6-C5E6-67448E7FE567}"/>
                </a:ext>
              </a:extLst>
            </p:cNvPr>
            <p:cNvSpPr txBox="1"/>
            <p:nvPr/>
          </p:nvSpPr>
          <p:spPr>
            <a:xfrm>
              <a:off x="6589395" y="2765108"/>
              <a:ext cx="316739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先看清整个晚上</a:t>
              </a:r>
            </a:p>
          </p:txBody>
        </p:sp>
        <p:sp>
          <p:nvSpPr>
            <p:cNvPr id="60" name="Line 25">
              <a:extLst>
                <a:ext uri="{FF2B5EF4-FFF2-40B4-BE49-F238E27FC236}">
                  <a16:creationId xmlns:a16="http://schemas.microsoft.com/office/drawing/2014/main" id="{D8E6F2A0-CF12-C004-9202-8BE87BA4E280}"/>
                </a:ext>
              </a:extLst>
            </p:cNvPr>
            <p:cNvSpPr/>
            <p:nvPr/>
          </p:nvSpPr>
          <p:spPr>
            <a:xfrm>
              <a:off x="6629400" y="335280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61" name="TextBox 26">
              <a:extLst>
                <a:ext uri="{FF2B5EF4-FFF2-40B4-BE49-F238E27FC236}">
                  <a16:creationId xmlns:a16="http://schemas.microsoft.com/office/drawing/2014/main" id="{FA775BF1-E9F1-65B2-7F1B-16040327A579}"/>
                </a:ext>
              </a:extLst>
            </p:cNvPr>
            <p:cNvSpPr txBox="1"/>
            <p:nvPr/>
          </p:nvSpPr>
          <p:spPr>
            <a:xfrm>
              <a:off x="6610350" y="3619500"/>
              <a:ext cx="39130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FFF7A"/>
                  </a:solidFill>
                  <a:latin typeface="Microsoft YaHei UI"/>
                  <a:ea typeface="Microsoft YaHei"/>
                  <a:cs typeface="Microsoft YaHei UI"/>
                </a:rPr>
                <a:t>多老师 · 多学科 · 多截止 · 完成状态分散</a:t>
              </a:r>
            </a:p>
          </p:txBody>
        </p:sp>
      </p:grpSp>
      <p:grpSp>
        <p:nvGrpSpPr>
          <p:cNvPr id="62" name="Group 32">
            <a:extLst>
              <a:ext uri="{FF2B5EF4-FFF2-40B4-BE49-F238E27FC236}">
                <a16:creationId xmlns:a16="http://schemas.microsoft.com/office/drawing/2014/main" id="{C047CA18-6A63-A8C9-D1DD-ECD4DF60F17C}"/>
              </a:ext>
            </a:extLst>
          </p:cNvPr>
          <p:cNvGrpSpPr/>
          <p:nvPr/>
        </p:nvGrpSpPr>
        <p:grpSpPr>
          <a:xfrm>
            <a:off x="533400" y="4552950"/>
            <a:ext cx="11125200" cy="1519238"/>
            <a:chOff x="533400" y="4552950"/>
            <a:chExt cx="11125200" cy="1519238"/>
          </a:xfrm>
        </p:grpSpPr>
        <p:sp>
          <p:nvSpPr>
            <p:cNvPr id="63" name="Rectangle 28">
              <a:extLst>
                <a:ext uri="{FF2B5EF4-FFF2-40B4-BE49-F238E27FC236}">
                  <a16:creationId xmlns:a16="http://schemas.microsoft.com/office/drawing/2014/main" id="{830F81AB-A50D-B3A8-F5CD-8CF123315698}"/>
                </a:ext>
              </a:extLst>
            </p:cNvPr>
            <p:cNvSpPr/>
            <p:nvPr/>
          </p:nvSpPr>
          <p:spPr>
            <a:xfrm>
              <a:off x="533400" y="4552950"/>
              <a:ext cx="11125200" cy="15049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4" name="TextBox 29">
              <a:extLst>
                <a:ext uri="{FF2B5EF4-FFF2-40B4-BE49-F238E27FC236}">
                  <a16:creationId xmlns:a16="http://schemas.microsoft.com/office/drawing/2014/main" id="{5D45D358-FE49-27C1-14F1-3AE2804D5597}"/>
                </a:ext>
              </a:extLst>
            </p:cNvPr>
            <p:cNvSpPr txBox="1"/>
            <p:nvPr/>
          </p:nvSpPr>
          <p:spPr>
            <a:xfrm>
              <a:off x="821055" y="4769168"/>
              <a:ext cx="24065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THE RESPONSIBILITY MOVED</a:t>
              </a:r>
            </a:p>
          </p:txBody>
        </p:sp>
        <p:sp>
          <p:nvSpPr>
            <p:cNvPr id="65" name="TextBox 30">
              <a:extLst>
                <a:ext uri="{FF2B5EF4-FFF2-40B4-BE49-F238E27FC236}">
                  <a16:creationId xmlns:a16="http://schemas.microsoft.com/office/drawing/2014/main" id="{74ED6633-2611-F071-C1D9-649D26DD59E8}"/>
                </a:ext>
              </a:extLst>
            </p:cNvPr>
            <p:cNvSpPr txBox="1"/>
            <p:nvPr/>
          </p:nvSpPr>
          <p:spPr>
            <a:xfrm>
              <a:off x="805815" y="5106352"/>
              <a:ext cx="791975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不是多了几门课，是第一次要自己安排整个晚上：</a:t>
              </a:r>
            </a:p>
          </p:txBody>
        </p:sp>
        <p:sp>
          <p:nvSpPr>
            <p:cNvPr id="66" name="TextBox 31">
              <a:extLst>
                <a:ext uri="{FF2B5EF4-FFF2-40B4-BE49-F238E27FC236}">
                  <a16:creationId xmlns:a16="http://schemas.microsoft.com/office/drawing/2014/main" id="{D84B38C8-4199-1F9D-77BA-1B7D9AAFA0E2}"/>
                </a:ext>
              </a:extLst>
            </p:cNvPr>
            <p:cNvSpPr txBox="1"/>
            <p:nvPr/>
          </p:nvSpPr>
          <p:spPr>
            <a:xfrm>
              <a:off x="805815" y="5554028"/>
              <a:ext cx="399226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先做什么、怎么接着做。</a:t>
              </a:r>
            </a:p>
          </p:txBody>
        </p:sp>
      </p:grpSp>
      <p:grpSp>
        <p:nvGrpSpPr>
          <p:cNvPr id="67" name="Group 35">
            <a:extLst>
              <a:ext uri="{FF2B5EF4-FFF2-40B4-BE49-F238E27FC236}">
                <a16:creationId xmlns:a16="http://schemas.microsoft.com/office/drawing/2014/main" id="{0C82DD42-8415-943C-6A3A-03E09423781E}"/>
              </a:ext>
            </a:extLst>
          </p:cNvPr>
          <p:cNvGrpSpPr/>
          <p:nvPr/>
        </p:nvGrpSpPr>
        <p:grpSpPr>
          <a:xfrm>
            <a:off x="518160" y="6461760"/>
            <a:ext cx="11155680" cy="243840"/>
            <a:chOff x="518160" y="6461760"/>
            <a:chExt cx="11155680" cy="243840"/>
          </a:xfrm>
        </p:grpSpPr>
        <p:sp>
          <p:nvSpPr>
            <p:cNvPr id="68" name="TextBox 33">
              <a:extLst>
                <a:ext uri="{FF2B5EF4-FFF2-40B4-BE49-F238E27FC236}">
                  <a16:creationId xmlns:a16="http://schemas.microsoft.com/office/drawing/2014/main" id="{9D22A5FD-242D-D9C0-A3AC-8D95C966B21A}"/>
                </a:ext>
              </a:extLst>
            </p:cNvPr>
            <p:cNvSpPr txBox="1"/>
            <p:nvPr/>
          </p:nvSpPr>
          <p:spPr>
            <a:xfrm>
              <a:off x="518160" y="6461760"/>
              <a:ext cx="18867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37373"/>
                  </a:solidFill>
                  <a:latin typeface="Consolas"/>
                  <a:ea typeface="Microsoft YaHei"/>
                  <a:cs typeface="Consolas"/>
                </a:rPr>
                <a:t>TIME PLANNING ASSISTANT</a:t>
              </a:r>
            </a:p>
          </p:txBody>
        </p:sp>
        <p:sp>
          <p:nvSpPr>
            <p:cNvPr id="69" name="TextBox 34">
              <a:extLst>
                <a:ext uri="{FF2B5EF4-FFF2-40B4-BE49-F238E27FC236}">
                  <a16:creationId xmlns:a16="http://schemas.microsoft.com/office/drawing/2014/main" id="{9D595989-A2DF-52DF-334A-89EEC16A6E49}"/>
                </a:ext>
              </a:extLst>
            </p:cNvPr>
            <p:cNvSpPr txBox="1"/>
            <p:nvPr/>
          </p:nvSpPr>
          <p:spPr>
            <a:xfrm>
              <a:off x="11467338" y="64617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37373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1490" y="368618"/>
            <a:ext cx="11184255" cy="1012507"/>
            <a:chOff x="491490" y="368618"/>
            <a:chExt cx="11184255" cy="1012507"/>
          </a:xfrm>
        </p:grpSpPr>
        <p:sp>
          <p:nvSpPr>
            <p:cNvPr id="3" name="TextBox 3"/>
            <p:cNvSpPr txBox="1"/>
            <p:nvPr/>
          </p:nvSpPr>
          <p:spPr>
            <a:xfrm>
              <a:off x="516255" y="368618"/>
              <a:ext cx="17733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2FA7"/>
                  </a:solidFill>
                  <a:latin typeface="Consolas"/>
                  <a:ea typeface="Microsoft YaHei"/>
                  <a:cs typeface="Consolas"/>
                </a:rPr>
                <a:t>03 / PRODUCT LOOP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1490" y="710565"/>
              <a:ext cx="840086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不是一次安排，而是每天续接、每周校准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993299" y="882968"/>
              <a:ext cx="36824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1F665A"/>
                  </a:solidFill>
                  <a:latin typeface="Microsoft YaHei UI"/>
                  <a:ea typeface="Microsoft YaHei"/>
                  <a:cs typeface="Microsoft YaHei UI"/>
                </a:rPr>
                <a:t>不答题 · 不监控 · 只在开始前与结束时出现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13049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D4D4D2"/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533400" y="1552575"/>
            <a:ext cx="11131808" cy="1790700"/>
            <a:chOff x="533400" y="1552575"/>
            <a:chExt cx="11131808" cy="1790700"/>
          </a:xfrm>
        </p:grpSpPr>
        <p:sp>
          <p:nvSpPr>
            <p:cNvPr id="8" name="Rectangle 8"/>
            <p:cNvSpPr/>
            <p:nvPr/>
          </p:nvSpPr>
          <p:spPr>
            <a:xfrm>
              <a:off x="533400" y="1552575"/>
              <a:ext cx="1123950" cy="266700"/>
            </a:xfrm>
            <a:prstGeom prst="roundRect">
              <a:avLst>
                <a:gd name="adj" fmla="val 14286"/>
              </a:avLst>
            </a:prstGeom>
            <a:solidFill>
              <a:srgbClr val="002FA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36094" y="1621631"/>
              <a:ext cx="9185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DAILY / 每天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1952625"/>
              <a:ext cx="2095500" cy="1390650"/>
            </a:xfrm>
            <a:prstGeom prst="roundRect">
              <a:avLst>
                <a:gd name="adj" fmla="val 4110"/>
              </a:avLst>
            </a:prstGeom>
            <a:solidFill>
              <a:srgbClr val="002FA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09612" y="2097881"/>
              <a:ext cx="1624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6278" y="2346484"/>
              <a:ext cx="1273397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作业输入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4850" y="2762250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家长：学校作业单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4850" y="301942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孩子：自然语言盘点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667000" y="26479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28575">
              <a:solidFill>
                <a:srgbClr val="002FA7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2800350" y="2590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895600" y="1952625"/>
              <a:ext cx="1238250" cy="1390650"/>
            </a:xfrm>
            <a:prstGeom prst="roundRect">
              <a:avLst>
                <a:gd name="adj" fmla="val 4615"/>
              </a:avLst>
            </a:prstGeom>
            <a:solidFill>
              <a:srgbClr val="F0F0EE"/>
            </a:solidFill>
            <a:ln w="19050">
              <a:solidFill>
                <a:srgbClr val="D4D4D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2762" y="2097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2FA7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87802" y="238696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遗漏确认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67501" y="2797492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5252"/>
                  </a:solidFill>
                  <a:latin typeface="Microsoft YaHei UI"/>
                  <a:ea typeface="Microsoft YaHei"/>
                  <a:cs typeface="Microsoft YaHei UI"/>
                </a:rPr>
                <a:t>学校单自动查漏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171950" y="26479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28575">
              <a:solidFill>
                <a:srgbClr val="002FA7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4305300" y="2590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400550" y="1952625"/>
              <a:ext cx="1238250" cy="1390650"/>
            </a:xfrm>
            <a:prstGeom prst="roundRect">
              <a:avLst>
                <a:gd name="adj" fmla="val 4615"/>
              </a:avLst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557712" y="2097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2FA7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92752" y="238696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今晚全貌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38972" y="2749868"/>
              <a:ext cx="9614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任务 · 截止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38972" y="2997518"/>
              <a:ext cx="9614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容量 · 余量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676900" y="26479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28575">
              <a:solidFill>
                <a:srgbClr val="002FA7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5810250" y="2590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905500" y="1952625"/>
              <a:ext cx="1238250" cy="1390650"/>
            </a:xfrm>
            <a:prstGeom prst="roundRect">
              <a:avLst>
                <a:gd name="adj" fmla="val 4615"/>
              </a:avLst>
            </a:prstGeom>
            <a:solidFill>
              <a:srgbClr val="F0F0EE"/>
            </a:solidFill>
            <a:ln w="19050">
              <a:solidFill>
                <a:srgbClr val="002FA7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62662" y="2097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2FA7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97702" y="238696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路线确定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53911" y="2797492"/>
              <a:ext cx="11414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5252"/>
                  </a:solidFill>
                  <a:latin typeface="Microsoft YaHei UI"/>
                  <a:ea typeface="Microsoft YaHei"/>
                  <a:cs typeface="Microsoft YaHei UI"/>
                </a:rPr>
                <a:t>顺序 · 停止线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181850" y="26479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28575">
              <a:solidFill>
                <a:srgbClr val="002FA7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7315200" y="2590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410450" y="1952625"/>
              <a:ext cx="1238250" cy="1390650"/>
            </a:xfrm>
            <a:prstGeom prst="roundRect">
              <a:avLst>
                <a:gd name="adj" fmla="val 4615"/>
              </a:avLst>
            </a:prstGeom>
            <a:solidFill>
              <a:srgbClr val="F0F0EE"/>
            </a:solidFill>
            <a:ln w="19050">
              <a:solidFill>
                <a:srgbClr val="1F665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67612" y="2097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665A"/>
                  </a:solidFill>
                  <a:latin typeface="Consolas"/>
                  <a:ea typeface="Microsoft YaHei"/>
                  <a:cs typeface="Consolas"/>
                </a:rPr>
                <a:t>05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02652" y="238696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睡前复盘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62374" y="274986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5252"/>
                  </a:solidFill>
                  <a:latin typeface="Microsoft YaHei UI"/>
                  <a:ea typeface="Microsoft YaHei"/>
                  <a:cs typeface="Microsoft YaHei UI"/>
                </a:rPr>
                <a:t>只说未完成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62374" y="299751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5252"/>
                  </a:solidFill>
                  <a:latin typeface="Microsoft YaHei UI"/>
                  <a:ea typeface="Microsoft YaHei"/>
                  <a:cs typeface="Microsoft YaHei UI"/>
                </a:rPr>
                <a:t>与最大偏差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686800" y="26479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28575">
              <a:solidFill>
                <a:srgbClr val="002FA7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8820150" y="2590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915400" y="1952625"/>
              <a:ext cx="1238250" cy="1390650"/>
            </a:xfrm>
            <a:prstGeom prst="roundRect">
              <a:avLst>
                <a:gd name="adj" fmla="val 4615"/>
              </a:avLst>
            </a:prstGeom>
            <a:solidFill>
              <a:srgbClr val="1F665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072562" y="2097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06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07602" y="238696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晚间记录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73800" y="2797492"/>
              <a:ext cx="13214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归档 · 家长查看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10191750" y="26479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28575">
              <a:solidFill>
                <a:srgbClr val="002FA7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10325100" y="2590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420350" y="1952625"/>
              <a:ext cx="1238250" cy="1390650"/>
            </a:xfrm>
            <a:prstGeom prst="roundRect">
              <a:avLst>
                <a:gd name="adj" fmla="val 4615"/>
              </a:avLst>
            </a:prstGeom>
            <a:solidFill>
              <a:srgbClr val="002FA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7512" y="2097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07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13742" y="2395061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第二晚续接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572274" y="274986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任务与偏差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572274" y="299751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进入新一晚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33400" y="3343275"/>
            <a:ext cx="11125200" cy="1905000"/>
            <a:chOff x="533400" y="3343275"/>
            <a:chExt cx="11125200" cy="1905000"/>
          </a:xfrm>
        </p:grpSpPr>
        <p:sp>
          <p:nvSpPr>
            <p:cNvPr id="55" name="Rectangle 55"/>
            <p:cNvSpPr/>
            <p:nvPr/>
          </p:nvSpPr>
          <p:spPr>
            <a:xfrm>
              <a:off x="533400" y="3743325"/>
              <a:ext cx="11125200" cy="1504950"/>
            </a:xfrm>
            <a:prstGeom prst="roundRect">
              <a:avLst>
                <a:gd name="adj" fmla="val 3797"/>
              </a:avLst>
            </a:prstGeom>
            <a:solidFill>
              <a:srgbClr val="F0F0EE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42950" y="3943350"/>
              <a:ext cx="1352550" cy="266700"/>
            </a:xfrm>
            <a:prstGeom prst="roundRect">
              <a:avLst>
                <a:gd name="adj" fmla="val 14286"/>
              </a:avLst>
            </a:prstGeom>
            <a:solidFill>
              <a:srgbClr val="1F665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81185" y="4012406"/>
              <a:ext cx="10760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WEEKLY / 每周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9534525" y="334327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28575">
              <a:solidFill>
                <a:srgbClr val="1F665A"/>
              </a:solidFill>
              <a:custDash>
                <a:ds d="166666" sp="166666"/>
              </a:custDash>
            </a:ln>
          </p:spPr>
        </p:sp>
        <p:sp>
          <p:nvSpPr>
            <p:cNvPr id="59" name="Polygon 59"/>
            <p:cNvSpPr/>
            <p:nvPr/>
          </p:nvSpPr>
          <p:spPr>
            <a:xfrm>
              <a:off x="9477375" y="3648075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1F665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2733675" y="4352925"/>
              <a:ext cx="590550" cy="5905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F665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955983" y="4570571"/>
              <a:ext cx="14593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F665A"/>
                  </a:solidFill>
                  <a:latin typeface="Consolas"/>
                  <a:ea typeface="Microsoft YaHei"/>
                  <a:cs typeface="Consolas"/>
                </a:rPr>
                <a:t>A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423285" y="4361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一周真实记录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5124450" y="4648200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28575">
              <a:solidFill>
                <a:srgbClr val="1F665A"/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5486400" y="45815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F665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5686425" y="4352925"/>
              <a:ext cx="590550" cy="5905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F665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08733" y="4570571"/>
              <a:ext cx="14593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F665A"/>
                  </a:solidFill>
                  <a:latin typeface="Consolas"/>
                  <a:ea typeface="Microsoft YaHei"/>
                  <a:cs typeface="Consolas"/>
                </a:rPr>
                <a:t>B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376035" y="4361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家长每周校准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8020050" y="4648200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28575">
              <a:solidFill>
                <a:srgbClr val="1F665A"/>
              </a:solidFill>
            </a:ln>
          </p:spPr>
        </p:sp>
        <p:sp>
          <p:nvSpPr>
            <p:cNvPr id="69" name="Polygon 69"/>
            <p:cNvSpPr/>
            <p:nvPr/>
          </p:nvSpPr>
          <p:spPr>
            <a:xfrm>
              <a:off x="8382000" y="45815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F665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648700" y="4305300"/>
              <a:ext cx="2724150" cy="685800"/>
            </a:xfrm>
            <a:prstGeom prst="roundRect">
              <a:avLst>
                <a:gd name="adj" fmla="val 8333"/>
              </a:avLst>
            </a:prstGeom>
            <a:solidFill>
              <a:srgbClr val="002FA7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936831" y="4369594"/>
              <a:ext cx="214788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更新家庭规划参数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137571" y="472297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dirty="0">
                  <a:solidFill>
                    <a:srgbClr val="DFFF7A"/>
                  </a:solidFill>
                  <a:latin typeface="Microsoft YaHei UI"/>
                  <a:ea typeface="Microsoft YaHei"/>
                  <a:cs typeface="Microsoft YaHei UI"/>
                </a:rPr>
                <a:t>继续影响之后每一晚</a:t>
              </a:r>
            </a:p>
          </p:txBody>
        </p:sp>
        <p:sp>
          <p:nvSpPr>
            <p:cNvPr id="73" name="Freeform 73"/>
            <p:cNvSpPr/>
            <p:nvPr/>
          </p:nvSpPr>
          <p:spPr>
            <a:xfrm>
              <a:off x="5019675" y="3419475"/>
              <a:ext cx="3629025" cy="1685925"/>
            </a:xfrm>
            <a:custGeom>
              <a:avLst/>
              <a:gdLst/>
              <a:ahLst/>
              <a:cxnLst/>
              <a:rect l="l" t="t" r="r" b="b"/>
              <a:pathLst>
                <a:path w="3629025" h="1685925">
                  <a:moveTo>
                    <a:pt x="3629025" y="1685925"/>
                  </a:moveTo>
                  <a:lnTo>
                    <a:pt x="0" y="1685925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F665A"/>
              </a:solidFill>
              <a:custDash>
                <a:ds d="266666" sp="200000"/>
              </a:custDash>
            </a:ln>
          </p:spPr>
        </p:sp>
        <p:sp>
          <p:nvSpPr>
            <p:cNvPr id="74" name="Polygon 74"/>
            <p:cNvSpPr/>
            <p:nvPr/>
          </p:nvSpPr>
          <p:spPr>
            <a:xfrm>
              <a:off x="4962525" y="334327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close/>
                </a:path>
              </a:pathLst>
            </a:custGeom>
            <a:solidFill>
              <a:srgbClr val="1F665A"/>
            </a:solidFill>
            <a:ln>
              <a:noFill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533400" y="5514975"/>
            <a:ext cx="11125200" cy="685800"/>
            <a:chOff x="533400" y="5514975"/>
            <a:chExt cx="11125200" cy="685800"/>
          </a:xfrm>
        </p:grpSpPr>
        <p:sp>
          <p:nvSpPr>
            <p:cNvPr id="76" name="Rectangle 76"/>
            <p:cNvSpPr/>
            <p:nvPr/>
          </p:nvSpPr>
          <p:spPr>
            <a:xfrm>
              <a:off x="533400" y="5514975"/>
              <a:ext cx="11125200" cy="685800"/>
            </a:xfrm>
            <a:prstGeom prst="roundRect">
              <a:avLst>
                <a:gd name="adj" fmla="val 8333"/>
              </a:avLst>
            </a:prstGeom>
            <a:solidFill>
              <a:srgbClr val="002FA7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687907" y="5716905"/>
              <a:ext cx="681618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每天留下一条真实记录，</a:t>
              </a:r>
              <a:r>
                <a:rPr lang="zh-CN" sz="2100" b="1" dirty="0">
                  <a:solidFill>
                    <a:srgbClr val="DFFF7A"/>
                  </a:solidFill>
                  <a:latin typeface="Microsoft YaHei UI"/>
                  <a:ea typeface="Microsoft YaHei"/>
                  <a:cs typeface="Microsoft YaHei UI"/>
                </a:rPr>
                <a:t>每周让规划更懂这个孩子。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467338" y="644271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8712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9525000" y="0"/>
              <a:ext cx="2667000" cy="6858000"/>
            </a:xfrm>
            <a:prstGeom prst="rect">
              <a:avLst/>
            </a:prstGeom>
            <a:solidFill>
              <a:srgbClr val="002FA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5780" y="722471"/>
            <a:ext cx="7211568" cy="2744629"/>
            <a:chOff x="525780" y="722471"/>
            <a:chExt cx="7211568" cy="2744629"/>
          </a:xfrm>
        </p:grpSpPr>
        <p:sp>
          <p:nvSpPr>
            <p:cNvPr id="6" name="TextBox 6"/>
            <p:cNvSpPr txBox="1"/>
            <p:nvPr/>
          </p:nvSpPr>
          <p:spPr>
            <a:xfrm>
              <a:off x="591502" y="722471"/>
              <a:ext cx="24304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07 / LIVE PRODUCT PROOF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5780" y="1421130"/>
              <a:ext cx="2705869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6600" b="1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100 </a:t>
              </a:r>
              <a:r>
                <a:rPr lang="zh-CN" altLang="en-US" sz="6600" b="1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秒</a:t>
              </a:r>
              <a:endParaRPr lang="zh-CN" sz="6600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5785" y="2389822"/>
              <a:ext cx="4435173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看完一晚如何转起来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6740" y="3101340"/>
              <a:ext cx="71506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真实 V14.5 浏览器界面 · 本地 Gemma 4 · Native Function Calling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219950" y="1714500"/>
            <a:ext cx="1485900" cy="1947862"/>
            <a:chOff x="7219950" y="1714500"/>
            <a:chExt cx="1485900" cy="1947862"/>
          </a:xfrm>
        </p:grpSpPr>
        <p:sp>
          <p:nvSpPr>
            <p:cNvPr id="11" name="Ellipse 11"/>
            <p:cNvSpPr/>
            <p:nvPr/>
          </p:nvSpPr>
          <p:spPr>
            <a:xfrm>
              <a:off x="7219950" y="1714500"/>
              <a:ext cx="1485900" cy="1485900"/>
            </a:xfrm>
            <a:prstGeom prst="ellipse">
              <a:avLst/>
            </a:prstGeom>
            <a:solidFill>
              <a:srgbClr val="DFFF7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Polygon 12"/>
            <p:cNvSpPr/>
            <p:nvPr/>
          </p:nvSpPr>
          <p:spPr>
            <a:xfrm>
              <a:off x="7772400" y="2057400"/>
              <a:ext cx="590550" cy="800100"/>
            </a:xfrm>
            <a:custGeom>
              <a:avLst/>
              <a:gdLst/>
              <a:ahLst/>
              <a:cxnLst/>
              <a:rect l="l" t="t" r="r" b="b"/>
              <a:pathLst>
                <a:path w="590550" h="800100">
                  <a:moveTo>
                    <a:pt x="0" y="0"/>
                  </a:moveTo>
                  <a:lnTo>
                    <a:pt x="0" y="800100"/>
                  </a:lnTo>
                  <a:lnTo>
                    <a:pt x="590550" y="400050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48858" y="33270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现场单击播放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42211" y="4610100"/>
            <a:ext cx="8545592" cy="714375"/>
            <a:chOff x="542211" y="4610100"/>
            <a:chExt cx="8545592" cy="714375"/>
          </a:xfrm>
        </p:grpSpPr>
        <p:sp>
          <p:nvSpPr>
            <p:cNvPr id="15" name="Line 15"/>
            <p:cNvSpPr/>
            <p:nvPr/>
          </p:nvSpPr>
          <p:spPr>
            <a:xfrm>
              <a:off x="876300" y="4705350"/>
              <a:ext cx="7772400" cy="9525"/>
            </a:xfrm>
            <a:custGeom>
              <a:avLst/>
              <a:gdLst/>
              <a:ahLst/>
              <a:cxnLst/>
              <a:rect l="l" t="t" r="r" b="b"/>
              <a:pathLst>
                <a:path w="7772400" h="9525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noFill/>
            <a:ln w="28575">
              <a:solidFill>
                <a:srgbClr val="FFFFFF">
                  <a:alpha val="5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Ellipse 16"/>
            <p:cNvSpPr/>
            <p:nvPr/>
          </p:nvSpPr>
          <p:spPr>
            <a:xfrm>
              <a:off x="781050" y="4610100"/>
              <a:ext cx="190500" cy="190500"/>
            </a:xfrm>
            <a:prstGeom prst="ellipse">
              <a:avLst/>
            </a:prstGeom>
            <a:solidFill>
              <a:srgbClr val="DFFF7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Ellipse 17"/>
            <p:cNvSpPr/>
            <p:nvPr/>
          </p:nvSpPr>
          <p:spPr>
            <a:xfrm>
              <a:off x="2724150" y="4610100"/>
              <a:ext cx="190500" cy="190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Ellipse 18"/>
            <p:cNvSpPr/>
            <p:nvPr/>
          </p:nvSpPr>
          <p:spPr>
            <a:xfrm>
              <a:off x="4667250" y="4610100"/>
              <a:ext cx="190500" cy="190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Ellipse 19"/>
            <p:cNvSpPr/>
            <p:nvPr/>
          </p:nvSpPr>
          <p:spPr>
            <a:xfrm>
              <a:off x="6610350" y="4610100"/>
              <a:ext cx="190500" cy="190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Ellipse 20"/>
            <p:cNvSpPr/>
            <p:nvPr/>
          </p:nvSpPr>
          <p:spPr>
            <a:xfrm>
              <a:off x="8553450" y="4610100"/>
              <a:ext cx="190500" cy="190500"/>
            </a:xfrm>
            <a:prstGeom prst="ellipse">
              <a:avLst/>
            </a:prstGeom>
            <a:solidFill>
              <a:srgbClr val="DFFF7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2211" y="50196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学校单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80298" y="50196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七科盘点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23398" y="50196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遗漏地理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66498" y="50196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今晚路线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09598" y="50196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最小复盘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5829300"/>
            <a:ext cx="3961621" cy="514350"/>
            <a:chOff x="609600" y="5829300"/>
            <a:chExt cx="3961621" cy="514350"/>
          </a:xfrm>
        </p:grpSpPr>
        <p:sp>
          <p:nvSpPr>
            <p:cNvPr id="27" name="Rectangle 27"/>
            <p:cNvSpPr/>
            <p:nvPr/>
          </p:nvSpPr>
          <p:spPr>
            <a:xfrm>
              <a:off x="609600" y="5829300"/>
              <a:ext cx="3657600" cy="514350"/>
            </a:xfrm>
            <a:prstGeom prst="roundRect">
              <a:avLst>
                <a:gd name="adj" fmla="val 11111"/>
              </a:avLst>
            </a:prstGeom>
            <a:solidFill>
              <a:srgbClr val="F0F0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8195" y="5994082"/>
              <a:ext cx="3773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固定合成模拟数据 · 无真实儿童数据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020300" y="838200"/>
            <a:ext cx="1676400" cy="5408176"/>
            <a:chOff x="10020300" y="838200"/>
            <a:chExt cx="1676400" cy="5408176"/>
          </a:xfrm>
        </p:grpSpPr>
        <p:grpSp>
          <p:nvGrpSpPr>
            <p:cNvPr id="36" name="Group 36"/>
            <p:cNvGrpSpPr/>
            <p:nvPr/>
          </p:nvGrpSpPr>
          <p:grpSpPr>
            <a:xfrm>
              <a:off x="10452100" y="838200"/>
              <a:ext cx="419100" cy="368300"/>
              <a:chOff x="10452100" y="838200"/>
              <a:chExt cx="419100" cy="3683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0452100" y="838200"/>
                <a:ext cx="1016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63500">
                    <a:moveTo>
                      <a:pt x="0" y="25400"/>
                    </a:moveTo>
                    <a:lnTo>
                      <a:pt x="38100" y="63500"/>
                    </a:ln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DFFF7A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10452100" y="990600"/>
                <a:ext cx="1016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63500">
                    <a:moveTo>
                      <a:pt x="0" y="25400"/>
                    </a:moveTo>
                    <a:lnTo>
                      <a:pt x="38100" y="63500"/>
                    </a:ln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DFFF7A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10452100" y="1143000"/>
                <a:ext cx="1016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63500">
                    <a:moveTo>
                      <a:pt x="0" y="25400"/>
                    </a:moveTo>
                    <a:lnTo>
                      <a:pt x="38100" y="63500"/>
                    </a:ln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DFFF7A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10642600" y="87630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DFFF7A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10642600" y="102870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DFFF7A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10642600" y="118110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DFFF7A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0476543" y="1380172"/>
              <a:ext cx="763915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4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170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39400" y="19145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分钟窗口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10020300" y="2476500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19050">
              <a:solidFill>
                <a:srgbClr val="FFFFFF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27531" y="2637472"/>
              <a:ext cx="1461939" cy="5309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3450" b="1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14.98s</a:t>
              </a:r>
              <a:endParaRPr lang="zh-CN" sz="3450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73779" y="3171825"/>
              <a:ext cx="76944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50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盘点实测</a:t>
              </a:r>
              <a:endParaRPr lang="zh-CN" sz="1500" dirty="0">
                <a:solidFill>
                  <a:srgbClr val="FFFFFF"/>
                </a:solidFill>
                <a:latin typeface="Microsoft YaHei UI"/>
                <a:ea typeface="Microsoft YaHei"/>
                <a:cs typeface="Microsoft YaHei UI"/>
              </a:endParaRPr>
            </a:p>
          </p:txBody>
        </p:sp>
        <p:sp>
          <p:nvSpPr>
            <p:cNvPr id="42" name="Line 42"/>
            <p:cNvSpPr/>
            <p:nvPr/>
          </p:nvSpPr>
          <p:spPr>
            <a:xfrm>
              <a:off x="10020300" y="3733800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19050">
              <a:solidFill>
                <a:srgbClr val="FFFFFF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27530" y="3913822"/>
              <a:ext cx="1461940" cy="5309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3450" b="1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13.50s</a:t>
              </a:r>
              <a:endParaRPr lang="zh-CN" sz="3450" b="1" dirty="0">
                <a:solidFill>
                  <a:srgbClr val="DFFF7A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73779" y="4448175"/>
              <a:ext cx="76944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50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校准实测</a:t>
              </a:r>
              <a:endParaRPr lang="zh-CN" sz="1500" dirty="0">
                <a:solidFill>
                  <a:srgbClr val="FFFFFF"/>
                </a:solidFill>
                <a:latin typeface="Microsoft YaHei UI"/>
                <a:ea typeface="Microsoft YaHei"/>
                <a:cs typeface="Microsoft YaHei UI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051389" y="6061710"/>
              <a:ext cx="161422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20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VIDEO EMBEDDED · 04</a:t>
              </a:r>
              <a:endParaRPr lang="zh-CN" sz="1200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pic>
        <p:nvPicPr>
          <p:cNvPr id="48" name="Embedded Demo Video">
            <a:hlinkClick r:id="" action="ppaction://media"/>
            <a:extLst>
              <a:ext uri="{FF2B5EF4-FFF2-40B4-BE49-F238E27FC236}">
                <a16:creationId xmlns:a16="http://schemas.microsoft.com/office/drawing/2014/main" id="{380D96AE-1553-2649-D3F8-6B60F86D693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6" grpId="0"/>
      <p:bldP spid="29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3F36B6B-CC8A-A4D9-25E0-1E5A96F5F6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D291C2E-213B-C2E2-1984-AB44FC29F0D8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2FA7"/>
          </a:solidFill>
          <a:ln>
            <a:noFill/>
          </a:ln>
        </p:spPr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6D122430-CE50-FE92-70B8-E49063CF5917}"/>
              </a:ext>
            </a:extLst>
          </p:cNvPr>
          <p:cNvGrpSpPr/>
          <p:nvPr/>
        </p:nvGrpSpPr>
        <p:grpSpPr>
          <a:xfrm>
            <a:off x="492760" y="311468"/>
            <a:ext cx="11165840" cy="1298257"/>
            <a:chOff x="492760" y="311468"/>
            <a:chExt cx="11165840" cy="1298257"/>
          </a:xfrm>
        </p:grpSpPr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B881EED0-6F28-3C68-27B3-BD7889C88B27}"/>
                </a:ext>
              </a:extLst>
            </p:cNvPr>
            <p:cNvSpPr txBox="1"/>
            <p:nvPr/>
          </p:nvSpPr>
          <p:spPr>
            <a:xfrm>
              <a:off x="516255" y="311468"/>
              <a:ext cx="31059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2FA7"/>
                  </a:solidFill>
                  <a:latin typeface="Consolas"/>
                  <a:ea typeface="Microsoft YaHei"/>
                  <a:cs typeface="Consolas"/>
                </a:rPr>
                <a:t>05 / EVALUATION DECIDES THE ROLE</a:t>
              </a:r>
            </a:p>
          </p:txBody>
        </p:sp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BFBBEA85-2C30-71AB-7AE8-DBC2EBBDAA40}"/>
                </a:ext>
              </a:extLst>
            </p:cNvPr>
            <p:cNvSpPr txBox="1"/>
            <p:nvPr/>
          </p:nvSpPr>
          <p:spPr>
            <a:xfrm>
              <a:off x="492760" y="657860"/>
              <a:ext cx="10140137" cy="650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先用真实场景测 Gemma，再决定它在产品里做什么</a:t>
              </a: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4A1CD0E7-F989-B4BE-CB2B-A5151F9938C3}"/>
                </a:ext>
              </a:extLst>
            </p:cNvPr>
            <p:cNvSpPr txBox="1"/>
            <p:nvPr/>
          </p:nvSpPr>
          <p:spPr>
            <a:xfrm>
              <a:off x="510540" y="1202690"/>
              <a:ext cx="79667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我们把家庭今晚会遇到的情况做成测试，先看模型能理解什么、会错什么。</a:t>
              </a:r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26116D19-4FD7-097C-822A-170FCCE3390D}"/>
                </a:ext>
              </a:extLst>
            </p:cNvPr>
            <p:cNvSpPr/>
            <p:nvPr/>
          </p:nvSpPr>
          <p:spPr>
            <a:xfrm>
              <a:off x="533400" y="16002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D8D8D4"/>
              </a:solidFill>
            </a:ln>
          </p:spPr>
        </p:sp>
      </p:grpSp>
      <p:grpSp>
        <p:nvGrpSpPr>
          <p:cNvPr id="12" name="Group 27">
            <a:extLst>
              <a:ext uri="{FF2B5EF4-FFF2-40B4-BE49-F238E27FC236}">
                <a16:creationId xmlns:a16="http://schemas.microsoft.com/office/drawing/2014/main" id="{A7BB0EA0-A037-D700-2184-E93A4452B5E6}"/>
              </a:ext>
            </a:extLst>
          </p:cNvPr>
          <p:cNvGrpSpPr/>
          <p:nvPr/>
        </p:nvGrpSpPr>
        <p:grpSpPr>
          <a:xfrm>
            <a:off x="450215" y="2184400"/>
            <a:ext cx="11196606" cy="1216025"/>
            <a:chOff x="450215" y="2184400"/>
            <a:chExt cx="11196606" cy="1216025"/>
          </a:xfrm>
        </p:grpSpPr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6FB0301A-FC24-3783-1602-11A6B904761A}"/>
                </a:ext>
              </a:extLst>
            </p:cNvPr>
            <p:cNvSpPr/>
            <p:nvPr/>
          </p:nvSpPr>
          <p:spPr>
            <a:xfrm>
              <a:off x="1143000" y="24511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44450">
              <a:solidFill>
                <a:srgbClr val="002FA7"/>
              </a:solidFill>
            </a:ln>
          </p:spPr>
        </p:sp>
        <p:sp>
          <p:nvSpPr>
            <p:cNvPr id="14" name="Polygon 10">
              <a:extLst>
                <a:ext uri="{FF2B5EF4-FFF2-40B4-BE49-F238E27FC236}">
                  <a16:creationId xmlns:a16="http://schemas.microsoft.com/office/drawing/2014/main" id="{E02472CA-456D-1EEE-D79A-4BFCAAAE4CDD}"/>
                </a:ext>
              </a:extLst>
            </p:cNvPr>
            <p:cNvSpPr/>
            <p:nvPr/>
          </p:nvSpPr>
          <p:spPr>
            <a:xfrm>
              <a:off x="11049000" y="23368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</p:sp>
        <p:sp>
          <p:nvSpPr>
            <p:cNvPr id="15" name="Ellipse 11">
              <a:extLst>
                <a:ext uri="{FF2B5EF4-FFF2-40B4-BE49-F238E27FC236}">
                  <a16:creationId xmlns:a16="http://schemas.microsoft.com/office/drawing/2014/main" id="{8DC69A0C-6B90-6982-5F36-448CD24E47A0}"/>
                </a:ext>
              </a:extLst>
            </p:cNvPr>
            <p:cNvSpPr/>
            <p:nvPr/>
          </p:nvSpPr>
          <p:spPr>
            <a:xfrm>
              <a:off x="1066800" y="2184400"/>
              <a:ext cx="533400" cy="533400"/>
            </a:xfrm>
            <a:prstGeom prst="ellipse">
              <a:avLst/>
            </a:prstGeom>
            <a:solidFill>
              <a:srgbClr val="002FA7"/>
            </a:solidFill>
            <a:ln>
              <a:noFill/>
            </a:ln>
          </p:spPr>
        </p:sp>
        <p:sp>
          <p:nvSpPr>
            <p:cNvPr id="16" name="TextBox 12">
              <a:extLst>
                <a:ext uri="{FF2B5EF4-FFF2-40B4-BE49-F238E27FC236}">
                  <a16:creationId xmlns:a16="http://schemas.microsoft.com/office/drawing/2014/main" id="{7A2D7262-4A36-C61A-CBAE-4EAC585AD111}"/>
                </a:ext>
              </a:extLst>
            </p:cNvPr>
            <p:cNvSpPr txBox="1"/>
            <p:nvPr/>
          </p:nvSpPr>
          <p:spPr>
            <a:xfrm>
              <a:off x="1269465" y="2341245"/>
              <a:ext cx="128070" cy="386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1</a:t>
              </a:r>
            </a:p>
          </p:txBody>
        </p:sp>
        <p:sp>
          <p:nvSpPr>
            <p:cNvPr id="17" name="TextBox 13">
              <a:extLst>
                <a:ext uri="{FF2B5EF4-FFF2-40B4-BE49-F238E27FC236}">
                  <a16:creationId xmlns:a16="http://schemas.microsoft.com/office/drawing/2014/main" id="{31E3E8ED-3DBB-AE8D-2ED2-C991627E2DB2}"/>
                </a:ext>
              </a:extLst>
            </p:cNvPr>
            <p:cNvSpPr txBox="1"/>
            <p:nvPr/>
          </p:nvSpPr>
          <p:spPr>
            <a:xfrm>
              <a:off x="554546" y="27901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还原真实问题</a:t>
              </a:r>
            </a:p>
          </p:txBody>
        </p:sp>
        <p:sp>
          <p:nvSpPr>
            <p:cNvPr id="18" name="TextBox 14">
              <a:extLst>
                <a:ext uri="{FF2B5EF4-FFF2-40B4-BE49-F238E27FC236}">
                  <a16:creationId xmlns:a16="http://schemas.microsoft.com/office/drawing/2014/main" id="{2471B718-7A22-074C-4A40-7AC7D8B7A046}"/>
                </a:ext>
              </a:extLst>
            </p:cNvPr>
            <p:cNvSpPr txBox="1"/>
            <p:nvPr/>
          </p:nvSpPr>
          <p:spPr>
            <a:xfrm>
              <a:off x="450215" y="3136265"/>
              <a:ext cx="1766570" cy="264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0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孩子今晚到底卡在哪里</a:t>
              </a:r>
            </a:p>
          </p:txBody>
        </p:sp>
        <p:sp>
          <p:nvSpPr>
            <p:cNvPr id="19" name="Ellipse 15">
              <a:extLst>
                <a:ext uri="{FF2B5EF4-FFF2-40B4-BE49-F238E27FC236}">
                  <a16:creationId xmlns:a16="http://schemas.microsoft.com/office/drawing/2014/main" id="{BB42BF77-BC5D-9B44-2938-C28160F95089}"/>
                </a:ext>
              </a:extLst>
            </p:cNvPr>
            <p:cNvSpPr/>
            <p:nvPr/>
          </p:nvSpPr>
          <p:spPr>
            <a:xfrm>
              <a:off x="4178300" y="2184400"/>
              <a:ext cx="533400" cy="533400"/>
            </a:xfrm>
            <a:prstGeom prst="ellipse">
              <a:avLst/>
            </a:prstGeom>
            <a:solidFill>
              <a:srgbClr val="FFFFFF"/>
            </a:solidFill>
            <a:ln w="44450">
              <a:solidFill>
                <a:srgbClr val="002FA7"/>
              </a:solidFill>
            </a:ln>
          </p:spPr>
        </p:sp>
        <p:sp>
          <p:nvSpPr>
            <p:cNvPr id="20" name="TextBox 16">
              <a:extLst>
                <a:ext uri="{FF2B5EF4-FFF2-40B4-BE49-F238E27FC236}">
                  <a16:creationId xmlns:a16="http://schemas.microsoft.com/office/drawing/2014/main" id="{0001ADC9-28C7-47DF-6D39-B0F3CA42F228}"/>
                </a:ext>
              </a:extLst>
            </p:cNvPr>
            <p:cNvSpPr txBox="1"/>
            <p:nvPr/>
          </p:nvSpPr>
          <p:spPr>
            <a:xfrm>
              <a:off x="4347711" y="2341245"/>
              <a:ext cx="194578" cy="386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00" b="1" dirty="0">
                  <a:solidFill>
                    <a:srgbClr val="002FA7"/>
                  </a:solidFill>
                  <a:latin typeface="Microsoft YaHei UI"/>
                  <a:ea typeface="Microsoft YaHei"/>
                  <a:cs typeface="Microsoft YaHei UI"/>
                </a:rPr>
                <a:t>2</a:t>
              </a:r>
            </a:p>
          </p:txBody>
        </p:sp>
        <p:sp>
          <p:nvSpPr>
            <p:cNvPr id="21" name="TextBox 17">
              <a:extLst>
                <a:ext uri="{FF2B5EF4-FFF2-40B4-BE49-F238E27FC236}">
                  <a16:creationId xmlns:a16="http://schemas.microsoft.com/office/drawing/2014/main" id="{61B5A95F-1D82-0A58-43DD-4D1D7AF8E36C}"/>
                </a:ext>
              </a:extLst>
            </p:cNvPr>
            <p:cNvSpPr txBox="1"/>
            <p:nvPr/>
          </p:nvSpPr>
          <p:spPr>
            <a:xfrm>
              <a:off x="3666046" y="27901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模拟真实场景</a:t>
              </a:r>
            </a:p>
          </p:txBody>
        </p:sp>
        <p:sp>
          <p:nvSpPr>
            <p:cNvPr id="22" name="TextBox 18">
              <a:extLst>
                <a:ext uri="{FF2B5EF4-FFF2-40B4-BE49-F238E27FC236}">
                  <a16:creationId xmlns:a16="http://schemas.microsoft.com/office/drawing/2014/main" id="{8570F63C-7A73-6E7C-EAD7-59CAA3ECFB29}"/>
                </a:ext>
              </a:extLst>
            </p:cNvPr>
            <p:cNvSpPr txBox="1"/>
            <p:nvPr/>
          </p:nvSpPr>
          <p:spPr>
            <a:xfrm>
              <a:off x="3535712" y="3136265"/>
              <a:ext cx="1818577" cy="264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0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七科 · 截止 · 时间冲突</a:t>
              </a:r>
            </a:p>
          </p:txBody>
        </p:sp>
        <p:sp>
          <p:nvSpPr>
            <p:cNvPr id="23" name="Ellipse 19">
              <a:extLst>
                <a:ext uri="{FF2B5EF4-FFF2-40B4-BE49-F238E27FC236}">
                  <a16:creationId xmlns:a16="http://schemas.microsoft.com/office/drawing/2014/main" id="{3F241A94-148A-A217-FCB3-70B02B2A2566}"/>
                </a:ext>
              </a:extLst>
            </p:cNvPr>
            <p:cNvSpPr/>
            <p:nvPr/>
          </p:nvSpPr>
          <p:spPr>
            <a:xfrm>
              <a:off x="7289800" y="2184400"/>
              <a:ext cx="533400" cy="533400"/>
            </a:xfrm>
            <a:prstGeom prst="ellipse">
              <a:avLst/>
            </a:prstGeom>
            <a:solidFill>
              <a:srgbClr val="1F665A"/>
            </a:solidFill>
            <a:ln>
              <a:noFill/>
            </a:ln>
          </p:spPr>
        </p:sp>
        <p:sp>
          <p:nvSpPr>
            <p:cNvPr id="24" name="TextBox 20">
              <a:extLst>
                <a:ext uri="{FF2B5EF4-FFF2-40B4-BE49-F238E27FC236}">
                  <a16:creationId xmlns:a16="http://schemas.microsoft.com/office/drawing/2014/main" id="{DD0C1673-8D98-3910-90B3-7C0E3EBE5A31}"/>
                </a:ext>
              </a:extLst>
            </p:cNvPr>
            <p:cNvSpPr txBox="1"/>
            <p:nvPr/>
          </p:nvSpPr>
          <p:spPr>
            <a:xfrm>
              <a:off x="7459211" y="2341245"/>
              <a:ext cx="194578" cy="386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3</a:t>
              </a:r>
            </a:p>
          </p:txBody>
        </p:sp>
        <p:sp>
          <p:nvSpPr>
            <p:cNvPr id="25" name="TextBox 21">
              <a:extLst>
                <a:ext uri="{FF2B5EF4-FFF2-40B4-BE49-F238E27FC236}">
                  <a16:creationId xmlns:a16="http://schemas.microsoft.com/office/drawing/2014/main" id="{4837623E-DC1D-3FDC-E83F-3654DED5070C}"/>
                </a:ext>
              </a:extLst>
            </p:cNvPr>
            <p:cNvSpPr txBox="1"/>
            <p:nvPr/>
          </p:nvSpPr>
          <p:spPr>
            <a:xfrm>
              <a:off x="6594823" y="2790190"/>
              <a:ext cx="19233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直接测试 Gemma</a:t>
              </a:r>
            </a:p>
          </p:txBody>
        </p:sp>
        <p:sp>
          <p:nvSpPr>
            <p:cNvPr id="26" name="TextBox 22">
              <a:extLst>
                <a:ext uri="{FF2B5EF4-FFF2-40B4-BE49-F238E27FC236}">
                  <a16:creationId xmlns:a16="http://schemas.microsoft.com/office/drawing/2014/main" id="{707FB6E9-715A-8B57-419C-77A36184D5B4}"/>
                </a:ext>
              </a:extLst>
            </p:cNvPr>
            <p:cNvSpPr txBox="1"/>
            <p:nvPr/>
          </p:nvSpPr>
          <p:spPr>
            <a:xfrm>
              <a:off x="6746891" y="3136265"/>
              <a:ext cx="1619218" cy="264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0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听懂什么 · 会错什么</a:t>
              </a:r>
            </a:p>
          </p:txBody>
        </p:sp>
        <p:sp>
          <p:nvSpPr>
            <p:cNvPr id="27" name="Ellipse 23">
              <a:extLst>
                <a:ext uri="{FF2B5EF4-FFF2-40B4-BE49-F238E27FC236}">
                  <a16:creationId xmlns:a16="http://schemas.microsoft.com/office/drawing/2014/main" id="{F97F3A66-A1D3-D4E2-E0DE-4AF256D5EA4A}"/>
                </a:ext>
              </a:extLst>
            </p:cNvPr>
            <p:cNvSpPr/>
            <p:nvPr/>
          </p:nvSpPr>
          <p:spPr>
            <a:xfrm>
              <a:off x="10210800" y="2184400"/>
              <a:ext cx="533400" cy="533400"/>
            </a:xfrm>
            <a:prstGeom prst="ellipse">
              <a:avLst/>
            </a:prstGeom>
            <a:solidFill>
              <a:srgbClr val="DFFF7A"/>
            </a:solidFill>
            <a:ln w="19050">
              <a:solidFill>
                <a:srgbClr val="0A0A0A"/>
              </a:solidFill>
            </a:ln>
          </p:spPr>
        </p:sp>
        <p:sp>
          <p:nvSpPr>
            <p:cNvPr id="28" name="TextBox 24">
              <a:extLst>
                <a:ext uri="{FF2B5EF4-FFF2-40B4-BE49-F238E27FC236}">
                  <a16:creationId xmlns:a16="http://schemas.microsoft.com/office/drawing/2014/main" id="{44316432-B11A-A3EF-17ED-8DE84AF17828}"/>
                </a:ext>
              </a:extLst>
            </p:cNvPr>
            <p:cNvSpPr txBox="1"/>
            <p:nvPr/>
          </p:nvSpPr>
          <p:spPr>
            <a:xfrm>
              <a:off x="10380211" y="2341245"/>
              <a:ext cx="194578" cy="386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4</a:t>
              </a:r>
            </a:p>
          </p:txBody>
        </p:sp>
        <p:sp>
          <p:nvSpPr>
            <p:cNvPr id="29" name="TextBox 25">
              <a:extLst>
                <a:ext uri="{FF2B5EF4-FFF2-40B4-BE49-F238E27FC236}">
                  <a16:creationId xmlns:a16="http://schemas.microsoft.com/office/drawing/2014/main" id="{83B25406-A10C-23C7-D0DF-49E06696B38F}"/>
                </a:ext>
              </a:extLst>
            </p:cNvPr>
            <p:cNvSpPr txBox="1"/>
            <p:nvPr/>
          </p:nvSpPr>
          <p:spPr>
            <a:xfrm>
              <a:off x="9824561" y="27901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按结果分工</a:t>
              </a:r>
            </a:p>
          </p:txBody>
        </p:sp>
        <p:sp>
          <p:nvSpPr>
            <p:cNvPr id="30" name="TextBox 26">
              <a:extLst>
                <a:ext uri="{FF2B5EF4-FFF2-40B4-BE49-F238E27FC236}">
                  <a16:creationId xmlns:a16="http://schemas.microsoft.com/office/drawing/2014/main" id="{77665CD1-5584-EAB2-2944-A2E95275F12A}"/>
                </a:ext>
              </a:extLst>
            </p:cNvPr>
            <p:cNvSpPr txBox="1"/>
            <p:nvPr/>
          </p:nvSpPr>
          <p:spPr>
            <a:xfrm>
              <a:off x="9308179" y="3136265"/>
              <a:ext cx="2338642" cy="264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0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模型理解 · 程序规划 · 人确认</a:t>
              </a:r>
            </a:p>
          </p:txBody>
        </p:sp>
      </p:grpSp>
      <p:grpSp>
        <p:nvGrpSpPr>
          <p:cNvPr id="31" name="Group 48">
            <a:extLst>
              <a:ext uri="{FF2B5EF4-FFF2-40B4-BE49-F238E27FC236}">
                <a16:creationId xmlns:a16="http://schemas.microsoft.com/office/drawing/2014/main" id="{2F27A393-8D16-525C-EEEB-E035DE60A45F}"/>
              </a:ext>
            </a:extLst>
          </p:cNvPr>
          <p:cNvGrpSpPr/>
          <p:nvPr/>
        </p:nvGrpSpPr>
        <p:grpSpPr>
          <a:xfrm>
            <a:off x="533400" y="3746500"/>
            <a:ext cx="11125200" cy="1676400"/>
            <a:chOff x="533400" y="3746500"/>
            <a:chExt cx="11125200" cy="1676400"/>
          </a:xfrm>
        </p:grpSpPr>
        <p:sp>
          <p:nvSpPr>
            <p:cNvPr id="32" name="Rectangle 28">
              <a:extLst>
                <a:ext uri="{FF2B5EF4-FFF2-40B4-BE49-F238E27FC236}">
                  <a16:creationId xmlns:a16="http://schemas.microsoft.com/office/drawing/2014/main" id="{BF1BCAF9-8695-22D9-C327-9E864F951A9F}"/>
                </a:ext>
              </a:extLst>
            </p:cNvPr>
            <p:cNvSpPr/>
            <p:nvPr/>
          </p:nvSpPr>
          <p:spPr>
            <a:xfrm>
              <a:off x="533400" y="3746500"/>
              <a:ext cx="4127500" cy="1587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8D8D4"/>
              </a:solidFill>
            </a:ln>
          </p:spPr>
        </p:sp>
        <p:sp>
          <p:nvSpPr>
            <p:cNvPr id="33" name="Rectangle 29">
              <a:extLst>
                <a:ext uri="{FF2B5EF4-FFF2-40B4-BE49-F238E27FC236}">
                  <a16:creationId xmlns:a16="http://schemas.microsoft.com/office/drawing/2014/main" id="{39A501CA-0BDB-B569-132E-E971C5658055}"/>
                </a:ext>
              </a:extLst>
            </p:cNvPr>
            <p:cNvSpPr/>
            <p:nvPr/>
          </p:nvSpPr>
          <p:spPr>
            <a:xfrm>
              <a:off x="533400" y="3746500"/>
              <a:ext cx="4127500" cy="88900"/>
            </a:xfrm>
            <a:prstGeom prst="rect">
              <a:avLst/>
            </a:prstGeom>
            <a:solidFill>
              <a:srgbClr val="002FA7"/>
            </a:solidFill>
            <a:ln>
              <a:noFill/>
            </a:ln>
          </p:spPr>
        </p:sp>
        <p:sp>
          <p:nvSpPr>
            <p:cNvPr id="34" name="TextBox 30">
              <a:extLst>
                <a:ext uri="{FF2B5EF4-FFF2-40B4-BE49-F238E27FC236}">
                  <a16:creationId xmlns:a16="http://schemas.microsoft.com/office/drawing/2014/main" id="{9034554A-54F3-5C6D-A5E2-666ED82E3C8B}"/>
                </a:ext>
              </a:extLst>
            </p:cNvPr>
            <p:cNvSpPr txBox="1"/>
            <p:nvPr/>
          </p:nvSpPr>
          <p:spPr>
            <a:xfrm>
              <a:off x="758825" y="4005263"/>
              <a:ext cx="2377043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2FA7"/>
                  </a:solidFill>
                  <a:latin typeface="Consolas"/>
                  <a:ea typeface="Microsoft YaHei"/>
                  <a:cs typeface="Consolas"/>
                </a:rPr>
                <a:t>SEMIFINAL · MODEL EVIDENCE</a:t>
              </a:r>
            </a:p>
          </p:txBody>
        </p:sp>
        <p:sp>
          <p:nvSpPr>
            <p:cNvPr id="35" name="TextBox 31">
              <a:extLst>
                <a:ext uri="{FF2B5EF4-FFF2-40B4-BE49-F238E27FC236}">
                  <a16:creationId xmlns:a16="http://schemas.microsoft.com/office/drawing/2014/main" id="{012A50E9-46EB-3591-1671-707A413E60CA}"/>
                </a:ext>
              </a:extLst>
            </p:cNvPr>
            <p:cNvSpPr txBox="1"/>
            <p:nvPr/>
          </p:nvSpPr>
          <p:spPr>
            <a:xfrm>
              <a:off x="703580" y="4284980"/>
              <a:ext cx="1004748" cy="1137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0" b="1" dirty="0">
                  <a:solidFill>
                    <a:srgbClr val="002FA7"/>
                  </a:solidFill>
                  <a:latin typeface="Microsoft YaHei UI"/>
                  <a:ea typeface="Microsoft YaHei"/>
                  <a:cs typeface="Microsoft YaHei UI"/>
                </a:rPr>
                <a:t>60</a:t>
              </a:r>
            </a:p>
          </p:txBody>
        </p:sp>
        <p:sp>
          <p:nvSpPr>
            <p:cNvPr id="36" name="TextBox 32">
              <a:extLst>
                <a:ext uri="{FF2B5EF4-FFF2-40B4-BE49-F238E27FC236}">
                  <a16:creationId xmlns:a16="http://schemas.microsoft.com/office/drawing/2014/main" id="{979F6ACC-7A4C-2FED-E64C-46E696D9F0FF}"/>
                </a:ext>
              </a:extLst>
            </p:cNvPr>
            <p:cNvSpPr txBox="1"/>
            <p:nvPr/>
          </p:nvSpPr>
          <p:spPr>
            <a:xfrm>
              <a:off x="1795780" y="4716780"/>
              <a:ext cx="264668" cy="32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条</a:t>
              </a:r>
            </a:p>
          </p:txBody>
        </p:sp>
        <p:sp>
          <p:nvSpPr>
            <p:cNvPr id="37" name="TextBox 33">
              <a:extLst>
                <a:ext uri="{FF2B5EF4-FFF2-40B4-BE49-F238E27FC236}">
                  <a16:creationId xmlns:a16="http://schemas.microsoft.com/office/drawing/2014/main" id="{A3706568-F110-789A-05B3-1344B4525955}"/>
                </a:ext>
              </a:extLst>
            </p:cNvPr>
            <p:cNvSpPr txBox="1"/>
            <p:nvPr/>
          </p:nvSpPr>
          <p:spPr>
            <a:xfrm>
              <a:off x="2266315" y="4341178"/>
              <a:ext cx="1504303" cy="314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只给 Gemma 的</a:t>
              </a:r>
            </a:p>
          </p:txBody>
        </p:sp>
        <p:sp>
          <p:nvSpPr>
            <p:cNvPr id="38" name="TextBox 34">
              <a:extLst>
                <a:ext uri="{FF2B5EF4-FFF2-40B4-BE49-F238E27FC236}">
                  <a16:creationId xmlns:a16="http://schemas.microsoft.com/office/drawing/2014/main" id="{401565C6-9EAF-ECE0-D6F4-B24D701E722E}"/>
                </a:ext>
              </a:extLst>
            </p:cNvPr>
            <p:cNvSpPr txBox="1"/>
            <p:nvPr/>
          </p:nvSpPr>
          <p:spPr>
            <a:xfrm>
              <a:off x="2266315" y="4645978"/>
              <a:ext cx="690451" cy="314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边界题</a:t>
              </a:r>
            </a:p>
          </p:txBody>
        </p:sp>
        <p:sp>
          <p:nvSpPr>
            <p:cNvPr id="39" name="TextBox 35">
              <a:extLst>
                <a:ext uri="{FF2B5EF4-FFF2-40B4-BE49-F238E27FC236}">
                  <a16:creationId xmlns:a16="http://schemas.microsoft.com/office/drawing/2014/main" id="{C6F7E302-1F3A-5721-C607-93FEC979414D}"/>
                </a:ext>
              </a:extLst>
            </p:cNvPr>
            <p:cNvSpPr txBox="1"/>
            <p:nvPr/>
          </p:nvSpPr>
          <p:spPr>
            <a:xfrm>
              <a:off x="2270125" y="4976813"/>
              <a:ext cx="1515269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不让 Python 先帮忙</a:t>
              </a:r>
            </a:p>
          </p:txBody>
        </p:sp>
        <p:sp>
          <p:nvSpPr>
            <p:cNvPr id="40" name="Line 36">
              <a:extLst>
                <a:ext uri="{FF2B5EF4-FFF2-40B4-BE49-F238E27FC236}">
                  <a16:creationId xmlns:a16="http://schemas.microsoft.com/office/drawing/2014/main" id="{5DB096B4-CC6F-C7ED-4EF2-52D93FB165EB}"/>
                </a:ext>
              </a:extLst>
            </p:cNvPr>
            <p:cNvSpPr/>
            <p:nvPr/>
          </p:nvSpPr>
          <p:spPr>
            <a:xfrm>
              <a:off x="4813300" y="4546600"/>
              <a:ext cx="1282700" cy="9525"/>
            </a:xfrm>
            <a:custGeom>
              <a:avLst/>
              <a:gdLst/>
              <a:ahLst/>
              <a:cxnLst/>
              <a:rect l="l" t="t" r="r" b="b"/>
              <a:pathLst>
                <a:path w="1282700" h="9525">
                  <a:moveTo>
                    <a:pt x="0" y="0"/>
                  </a:moveTo>
                  <a:lnTo>
                    <a:pt x="1282700" y="0"/>
                  </a:lnTo>
                </a:path>
              </a:pathLst>
            </a:custGeom>
            <a:noFill/>
            <a:ln w="31750">
              <a:solidFill>
                <a:srgbClr val="0A0A0A"/>
              </a:solidFill>
            </a:ln>
          </p:spPr>
        </p:sp>
        <p:sp>
          <p:nvSpPr>
            <p:cNvPr id="41" name="Polygon 37">
              <a:extLst>
                <a:ext uri="{FF2B5EF4-FFF2-40B4-BE49-F238E27FC236}">
                  <a16:creationId xmlns:a16="http://schemas.microsoft.com/office/drawing/2014/main" id="{FBF12FD5-5F76-EFA0-3B54-7AD2DBFDA3A4}"/>
                </a:ext>
              </a:extLst>
            </p:cNvPr>
            <p:cNvSpPr/>
            <p:nvPr/>
          </p:nvSpPr>
          <p:spPr>
            <a:xfrm>
              <a:off x="6096000" y="4438650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900" y="107950"/>
                  </a:lnTo>
                  <a:lnTo>
                    <a:pt x="0" y="215900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</p:sp>
        <p:sp>
          <p:nvSpPr>
            <p:cNvPr id="42" name="Rectangle 38">
              <a:extLst>
                <a:ext uri="{FF2B5EF4-FFF2-40B4-BE49-F238E27FC236}">
                  <a16:creationId xmlns:a16="http://schemas.microsoft.com/office/drawing/2014/main" id="{BE53C858-8363-125A-3F6E-D8F7302A44DA}"/>
                </a:ext>
              </a:extLst>
            </p:cNvPr>
            <p:cNvSpPr/>
            <p:nvPr/>
          </p:nvSpPr>
          <p:spPr>
            <a:xfrm>
              <a:off x="4800600" y="4102100"/>
              <a:ext cx="1511300" cy="3048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43" name="TextBox 39">
              <a:extLst>
                <a:ext uri="{FF2B5EF4-FFF2-40B4-BE49-F238E27FC236}">
                  <a16:creationId xmlns:a16="http://schemas.microsoft.com/office/drawing/2014/main" id="{4AD490FD-0614-91A5-744F-F0BD556ABA4F}"/>
                </a:ext>
              </a:extLst>
            </p:cNvPr>
            <p:cNvSpPr txBox="1"/>
            <p:nvPr/>
          </p:nvSpPr>
          <p:spPr>
            <a:xfrm>
              <a:off x="5036947" y="41821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测出模型边界</a:t>
              </a:r>
            </a:p>
          </p:txBody>
        </p:sp>
        <p:sp>
          <p:nvSpPr>
            <p:cNvPr id="44" name="TextBox 40">
              <a:extLst>
                <a:ext uri="{FF2B5EF4-FFF2-40B4-BE49-F238E27FC236}">
                  <a16:creationId xmlns:a16="http://schemas.microsoft.com/office/drawing/2014/main" id="{12BDD670-4D4C-F273-5654-AC0920BC04F8}"/>
                </a:ext>
              </a:extLst>
            </p:cNvPr>
            <p:cNvSpPr txBox="1"/>
            <p:nvPr/>
          </p:nvSpPr>
          <p:spPr>
            <a:xfrm>
              <a:off x="4952937" y="47599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665A"/>
                  </a:solidFill>
                  <a:latin typeface="Microsoft YaHei UI"/>
                  <a:ea typeface="Microsoft YaHei"/>
                  <a:cs typeface="Microsoft YaHei UI"/>
                </a:rPr>
                <a:t>再验证整个系统</a:t>
              </a:r>
            </a:p>
          </p:txBody>
        </p:sp>
        <p:sp>
          <p:nvSpPr>
            <p:cNvPr id="45" name="Rectangle 41">
              <a:extLst>
                <a:ext uri="{FF2B5EF4-FFF2-40B4-BE49-F238E27FC236}">
                  <a16:creationId xmlns:a16="http://schemas.microsoft.com/office/drawing/2014/main" id="{293F145A-36F6-2887-4D86-26EDDB936ED4}"/>
                </a:ext>
              </a:extLst>
            </p:cNvPr>
            <p:cNvSpPr/>
            <p:nvPr/>
          </p:nvSpPr>
          <p:spPr>
            <a:xfrm>
              <a:off x="6464300" y="3746500"/>
              <a:ext cx="5194300" cy="1587500"/>
            </a:xfrm>
            <a:prstGeom prst="rect">
              <a:avLst/>
            </a:prstGeom>
            <a:solidFill>
              <a:srgbClr val="1F665A"/>
            </a:solidFill>
            <a:ln>
              <a:noFill/>
            </a:ln>
          </p:spPr>
        </p:sp>
        <p:sp>
          <p:nvSpPr>
            <p:cNvPr id="46" name="Rectangle 42">
              <a:extLst>
                <a:ext uri="{FF2B5EF4-FFF2-40B4-BE49-F238E27FC236}">
                  <a16:creationId xmlns:a16="http://schemas.microsoft.com/office/drawing/2014/main" id="{C4F0588A-98BD-F9AF-F242-C4E2C20C5821}"/>
                </a:ext>
              </a:extLst>
            </p:cNvPr>
            <p:cNvSpPr/>
            <p:nvPr/>
          </p:nvSpPr>
          <p:spPr>
            <a:xfrm>
              <a:off x="6464300" y="3746500"/>
              <a:ext cx="5194300" cy="889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47" name="TextBox 43">
              <a:extLst>
                <a:ext uri="{FF2B5EF4-FFF2-40B4-BE49-F238E27FC236}">
                  <a16:creationId xmlns:a16="http://schemas.microsoft.com/office/drawing/2014/main" id="{86CCEF4F-D522-1CB7-B706-7B70B3BC6DF6}"/>
                </a:ext>
              </a:extLst>
            </p:cNvPr>
            <p:cNvSpPr txBox="1"/>
            <p:nvPr/>
          </p:nvSpPr>
          <p:spPr>
            <a:xfrm>
              <a:off x="6689725" y="4005263"/>
              <a:ext cx="2062004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FINAL · SYSTEM EVIDENCE</a:t>
              </a:r>
            </a:p>
          </p:txBody>
        </p:sp>
        <p:sp>
          <p:nvSpPr>
            <p:cNvPr id="48" name="TextBox 44">
              <a:extLst>
                <a:ext uri="{FF2B5EF4-FFF2-40B4-BE49-F238E27FC236}">
                  <a16:creationId xmlns:a16="http://schemas.microsoft.com/office/drawing/2014/main" id="{0FFBA387-3F68-6B59-68AA-E46970B9D07D}"/>
                </a:ext>
              </a:extLst>
            </p:cNvPr>
            <p:cNvSpPr txBox="1"/>
            <p:nvPr/>
          </p:nvSpPr>
          <p:spPr>
            <a:xfrm>
              <a:off x="6642100" y="4349750"/>
              <a:ext cx="1492171" cy="1016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0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1030</a:t>
              </a:r>
            </a:p>
          </p:txBody>
        </p:sp>
        <p:sp>
          <p:nvSpPr>
            <p:cNvPr id="49" name="TextBox 45">
              <a:extLst>
                <a:ext uri="{FF2B5EF4-FFF2-40B4-BE49-F238E27FC236}">
                  <a16:creationId xmlns:a16="http://schemas.microsoft.com/office/drawing/2014/main" id="{5104ADB2-D28E-A5C3-A61F-F3422F76D171}"/>
                </a:ext>
              </a:extLst>
            </p:cNvPr>
            <p:cNvSpPr txBox="1"/>
            <p:nvPr/>
          </p:nvSpPr>
          <p:spPr>
            <a:xfrm>
              <a:off x="8388350" y="443547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条确定性系统测试</a:t>
              </a:r>
            </a:p>
          </p:txBody>
        </p:sp>
        <p:sp>
          <p:nvSpPr>
            <p:cNvPr id="50" name="TextBox 46">
              <a:extLst>
                <a:ext uri="{FF2B5EF4-FFF2-40B4-BE49-F238E27FC236}">
                  <a16:creationId xmlns:a16="http://schemas.microsoft.com/office/drawing/2014/main" id="{F04E4731-C6DB-C3A5-D29F-994395B52E51}"/>
                </a:ext>
              </a:extLst>
            </p:cNvPr>
            <p:cNvSpPr txBox="1"/>
            <p:nvPr/>
          </p:nvSpPr>
          <p:spPr>
            <a:xfrm>
              <a:off x="8380730" y="4726305"/>
              <a:ext cx="46499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DFFF7A"/>
                  </a:solidFill>
                  <a:latin typeface="Microsoft YaHei UI"/>
                  <a:ea typeface="Microsoft YaHei"/>
                  <a:cs typeface="Microsoft YaHei UI"/>
                </a:rPr>
                <a:t>+ 6</a:t>
              </a:r>
            </a:p>
          </p:txBody>
        </p:sp>
        <p:sp>
          <p:nvSpPr>
            <p:cNvPr id="51" name="TextBox 47">
              <a:extLst>
                <a:ext uri="{FF2B5EF4-FFF2-40B4-BE49-F238E27FC236}">
                  <a16:creationId xmlns:a16="http://schemas.microsoft.com/office/drawing/2014/main" id="{97B4AC8B-40EC-5C5C-80C7-D3290377EE73}"/>
                </a:ext>
              </a:extLst>
            </p:cNvPr>
            <p:cNvSpPr txBox="1"/>
            <p:nvPr/>
          </p:nvSpPr>
          <p:spPr>
            <a:xfrm>
              <a:off x="9093200" y="4791075"/>
              <a:ext cx="14872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条真实 LM 门禁</a:t>
              </a:r>
            </a:p>
          </p:txBody>
        </p:sp>
      </p:grpSp>
      <p:grpSp>
        <p:nvGrpSpPr>
          <p:cNvPr id="52" name="Group 52">
            <a:extLst>
              <a:ext uri="{FF2B5EF4-FFF2-40B4-BE49-F238E27FC236}">
                <a16:creationId xmlns:a16="http://schemas.microsoft.com/office/drawing/2014/main" id="{16D3345D-61A6-A095-2D57-5BFAA13B3295}"/>
              </a:ext>
            </a:extLst>
          </p:cNvPr>
          <p:cNvGrpSpPr/>
          <p:nvPr/>
        </p:nvGrpSpPr>
        <p:grpSpPr>
          <a:xfrm>
            <a:off x="533400" y="5562600"/>
            <a:ext cx="11125200" cy="762000"/>
            <a:chOff x="533400" y="5562600"/>
            <a:chExt cx="11125200" cy="762000"/>
          </a:xfrm>
        </p:grpSpPr>
        <p:sp>
          <p:nvSpPr>
            <p:cNvPr id="53" name="Rectangle 49">
              <a:extLst>
                <a:ext uri="{FF2B5EF4-FFF2-40B4-BE49-F238E27FC236}">
                  <a16:creationId xmlns:a16="http://schemas.microsoft.com/office/drawing/2014/main" id="{8A4997CE-389C-9B4D-6694-68BEC99677C1}"/>
                </a:ext>
              </a:extLst>
            </p:cNvPr>
            <p:cNvSpPr/>
            <p:nvPr/>
          </p:nvSpPr>
          <p:spPr>
            <a:xfrm>
              <a:off x="533400" y="5562600"/>
              <a:ext cx="11125200" cy="762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05" name="Rectangle 50">
              <a:extLst>
                <a:ext uri="{FF2B5EF4-FFF2-40B4-BE49-F238E27FC236}">
                  <a16:creationId xmlns:a16="http://schemas.microsoft.com/office/drawing/2014/main" id="{B72D2ED5-9285-CF79-217C-7F5221BBB69F}"/>
                </a:ext>
              </a:extLst>
            </p:cNvPr>
            <p:cNvSpPr/>
            <p:nvPr/>
          </p:nvSpPr>
          <p:spPr>
            <a:xfrm>
              <a:off x="533400" y="5562600"/>
              <a:ext cx="139700" cy="7620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106" name="TextBox 51">
              <a:extLst>
                <a:ext uri="{FF2B5EF4-FFF2-40B4-BE49-F238E27FC236}">
                  <a16:creationId xmlns:a16="http://schemas.microsoft.com/office/drawing/2014/main" id="{F629C25B-264A-9B64-942C-8DF2194CF286}"/>
                </a:ext>
              </a:extLst>
            </p:cNvPr>
            <p:cNvSpPr txBox="1"/>
            <p:nvPr/>
          </p:nvSpPr>
          <p:spPr>
            <a:xfrm>
              <a:off x="815340" y="5844540"/>
              <a:ext cx="77956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测试结果决定 Gemma 在产品里的位置，不是先假设它必须站在中心。</a:t>
              </a:r>
            </a:p>
          </p:txBody>
        </p:sp>
      </p:grpSp>
      <p:grpSp>
        <p:nvGrpSpPr>
          <p:cNvPr id="107" name="Group 55">
            <a:extLst>
              <a:ext uri="{FF2B5EF4-FFF2-40B4-BE49-F238E27FC236}">
                <a16:creationId xmlns:a16="http://schemas.microsoft.com/office/drawing/2014/main" id="{54FBA81C-C4CC-D9D1-483F-27536C8D29DF}"/>
              </a:ext>
            </a:extLst>
          </p:cNvPr>
          <p:cNvGrpSpPr/>
          <p:nvPr/>
        </p:nvGrpSpPr>
        <p:grpSpPr>
          <a:xfrm>
            <a:off x="518160" y="6490018"/>
            <a:ext cx="11157585" cy="274320"/>
            <a:chOff x="518160" y="6490018"/>
            <a:chExt cx="11157585" cy="274320"/>
          </a:xfrm>
        </p:grpSpPr>
        <p:sp>
          <p:nvSpPr>
            <p:cNvPr id="108" name="TextBox 53">
              <a:extLst>
                <a:ext uri="{FF2B5EF4-FFF2-40B4-BE49-F238E27FC236}">
                  <a16:creationId xmlns:a16="http://schemas.microsoft.com/office/drawing/2014/main" id="{40A96B03-2CFC-3D2D-406D-3BD8D8C5BEFA}"/>
                </a:ext>
              </a:extLst>
            </p:cNvPr>
            <p:cNvSpPr txBox="1"/>
            <p:nvPr/>
          </p:nvSpPr>
          <p:spPr>
            <a:xfrm>
              <a:off x="518160" y="6506210"/>
              <a:ext cx="45590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D6D69"/>
                  </a:solidFill>
                  <a:latin typeface="Consolas"/>
                  <a:ea typeface="Microsoft YaHei"/>
                  <a:cs typeface="Consolas"/>
                </a:rPr>
                <a:t>problem / correctness / characterization / responsibility</a:t>
              </a:r>
            </a:p>
          </p:txBody>
        </p:sp>
        <p:sp>
          <p:nvSpPr>
            <p:cNvPr id="109" name="TextBox 54">
              <a:extLst>
                <a:ext uri="{FF2B5EF4-FFF2-40B4-BE49-F238E27FC236}">
                  <a16:creationId xmlns:a16="http://schemas.microsoft.com/office/drawing/2014/main" id="{8F3F23CB-4A1A-8F9E-5041-0FCD49C6EAFD}"/>
                </a:ext>
              </a:extLst>
            </p:cNvPr>
            <p:cNvSpPr txBox="1"/>
            <p:nvPr/>
          </p:nvSpPr>
          <p:spPr>
            <a:xfrm>
              <a:off x="11433529" y="64900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002FA7"/>
                  </a:solidFill>
                  <a:latin typeface="Microsoft YaHei UI"/>
                  <a:ea typeface="Microsoft YaHei"/>
                  <a:cs typeface="Microsoft YaHei UI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249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263AF1A-7219-E470-4789-9F393AA70E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FA7"/>
          </a:solidFill>
          <a:ln>
            <a:noFill/>
          </a:ln>
        </p:spPr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B5F38A8-7631-4ED9-1598-01F6D76577F7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DFFF7A"/>
          </a:solidFill>
          <a:ln>
            <a:noFill/>
          </a:ln>
        </p:spPr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D79D0FD1-9DE5-D6EF-C2EF-3E6129FA46F5}"/>
              </a:ext>
            </a:extLst>
          </p:cNvPr>
          <p:cNvGrpSpPr/>
          <p:nvPr/>
        </p:nvGrpSpPr>
        <p:grpSpPr>
          <a:xfrm>
            <a:off x="495300" y="298768"/>
            <a:ext cx="11163300" cy="1298257"/>
            <a:chOff x="495300" y="298768"/>
            <a:chExt cx="11163300" cy="1298257"/>
          </a:xfrm>
        </p:grpSpPr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FCBBDA46-5DE8-EEB0-68E9-88B2D1715F36}"/>
                </a:ext>
              </a:extLst>
            </p:cNvPr>
            <p:cNvSpPr txBox="1"/>
            <p:nvPr/>
          </p:nvSpPr>
          <p:spPr>
            <a:xfrm>
              <a:off x="516255" y="298768"/>
              <a:ext cx="28223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06 / GUARDRAILS AROUND GEMMA</a:t>
              </a:r>
            </a:p>
          </p:txBody>
        </p:sp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CD292FDC-BBE1-2308-0A47-317A640FF7D8}"/>
                </a:ext>
              </a:extLst>
            </p:cNvPr>
            <p:cNvSpPr txBox="1"/>
            <p:nvPr/>
          </p:nvSpPr>
          <p:spPr>
            <a:xfrm>
              <a:off x="495300" y="654050"/>
              <a:ext cx="753213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知道 Gemma 会错，就在外面加一层护栏</a:t>
              </a: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733BBBB8-C74B-7F83-A379-D96D61724817}"/>
                </a:ext>
              </a:extLst>
            </p:cNvPr>
            <p:cNvSpPr txBox="1"/>
            <p:nvPr/>
          </p:nvSpPr>
          <p:spPr>
            <a:xfrm>
              <a:off x="511810" y="1188085"/>
              <a:ext cx="8464899" cy="345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00" dirty="0">
                  <a:solidFill>
                    <a:srgbClr val="FFFFFF">
                      <a:alphaMod val="76000"/>
                    </a:srgbClr>
                  </a:solidFill>
                  <a:latin typeface="Microsoft YaHei UI"/>
                  <a:ea typeface="Microsoft YaHei"/>
                  <a:cs typeface="Microsoft YaHei UI"/>
                </a:rPr>
                <a:t>Harness 的作用很简单：让模型只能按规定调用、按规定输出，错了就拒绝或停止。</a:t>
              </a:r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0F543ACD-600D-EC5B-1660-B7D51BA83ECB}"/>
                </a:ext>
              </a:extLst>
            </p:cNvPr>
            <p:cNvSpPr/>
            <p:nvPr/>
          </p:nvSpPr>
          <p:spPr>
            <a:xfrm>
              <a:off x="533400" y="15875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FFFFFF">
                  <a:alpha val="30000"/>
                </a:srgbClr>
              </a:solidFill>
            </a:ln>
          </p:spPr>
        </p:sp>
      </p:grpSp>
      <p:grpSp>
        <p:nvGrpSpPr>
          <p:cNvPr id="12" name="Group 17">
            <a:extLst>
              <a:ext uri="{FF2B5EF4-FFF2-40B4-BE49-F238E27FC236}">
                <a16:creationId xmlns:a16="http://schemas.microsoft.com/office/drawing/2014/main" id="{642EDE90-8EC9-8172-F855-5AE79E6DFA89}"/>
              </a:ext>
            </a:extLst>
          </p:cNvPr>
          <p:cNvGrpSpPr/>
          <p:nvPr/>
        </p:nvGrpSpPr>
        <p:grpSpPr>
          <a:xfrm>
            <a:off x="2120900" y="2832100"/>
            <a:ext cx="8483600" cy="1562100"/>
            <a:chOff x="2120900" y="2832100"/>
            <a:chExt cx="8483600" cy="1562100"/>
          </a:xfrm>
        </p:grpSpPr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EE87D2F4-86CE-079F-FC80-A224C6082D0C}"/>
                </a:ext>
              </a:extLst>
            </p:cNvPr>
            <p:cNvSpPr/>
            <p:nvPr/>
          </p:nvSpPr>
          <p:spPr>
            <a:xfrm>
              <a:off x="2120900" y="33147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38100">
              <a:solidFill>
                <a:srgbClr val="DFFF7A"/>
              </a:solidFill>
            </a:ln>
          </p:spPr>
        </p:sp>
        <p:sp>
          <p:nvSpPr>
            <p:cNvPr id="14" name="Polygon 10">
              <a:extLst>
                <a:ext uri="{FF2B5EF4-FFF2-40B4-BE49-F238E27FC236}">
                  <a16:creationId xmlns:a16="http://schemas.microsoft.com/office/drawing/2014/main" id="{1E2B0D32-7AD3-07F3-554D-5145AF5F5807}"/>
                </a:ext>
              </a:extLst>
            </p:cNvPr>
            <p:cNvSpPr/>
            <p:nvPr/>
          </p:nvSpPr>
          <p:spPr>
            <a:xfrm>
              <a:off x="2463800" y="322580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889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DFFF7A"/>
            </a:solidFill>
            <a:ln>
              <a:noFill/>
            </a:ln>
          </p:spPr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96EDE10C-B5A0-CC2C-32A4-62AE76336949}"/>
                </a:ext>
              </a:extLst>
            </p:cNvPr>
            <p:cNvSpPr/>
            <p:nvPr/>
          </p:nvSpPr>
          <p:spPr>
            <a:xfrm>
              <a:off x="8826500" y="331470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38100">
              <a:solidFill>
                <a:srgbClr val="DFFF7A"/>
              </a:solidFill>
            </a:ln>
          </p:spPr>
        </p:sp>
        <p:sp>
          <p:nvSpPr>
            <p:cNvPr id="16" name="Polygon 12">
              <a:extLst>
                <a:ext uri="{FF2B5EF4-FFF2-40B4-BE49-F238E27FC236}">
                  <a16:creationId xmlns:a16="http://schemas.microsoft.com/office/drawing/2014/main" id="{B9D86C83-5636-943D-0158-1061A10DEE0F}"/>
                </a:ext>
              </a:extLst>
            </p:cNvPr>
            <p:cNvSpPr/>
            <p:nvPr/>
          </p:nvSpPr>
          <p:spPr>
            <a:xfrm>
              <a:off x="9359900" y="322580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889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DFFF7A"/>
            </a:solidFill>
            <a:ln>
              <a:noFill/>
            </a:ln>
          </p:spPr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54B84130-B7D7-01AB-7449-704AEE023F1F}"/>
                </a:ext>
              </a:extLst>
            </p:cNvPr>
            <p:cNvSpPr/>
            <p:nvPr/>
          </p:nvSpPr>
          <p:spPr>
            <a:xfrm>
              <a:off x="10515600" y="2832100"/>
              <a:ext cx="9525" cy="279400"/>
            </a:xfrm>
            <a:custGeom>
              <a:avLst/>
              <a:gdLst/>
              <a:ahLst/>
              <a:cxnLst/>
              <a:rect l="l" t="t" r="r" b="b"/>
              <a:pathLst>
                <a:path w="9525" h="279400">
                  <a:moveTo>
                    <a:pt x="0" y="0"/>
                  </a:moveTo>
                  <a:lnTo>
                    <a:pt x="0" y="279400"/>
                  </a:lnTo>
                </a:path>
              </a:pathLst>
            </a:custGeom>
            <a:noFill/>
            <a:ln w="38100">
              <a:solidFill>
                <a:srgbClr val="DFFF7A"/>
              </a:solidFill>
            </a:ln>
          </p:spPr>
        </p:sp>
        <p:sp>
          <p:nvSpPr>
            <p:cNvPr id="18" name="Polygon 14">
              <a:extLst>
                <a:ext uri="{FF2B5EF4-FFF2-40B4-BE49-F238E27FC236}">
                  <a16:creationId xmlns:a16="http://schemas.microsoft.com/office/drawing/2014/main" id="{B376DA63-B030-1C44-246A-495D45EB35AA}"/>
                </a:ext>
              </a:extLst>
            </p:cNvPr>
            <p:cNvSpPr/>
            <p:nvPr/>
          </p:nvSpPr>
          <p:spPr>
            <a:xfrm>
              <a:off x="10426700" y="311150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88900" y="177800"/>
                  </a:lnTo>
                  <a:lnTo>
                    <a:pt x="177800" y="0"/>
                  </a:lnTo>
                  <a:close/>
                </a:path>
              </a:pathLst>
            </a:custGeom>
            <a:solidFill>
              <a:srgbClr val="DFFF7A"/>
            </a:solidFill>
            <a:ln>
              <a:noFill/>
            </a:ln>
          </p:spPr>
        </p:sp>
        <p:sp>
          <p:nvSpPr>
            <p:cNvPr id="19" name="Line 15">
              <a:extLst>
                <a:ext uri="{FF2B5EF4-FFF2-40B4-BE49-F238E27FC236}">
                  <a16:creationId xmlns:a16="http://schemas.microsoft.com/office/drawing/2014/main" id="{C39AE826-ED93-372A-876B-294542F3C8BC}"/>
                </a:ext>
              </a:extLst>
            </p:cNvPr>
            <p:cNvSpPr/>
            <p:nvPr/>
          </p:nvSpPr>
          <p:spPr>
            <a:xfrm>
              <a:off x="10515600" y="3937000"/>
              <a:ext cx="9525" cy="279400"/>
            </a:xfrm>
            <a:custGeom>
              <a:avLst/>
              <a:gdLst/>
              <a:ahLst/>
              <a:cxnLst/>
              <a:rect l="l" t="t" r="r" b="b"/>
              <a:pathLst>
                <a:path w="9525" h="279400">
                  <a:moveTo>
                    <a:pt x="0" y="0"/>
                  </a:moveTo>
                  <a:lnTo>
                    <a:pt x="0" y="279400"/>
                  </a:lnTo>
                </a:path>
              </a:pathLst>
            </a:custGeom>
            <a:noFill/>
            <a:ln w="38100">
              <a:solidFill>
                <a:srgbClr val="DFFF7A"/>
              </a:solidFill>
            </a:ln>
          </p:spPr>
        </p:sp>
        <p:sp>
          <p:nvSpPr>
            <p:cNvPr id="20" name="Polygon 16">
              <a:extLst>
                <a:ext uri="{FF2B5EF4-FFF2-40B4-BE49-F238E27FC236}">
                  <a16:creationId xmlns:a16="http://schemas.microsoft.com/office/drawing/2014/main" id="{65423FCB-319E-29CA-CCA6-216867984021}"/>
                </a:ext>
              </a:extLst>
            </p:cNvPr>
            <p:cNvSpPr/>
            <p:nvPr/>
          </p:nvSpPr>
          <p:spPr>
            <a:xfrm>
              <a:off x="10426700" y="421640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88900" y="177800"/>
                  </a:lnTo>
                  <a:lnTo>
                    <a:pt x="177800" y="0"/>
                  </a:lnTo>
                  <a:close/>
                </a:path>
              </a:pathLst>
            </a:custGeom>
            <a:solidFill>
              <a:srgbClr val="DFFF7A"/>
            </a:solidFill>
            <a:ln>
              <a:noFill/>
            </a:ln>
          </p:spPr>
        </p:sp>
      </p:grpSp>
      <p:grpSp>
        <p:nvGrpSpPr>
          <p:cNvPr id="21" name="Group 25">
            <a:extLst>
              <a:ext uri="{FF2B5EF4-FFF2-40B4-BE49-F238E27FC236}">
                <a16:creationId xmlns:a16="http://schemas.microsoft.com/office/drawing/2014/main" id="{D833BFBF-A22B-E4BB-0A53-20B446C7D556}"/>
              </a:ext>
            </a:extLst>
          </p:cNvPr>
          <p:cNvGrpSpPr/>
          <p:nvPr/>
        </p:nvGrpSpPr>
        <p:grpSpPr>
          <a:xfrm>
            <a:off x="511810" y="1889760"/>
            <a:ext cx="2221152" cy="2236153"/>
            <a:chOff x="511810" y="1889760"/>
            <a:chExt cx="2221152" cy="2236153"/>
          </a:xfrm>
        </p:grpSpPr>
        <p:sp>
          <p:nvSpPr>
            <p:cNvPr id="22" name="TextBox 18">
              <a:extLst>
                <a:ext uri="{FF2B5EF4-FFF2-40B4-BE49-F238E27FC236}">
                  <a16:creationId xmlns:a16="http://schemas.microsoft.com/office/drawing/2014/main" id="{2A99E8D9-418D-5785-5626-86B80B0C7717}"/>
                </a:ext>
              </a:extLst>
            </p:cNvPr>
            <p:cNvSpPr txBox="1"/>
            <p:nvPr/>
          </p:nvSpPr>
          <p:spPr>
            <a:xfrm>
              <a:off x="518160" y="1889760"/>
              <a:ext cx="17190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HOUSEHOLD LANGUAGE</a:t>
              </a:r>
            </a:p>
          </p:txBody>
        </p:sp>
        <p:sp>
          <p:nvSpPr>
            <p:cNvPr id="23" name="TextBox 19">
              <a:extLst>
                <a:ext uri="{FF2B5EF4-FFF2-40B4-BE49-F238E27FC236}">
                  <a16:creationId xmlns:a16="http://schemas.microsoft.com/office/drawing/2014/main" id="{E6588924-9926-3BAB-BCAE-DDFB23963547}"/>
                </a:ext>
              </a:extLst>
            </p:cNvPr>
            <p:cNvSpPr txBox="1"/>
            <p:nvPr/>
          </p:nvSpPr>
          <p:spPr>
            <a:xfrm>
              <a:off x="511810" y="2178685"/>
              <a:ext cx="2221152" cy="345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孩子 / 家长自然语言</a:t>
              </a:r>
            </a:p>
          </p:txBody>
        </p:sp>
        <p:sp>
          <p:nvSpPr>
            <p:cNvPr id="24" name="TextBox 20">
              <a:extLst>
                <a:ext uri="{FF2B5EF4-FFF2-40B4-BE49-F238E27FC236}">
                  <a16:creationId xmlns:a16="http://schemas.microsoft.com/office/drawing/2014/main" id="{83A2CB3B-17CD-D778-E26B-3F6E6EF43EC6}"/>
                </a:ext>
              </a:extLst>
            </p:cNvPr>
            <p:cNvSpPr txBox="1"/>
            <p:nvPr/>
          </p:nvSpPr>
          <p:spPr>
            <a:xfrm>
              <a:off x="517525" y="2493963"/>
              <a:ext cx="1581944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dirty="0">
                  <a:solidFill>
                    <a:srgbClr val="FFFFFF">
                      <a:alphaMod val="70000"/>
                    </a:srgbClr>
                  </a:solidFill>
                  <a:latin typeface="Microsoft YaHei UI"/>
                  <a:ea typeface="Microsoft YaHei"/>
                  <a:cs typeface="Microsoft YaHei UI"/>
                </a:rPr>
                <a:t>模糊 · 省略 · 口语化</a:t>
              </a:r>
            </a:p>
          </p:txBody>
        </p:sp>
        <p:sp>
          <p:nvSpPr>
            <p:cNvPr id="25" name="Rectangle 21">
              <a:extLst>
                <a:ext uri="{FF2B5EF4-FFF2-40B4-BE49-F238E27FC236}">
                  <a16:creationId xmlns:a16="http://schemas.microsoft.com/office/drawing/2014/main" id="{33085B17-5F44-5293-6A96-EFC2083BEBD9}"/>
                </a:ext>
              </a:extLst>
            </p:cNvPr>
            <p:cNvSpPr/>
            <p:nvPr/>
          </p:nvSpPr>
          <p:spPr>
            <a:xfrm>
              <a:off x="533400" y="2895600"/>
              <a:ext cx="1587500" cy="838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2">
              <a:extLst>
                <a:ext uri="{FF2B5EF4-FFF2-40B4-BE49-F238E27FC236}">
                  <a16:creationId xmlns:a16="http://schemas.microsoft.com/office/drawing/2014/main" id="{A01EC545-AF87-9A87-278F-094CACB2FD56}"/>
                </a:ext>
              </a:extLst>
            </p:cNvPr>
            <p:cNvSpPr txBox="1"/>
            <p:nvPr/>
          </p:nvSpPr>
          <p:spPr>
            <a:xfrm>
              <a:off x="829501" y="3061335"/>
              <a:ext cx="995299" cy="345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Gemma 4</a:t>
              </a:r>
            </a:p>
          </p:txBody>
        </p:sp>
        <p:sp>
          <p:nvSpPr>
            <p:cNvPr id="27" name="TextBox 23">
              <a:extLst>
                <a:ext uri="{FF2B5EF4-FFF2-40B4-BE49-F238E27FC236}">
                  <a16:creationId xmlns:a16="http://schemas.microsoft.com/office/drawing/2014/main" id="{C5F2ECBB-C0D3-E071-56F0-DD8D6FA04CF7}"/>
                </a:ext>
              </a:extLst>
            </p:cNvPr>
            <p:cNvSpPr txBox="1"/>
            <p:nvPr/>
          </p:nvSpPr>
          <p:spPr>
            <a:xfrm>
              <a:off x="891858" y="33883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665A"/>
                  </a:solidFill>
                  <a:latin typeface="Microsoft YaHei UI"/>
                  <a:ea typeface="Microsoft YaHei"/>
                  <a:cs typeface="Microsoft YaHei UI"/>
                </a:rPr>
                <a:t>只生成候选</a:t>
              </a:r>
            </a:p>
          </p:txBody>
        </p:sp>
        <p:sp>
          <p:nvSpPr>
            <p:cNvPr id="28" name="TextBox 24">
              <a:extLst>
                <a:ext uri="{FF2B5EF4-FFF2-40B4-BE49-F238E27FC236}">
                  <a16:creationId xmlns:a16="http://schemas.microsoft.com/office/drawing/2014/main" id="{0FF307B8-A93B-644E-B00E-8C3051AD41ED}"/>
                </a:ext>
              </a:extLst>
            </p:cNvPr>
            <p:cNvSpPr txBox="1"/>
            <p:nvPr/>
          </p:nvSpPr>
          <p:spPr>
            <a:xfrm>
              <a:off x="550720" y="3912553"/>
              <a:ext cx="15528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Native Function Calling</a:t>
              </a:r>
            </a:p>
          </p:txBody>
        </p:sp>
      </p:grpSp>
      <p:grpSp>
        <p:nvGrpSpPr>
          <p:cNvPr id="29" name="Group 60">
            <a:extLst>
              <a:ext uri="{FF2B5EF4-FFF2-40B4-BE49-F238E27FC236}">
                <a16:creationId xmlns:a16="http://schemas.microsoft.com/office/drawing/2014/main" id="{CBFDE6AF-CBA4-B0A0-470E-2B51BE1461D9}"/>
              </a:ext>
            </a:extLst>
          </p:cNvPr>
          <p:cNvGrpSpPr/>
          <p:nvPr/>
        </p:nvGrpSpPr>
        <p:grpSpPr>
          <a:xfrm>
            <a:off x="2641600" y="1905000"/>
            <a:ext cx="6184900" cy="2514600"/>
            <a:chOff x="2641600" y="1905000"/>
            <a:chExt cx="6184900" cy="2514600"/>
          </a:xfrm>
        </p:grpSpPr>
        <p:sp>
          <p:nvSpPr>
            <p:cNvPr id="30" name="Rectangle 26">
              <a:extLst>
                <a:ext uri="{FF2B5EF4-FFF2-40B4-BE49-F238E27FC236}">
                  <a16:creationId xmlns:a16="http://schemas.microsoft.com/office/drawing/2014/main" id="{6BDB9685-CC76-A47B-DE0A-9DD0BB655714}"/>
                </a:ext>
              </a:extLst>
            </p:cNvPr>
            <p:cNvSpPr/>
            <p:nvPr/>
          </p:nvSpPr>
          <p:spPr>
            <a:xfrm>
              <a:off x="2641600" y="1905000"/>
              <a:ext cx="6184900" cy="2514600"/>
            </a:xfrm>
            <a:prstGeom prst="rect">
              <a:avLst/>
            </a:prstGeom>
            <a:solidFill>
              <a:srgbClr val="FFFFFF">
                <a:alpha val="8000"/>
              </a:srgbClr>
            </a:solidFill>
            <a:ln w="19050">
              <a:solidFill>
                <a:srgbClr val="FFFFFF">
                  <a:alpha val="55000"/>
                </a:srgbClr>
              </a:solidFill>
            </a:ln>
          </p:spPr>
        </p:sp>
        <p:sp>
          <p:nvSpPr>
            <p:cNvPr id="31" name="TextBox 27">
              <a:extLst>
                <a:ext uri="{FF2B5EF4-FFF2-40B4-BE49-F238E27FC236}">
                  <a16:creationId xmlns:a16="http://schemas.microsoft.com/office/drawing/2014/main" id="{4D3364B0-023F-5393-92FC-9FCC3575332B}"/>
                </a:ext>
              </a:extLst>
            </p:cNvPr>
            <p:cNvSpPr txBox="1"/>
            <p:nvPr/>
          </p:nvSpPr>
          <p:spPr>
            <a:xfrm>
              <a:off x="2804160" y="205486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HARNESS / 外部护栏</a:t>
              </a:r>
            </a:p>
          </p:txBody>
        </p:sp>
        <p:sp>
          <p:nvSpPr>
            <p:cNvPr id="32" name="Rectangle 28">
              <a:extLst>
                <a:ext uri="{FF2B5EF4-FFF2-40B4-BE49-F238E27FC236}">
                  <a16:creationId xmlns:a16="http://schemas.microsoft.com/office/drawing/2014/main" id="{02522DB9-6088-FC95-26BD-7DF7988F0B60}"/>
                </a:ext>
              </a:extLst>
            </p:cNvPr>
            <p:cNvSpPr/>
            <p:nvPr/>
          </p:nvSpPr>
          <p:spPr>
            <a:xfrm>
              <a:off x="2819400" y="2400300"/>
              <a:ext cx="1104900" cy="138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Rectangle 29">
              <a:extLst>
                <a:ext uri="{FF2B5EF4-FFF2-40B4-BE49-F238E27FC236}">
                  <a16:creationId xmlns:a16="http://schemas.microsoft.com/office/drawing/2014/main" id="{30488661-40AE-089B-B6FB-CB99DFA80372}"/>
                </a:ext>
              </a:extLst>
            </p:cNvPr>
            <p:cNvSpPr/>
            <p:nvPr/>
          </p:nvSpPr>
          <p:spPr>
            <a:xfrm>
              <a:off x="2819400" y="2400300"/>
              <a:ext cx="1104900" cy="762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34" name="TextBox 30">
              <a:extLst>
                <a:ext uri="{FF2B5EF4-FFF2-40B4-BE49-F238E27FC236}">
                  <a16:creationId xmlns:a16="http://schemas.microsoft.com/office/drawing/2014/main" id="{ABD5E967-61B3-DCDA-A1E0-5852673F4EED}"/>
                </a:ext>
              </a:extLst>
            </p:cNvPr>
            <p:cNvSpPr txBox="1"/>
            <p:nvPr/>
          </p:nvSpPr>
          <p:spPr>
            <a:xfrm>
              <a:off x="2921000" y="2590800"/>
              <a:ext cx="494459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002FA7"/>
                  </a:solidFill>
                  <a:latin typeface="Consolas"/>
                  <a:ea typeface="Microsoft YaHei"/>
                  <a:cs typeface="Consolas"/>
                </a:rPr>
                <a:t>GATE 01</a:t>
              </a:r>
            </a:p>
          </p:txBody>
        </p:sp>
        <p:sp>
          <p:nvSpPr>
            <p:cNvPr id="35" name="TextBox 31">
              <a:extLst>
                <a:ext uri="{FF2B5EF4-FFF2-40B4-BE49-F238E27FC236}">
                  <a16:creationId xmlns:a16="http://schemas.microsoft.com/office/drawing/2014/main" id="{3F3B2BFC-94AD-5553-D57C-7B7B99E307E1}"/>
                </a:ext>
              </a:extLst>
            </p:cNvPr>
            <p:cNvSpPr txBox="1"/>
            <p:nvPr/>
          </p:nvSpPr>
          <p:spPr>
            <a:xfrm>
              <a:off x="2915920" y="2858770"/>
              <a:ext cx="819658" cy="284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原话先存</a:t>
              </a:r>
            </a:p>
          </p:txBody>
        </p:sp>
        <p:sp>
          <p:nvSpPr>
            <p:cNvPr id="36" name="TextBox 32">
              <a:extLst>
                <a:ext uri="{FF2B5EF4-FFF2-40B4-BE49-F238E27FC236}">
                  <a16:creationId xmlns:a16="http://schemas.microsoft.com/office/drawing/2014/main" id="{E1C64099-23CD-9FE3-96FB-9633862DE53B}"/>
                </a:ext>
              </a:extLst>
            </p:cNvPr>
            <p:cNvSpPr txBox="1"/>
            <p:nvPr/>
          </p:nvSpPr>
          <p:spPr>
            <a:xfrm>
              <a:off x="2920365" y="3188653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原话可追溯</a:t>
              </a:r>
            </a:p>
          </p:txBody>
        </p:sp>
        <p:sp>
          <p:nvSpPr>
            <p:cNvPr id="37" name="TextBox 33">
              <a:extLst>
                <a:ext uri="{FF2B5EF4-FFF2-40B4-BE49-F238E27FC236}">
                  <a16:creationId xmlns:a16="http://schemas.microsoft.com/office/drawing/2014/main" id="{3146FBCA-3EDF-32D8-92D7-B694C51487C4}"/>
                </a:ext>
              </a:extLst>
            </p:cNvPr>
            <p:cNvSpPr txBox="1"/>
            <p:nvPr/>
          </p:nvSpPr>
          <p:spPr>
            <a:xfrm>
              <a:off x="2921000" y="3429000"/>
              <a:ext cx="8255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先存，再调用</a:t>
              </a:r>
            </a:p>
          </p:txBody>
        </p:sp>
        <p:sp>
          <p:nvSpPr>
            <p:cNvPr id="38" name="Rectangle 34">
              <a:extLst>
                <a:ext uri="{FF2B5EF4-FFF2-40B4-BE49-F238E27FC236}">
                  <a16:creationId xmlns:a16="http://schemas.microsoft.com/office/drawing/2014/main" id="{F8DA30F5-EE58-DA64-1895-FCC8E352E223}"/>
                </a:ext>
              </a:extLst>
            </p:cNvPr>
            <p:cNvSpPr/>
            <p:nvPr/>
          </p:nvSpPr>
          <p:spPr>
            <a:xfrm>
              <a:off x="4013200" y="2400300"/>
              <a:ext cx="1104900" cy="138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Rectangle 35">
              <a:extLst>
                <a:ext uri="{FF2B5EF4-FFF2-40B4-BE49-F238E27FC236}">
                  <a16:creationId xmlns:a16="http://schemas.microsoft.com/office/drawing/2014/main" id="{2A288633-253E-29C3-BED8-0E397AF4A946}"/>
                </a:ext>
              </a:extLst>
            </p:cNvPr>
            <p:cNvSpPr/>
            <p:nvPr/>
          </p:nvSpPr>
          <p:spPr>
            <a:xfrm>
              <a:off x="4013200" y="2400300"/>
              <a:ext cx="1104900" cy="762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40" name="TextBox 36">
              <a:extLst>
                <a:ext uri="{FF2B5EF4-FFF2-40B4-BE49-F238E27FC236}">
                  <a16:creationId xmlns:a16="http://schemas.microsoft.com/office/drawing/2014/main" id="{9C185A19-ECD7-2CBF-0E7C-537433AA5154}"/>
                </a:ext>
              </a:extLst>
            </p:cNvPr>
            <p:cNvSpPr txBox="1"/>
            <p:nvPr/>
          </p:nvSpPr>
          <p:spPr>
            <a:xfrm>
              <a:off x="4114800" y="2590800"/>
              <a:ext cx="529463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002FA7"/>
                  </a:solidFill>
                  <a:latin typeface="Consolas"/>
                  <a:ea typeface="Microsoft YaHei"/>
                  <a:cs typeface="Consolas"/>
                </a:rPr>
                <a:t>GATE 02</a:t>
              </a:r>
            </a:p>
          </p:txBody>
        </p:sp>
        <p:sp>
          <p:nvSpPr>
            <p:cNvPr id="41" name="TextBox 37">
              <a:extLst>
                <a:ext uri="{FF2B5EF4-FFF2-40B4-BE49-F238E27FC236}">
                  <a16:creationId xmlns:a16="http://schemas.microsoft.com/office/drawing/2014/main" id="{9B815277-ED4E-DE58-31AB-F3541670584F}"/>
                </a:ext>
              </a:extLst>
            </p:cNvPr>
            <p:cNvSpPr txBox="1"/>
            <p:nvPr/>
          </p:nvSpPr>
          <p:spPr>
            <a:xfrm>
              <a:off x="4110355" y="28641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工具白名单</a:t>
              </a:r>
            </a:p>
          </p:txBody>
        </p:sp>
        <p:sp>
          <p:nvSpPr>
            <p:cNvPr id="42" name="TextBox 38">
              <a:extLst>
                <a:ext uri="{FF2B5EF4-FFF2-40B4-BE49-F238E27FC236}">
                  <a16:creationId xmlns:a16="http://schemas.microsoft.com/office/drawing/2014/main" id="{37FD007B-945D-AC74-9E37-13B4A8697DCE}"/>
                </a:ext>
              </a:extLst>
            </p:cNvPr>
            <p:cNvSpPr txBox="1"/>
            <p:nvPr/>
          </p:nvSpPr>
          <p:spPr>
            <a:xfrm>
              <a:off x="4114800" y="3194050"/>
              <a:ext cx="8255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只有一个出口</a:t>
              </a:r>
            </a:p>
          </p:txBody>
        </p:sp>
        <p:sp>
          <p:nvSpPr>
            <p:cNvPr id="43" name="TextBox 39">
              <a:extLst>
                <a:ext uri="{FF2B5EF4-FFF2-40B4-BE49-F238E27FC236}">
                  <a16:creationId xmlns:a16="http://schemas.microsoft.com/office/drawing/2014/main" id="{4888C5BD-5238-9AA0-DC03-47FA4EF9B93B}"/>
                </a:ext>
              </a:extLst>
            </p:cNvPr>
            <p:cNvSpPr txBox="1"/>
            <p:nvPr/>
          </p:nvSpPr>
          <p:spPr>
            <a:xfrm>
              <a:off x="4114800" y="3429000"/>
              <a:ext cx="95885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越权调用被拒绝</a:t>
              </a:r>
            </a:p>
          </p:txBody>
        </p:sp>
        <p:sp>
          <p:nvSpPr>
            <p:cNvPr id="44" name="Rectangle 40">
              <a:extLst>
                <a:ext uri="{FF2B5EF4-FFF2-40B4-BE49-F238E27FC236}">
                  <a16:creationId xmlns:a16="http://schemas.microsoft.com/office/drawing/2014/main" id="{89136A45-6EAA-F763-4FB6-AA49AD5259E2}"/>
                </a:ext>
              </a:extLst>
            </p:cNvPr>
            <p:cNvSpPr/>
            <p:nvPr/>
          </p:nvSpPr>
          <p:spPr>
            <a:xfrm>
              <a:off x="5207000" y="2400300"/>
              <a:ext cx="1104900" cy="138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Rectangle 41">
              <a:extLst>
                <a:ext uri="{FF2B5EF4-FFF2-40B4-BE49-F238E27FC236}">
                  <a16:creationId xmlns:a16="http://schemas.microsoft.com/office/drawing/2014/main" id="{46BF7AA4-9BEA-9FB5-03B1-AAA411D48DF1}"/>
                </a:ext>
              </a:extLst>
            </p:cNvPr>
            <p:cNvSpPr/>
            <p:nvPr/>
          </p:nvSpPr>
          <p:spPr>
            <a:xfrm>
              <a:off x="5207000" y="2400300"/>
              <a:ext cx="1104900" cy="762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46" name="TextBox 42">
              <a:extLst>
                <a:ext uri="{FF2B5EF4-FFF2-40B4-BE49-F238E27FC236}">
                  <a16:creationId xmlns:a16="http://schemas.microsoft.com/office/drawing/2014/main" id="{F2ED15A2-04A6-434C-64CA-D3A51DE64EF3}"/>
                </a:ext>
              </a:extLst>
            </p:cNvPr>
            <p:cNvSpPr txBox="1"/>
            <p:nvPr/>
          </p:nvSpPr>
          <p:spPr>
            <a:xfrm>
              <a:off x="5308600" y="2590800"/>
              <a:ext cx="529463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002FA7"/>
                  </a:solidFill>
                  <a:latin typeface="Consolas"/>
                  <a:ea typeface="Microsoft YaHei"/>
                  <a:cs typeface="Consolas"/>
                </a:rPr>
                <a:t>GATE 03</a:t>
              </a:r>
            </a:p>
          </p:txBody>
        </p:sp>
        <p:sp>
          <p:nvSpPr>
            <p:cNvPr id="47" name="TextBox 43">
              <a:extLst>
                <a:ext uri="{FF2B5EF4-FFF2-40B4-BE49-F238E27FC236}">
                  <a16:creationId xmlns:a16="http://schemas.microsoft.com/office/drawing/2014/main" id="{D4B6D469-DEC6-7B04-CF56-0B60B57F43A6}"/>
                </a:ext>
              </a:extLst>
            </p:cNvPr>
            <p:cNvSpPr txBox="1"/>
            <p:nvPr/>
          </p:nvSpPr>
          <p:spPr>
            <a:xfrm>
              <a:off x="5303520" y="2858770"/>
              <a:ext cx="721646" cy="284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A0A0A"/>
                  </a:solidFill>
                  <a:latin typeface="Consolas"/>
                  <a:ea typeface="Microsoft YaHei"/>
                  <a:cs typeface="Consolas"/>
                </a:rPr>
                <a:t>Schema</a:t>
              </a:r>
            </a:p>
          </p:txBody>
        </p:sp>
        <p:sp>
          <p:nvSpPr>
            <p:cNvPr id="48" name="TextBox 44">
              <a:extLst>
                <a:ext uri="{FF2B5EF4-FFF2-40B4-BE49-F238E27FC236}">
                  <a16:creationId xmlns:a16="http://schemas.microsoft.com/office/drawing/2014/main" id="{0259521D-B6BC-149E-2622-10B3871D550A}"/>
                </a:ext>
              </a:extLst>
            </p:cNvPr>
            <p:cNvSpPr txBox="1"/>
            <p:nvPr/>
          </p:nvSpPr>
          <p:spPr>
            <a:xfrm>
              <a:off x="5308600" y="3194050"/>
              <a:ext cx="5588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字段不对</a:t>
              </a:r>
            </a:p>
          </p:txBody>
        </p:sp>
        <p:sp>
          <p:nvSpPr>
            <p:cNvPr id="49" name="TextBox 45">
              <a:extLst>
                <a:ext uri="{FF2B5EF4-FFF2-40B4-BE49-F238E27FC236}">
                  <a16:creationId xmlns:a16="http://schemas.microsoft.com/office/drawing/2014/main" id="{B751D4F7-E604-AADF-9953-4E397027EF0A}"/>
                </a:ext>
              </a:extLst>
            </p:cNvPr>
            <p:cNvSpPr txBox="1"/>
            <p:nvPr/>
          </p:nvSpPr>
          <p:spPr>
            <a:xfrm>
              <a:off x="5308600" y="3429000"/>
              <a:ext cx="42545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就拒绝</a:t>
              </a:r>
            </a:p>
          </p:txBody>
        </p:sp>
        <p:sp>
          <p:nvSpPr>
            <p:cNvPr id="50" name="Rectangle 46">
              <a:extLst>
                <a:ext uri="{FF2B5EF4-FFF2-40B4-BE49-F238E27FC236}">
                  <a16:creationId xmlns:a16="http://schemas.microsoft.com/office/drawing/2014/main" id="{9B7C367E-AFC5-9F0D-8293-DD4EAB158354}"/>
                </a:ext>
              </a:extLst>
            </p:cNvPr>
            <p:cNvSpPr/>
            <p:nvPr/>
          </p:nvSpPr>
          <p:spPr>
            <a:xfrm>
              <a:off x="6400800" y="2400300"/>
              <a:ext cx="1104900" cy="138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Rectangle 47">
              <a:extLst>
                <a:ext uri="{FF2B5EF4-FFF2-40B4-BE49-F238E27FC236}">
                  <a16:creationId xmlns:a16="http://schemas.microsoft.com/office/drawing/2014/main" id="{445D4A85-085A-F7AB-7917-A2D826D48A2E}"/>
                </a:ext>
              </a:extLst>
            </p:cNvPr>
            <p:cNvSpPr/>
            <p:nvPr/>
          </p:nvSpPr>
          <p:spPr>
            <a:xfrm>
              <a:off x="6400800" y="2400300"/>
              <a:ext cx="1104900" cy="762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52" name="TextBox 48">
              <a:extLst>
                <a:ext uri="{FF2B5EF4-FFF2-40B4-BE49-F238E27FC236}">
                  <a16:creationId xmlns:a16="http://schemas.microsoft.com/office/drawing/2014/main" id="{66A4BF48-36D4-DB23-053B-815E8FA1312A}"/>
                </a:ext>
              </a:extLst>
            </p:cNvPr>
            <p:cNvSpPr txBox="1"/>
            <p:nvPr/>
          </p:nvSpPr>
          <p:spPr>
            <a:xfrm>
              <a:off x="6502400" y="2590800"/>
              <a:ext cx="529463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002FA7"/>
                  </a:solidFill>
                  <a:latin typeface="Consolas"/>
                  <a:ea typeface="Microsoft YaHei"/>
                  <a:cs typeface="Consolas"/>
                </a:rPr>
                <a:t>GATE 04</a:t>
              </a:r>
            </a:p>
          </p:txBody>
        </p:sp>
        <p:sp>
          <p:nvSpPr>
            <p:cNvPr id="53" name="TextBox 49">
              <a:extLst>
                <a:ext uri="{FF2B5EF4-FFF2-40B4-BE49-F238E27FC236}">
                  <a16:creationId xmlns:a16="http://schemas.microsoft.com/office/drawing/2014/main" id="{FB77BF75-4F49-369F-1BFF-D165A4EC14BF}"/>
                </a:ext>
              </a:extLst>
            </p:cNvPr>
            <p:cNvSpPr txBox="1"/>
            <p:nvPr/>
          </p:nvSpPr>
          <p:spPr>
            <a:xfrm>
              <a:off x="6497955" y="28641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最多修一次</a:t>
              </a:r>
            </a:p>
          </p:txBody>
        </p:sp>
        <p:sp>
          <p:nvSpPr>
            <p:cNvPr id="54" name="TextBox 50">
              <a:extLst>
                <a:ext uri="{FF2B5EF4-FFF2-40B4-BE49-F238E27FC236}">
                  <a16:creationId xmlns:a16="http://schemas.microsoft.com/office/drawing/2014/main" id="{2608BAEC-CF51-7EE1-473F-4E841E13905A}"/>
                </a:ext>
              </a:extLst>
            </p:cNvPr>
            <p:cNvSpPr txBox="1"/>
            <p:nvPr/>
          </p:nvSpPr>
          <p:spPr>
            <a:xfrm>
              <a:off x="6502400" y="3194050"/>
              <a:ext cx="69215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再错就停止</a:t>
              </a:r>
            </a:p>
          </p:txBody>
        </p:sp>
        <p:sp>
          <p:nvSpPr>
            <p:cNvPr id="55" name="TextBox 51">
              <a:extLst>
                <a:ext uri="{FF2B5EF4-FFF2-40B4-BE49-F238E27FC236}">
                  <a16:creationId xmlns:a16="http://schemas.microsoft.com/office/drawing/2014/main" id="{7A173E5A-7CE5-362E-28DC-6E2D70BF335F}"/>
                </a:ext>
              </a:extLst>
            </p:cNvPr>
            <p:cNvSpPr txBox="1"/>
            <p:nvPr/>
          </p:nvSpPr>
          <p:spPr>
            <a:xfrm>
              <a:off x="6502400" y="3429000"/>
              <a:ext cx="5588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不反复猜</a:t>
              </a:r>
            </a:p>
          </p:txBody>
        </p:sp>
        <p:sp>
          <p:nvSpPr>
            <p:cNvPr id="56" name="Rectangle 52">
              <a:extLst>
                <a:ext uri="{FF2B5EF4-FFF2-40B4-BE49-F238E27FC236}">
                  <a16:creationId xmlns:a16="http://schemas.microsoft.com/office/drawing/2014/main" id="{FB61B8EA-491F-6AE3-05B0-BAD4DE4E5E0D}"/>
                </a:ext>
              </a:extLst>
            </p:cNvPr>
            <p:cNvSpPr/>
            <p:nvPr/>
          </p:nvSpPr>
          <p:spPr>
            <a:xfrm>
              <a:off x="7594600" y="2400300"/>
              <a:ext cx="1054100" cy="13843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7" name="Rectangle 53">
              <a:extLst>
                <a:ext uri="{FF2B5EF4-FFF2-40B4-BE49-F238E27FC236}">
                  <a16:creationId xmlns:a16="http://schemas.microsoft.com/office/drawing/2014/main" id="{5B226388-37E4-39BA-F994-8D786F23F256}"/>
                </a:ext>
              </a:extLst>
            </p:cNvPr>
            <p:cNvSpPr/>
            <p:nvPr/>
          </p:nvSpPr>
          <p:spPr>
            <a:xfrm>
              <a:off x="7594600" y="2400300"/>
              <a:ext cx="1054100" cy="762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58" name="TextBox 54">
              <a:extLst>
                <a:ext uri="{FF2B5EF4-FFF2-40B4-BE49-F238E27FC236}">
                  <a16:creationId xmlns:a16="http://schemas.microsoft.com/office/drawing/2014/main" id="{ACD69B2B-918D-D3D2-915B-FCD87E4BA835}"/>
                </a:ext>
              </a:extLst>
            </p:cNvPr>
            <p:cNvSpPr txBox="1"/>
            <p:nvPr/>
          </p:nvSpPr>
          <p:spPr>
            <a:xfrm>
              <a:off x="7696200" y="2590800"/>
              <a:ext cx="529463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GATE 05</a:t>
              </a:r>
            </a:p>
          </p:txBody>
        </p:sp>
        <p:sp>
          <p:nvSpPr>
            <p:cNvPr id="59" name="TextBox 55">
              <a:extLst>
                <a:ext uri="{FF2B5EF4-FFF2-40B4-BE49-F238E27FC236}">
                  <a16:creationId xmlns:a16="http://schemas.microsoft.com/office/drawing/2014/main" id="{6B2B591E-0B24-226A-06D6-F8EC4CCDB07B}"/>
                </a:ext>
              </a:extLst>
            </p:cNvPr>
            <p:cNvSpPr txBox="1"/>
            <p:nvPr/>
          </p:nvSpPr>
          <p:spPr>
            <a:xfrm>
              <a:off x="7694930" y="2891155"/>
              <a:ext cx="936654" cy="223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候选 + Trace</a:t>
              </a:r>
            </a:p>
          </p:txBody>
        </p:sp>
        <p:sp>
          <p:nvSpPr>
            <p:cNvPr id="60" name="TextBox 56">
              <a:extLst>
                <a:ext uri="{FF2B5EF4-FFF2-40B4-BE49-F238E27FC236}">
                  <a16:creationId xmlns:a16="http://schemas.microsoft.com/office/drawing/2014/main" id="{0966DCC6-1A5C-31C6-4924-5A886DD304C5}"/>
                </a:ext>
              </a:extLst>
            </p:cNvPr>
            <p:cNvSpPr txBox="1"/>
            <p:nvPr/>
          </p:nvSpPr>
          <p:spPr>
            <a:xfrm>
              <a:off x="7696200" y="3194050"/>
              <a:ext cx="69215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FFFFFF">
                      <a:alphaMod val="70000"/>
                    </a:srgbClr>
                  </a:solidFill>
                  <a:latin typeface="Microsoft YaHei UI"/>
                  <a:ea typeface="Microsoft YaHei"/>
                  <a:cs typeface="Microsoft YaHei UI"/>
                </a:rPr>
                <a:t>不能直接改</a:t>
              </a:r>
            </a:p>
          </p:txBody>
        </p:sp>
        <p:sp>
          <p:nvSpPr>
            <p:cNvPr id="61" name="TextBox 57">
              <a:extLst>
                <a:ext uri="{FF2B5EF4-FFF2-40B4-BE49-F238E27FC236}">
                  <a16:creationId xmlns:a16="http://schemas.microsoft.com/office/drawing/2014/main" id="{8646A4DB-2CD7-744C-7A25-8517C8E385CD}"/>
                </a:ext>
              </a:extLst>
            </p:cNvPr>
            <p:cNvSpPr txBox="1"/>
            <p:nvPr/>
          </p:nvSpPr>
          <p:spPr>
            <a:xfrm>
              <a:off x="7696200" y="3429000"/>
              <a:ext cx="5588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FFFFFF">
                      <a:alphaMod val="70000"/>
                    </a:srgbClr>
                  </a:solidFill>
                  <a:latin typeface="Microsoft YaHei UI"/>
                  <a:ea typeface="Microsoft YaHei"/>
                  <a:cs typeface="Microsoft YaHei UI"/>
                </a:rPr>
                <a:t>系统事实</a:t>
              </a:r>
            </a:p>
          </p:txBody>
        </p:sp>
        <p:sp>
          <p:nvSpPr>
            <p:cNvPr id="62" name="Rectangle 58">
              <a:extLst>
                <a:ext uri="{FF2B5EF4-FFF2-40B4-BE49-F238E27FC236}">
                  <a16:creationId xmlns:a16="http://schemas.microsoft.com/office/drawing/2014/main" id="{3D0F1C9D-EEC8-E59E-8729-FAA40C2F7D37}"/>
                </a:ext>
              </a:extLst>
            </p:cNvPr>
            <p:cNvSpPr/>
            <p:nvPr/>
          </p:nvSpPr>
          <p:spPr>
            <a:xfrm>
              <a:off x="2819400" y="3924300"/>
              <a:ext cx="5829300" cy="342900"/>
            </a:xfrm>
            <a:prstGeom prst="rect">
              <a:avLst/>
            </a:prstGeom>
            <a:solidFill>
              <a:srgbClr val="1F665A"/>
            </a:solidFill>
            <a:ln>
              <a:noFill/>
            </a:ln>
          </p:spPr>
        </p:sp>
        <p:sp>
          <p:nvSpPr>
            <p:cNvPr id="63" name="TextBox 59">
              <a:extLst>
                <a:ext uri="{FF2B5EF4-FFF2-40B4-BE49-F238E27FC236}">
                  <a16:creationId xmlns:a16="http://schemas.microsoft.com/office/drawing/2014/main" id="{78D4A7F3-5962-A596-A404-36D65D7EFF04}"/>
                </a:ext>
              </a:extLst>
            </p:cNvPr>
            <p:cNvSpPr txBox="1"/>
            <p:nvPr/>
          </p:nvSpPr>
          <p:spPr>
            <a:xfrm>
              <a:off x="2969895" y="4028758"/>
              <a:ext cx="4054713" cy="23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5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模型只能按这五道护栏提交候选，不能越权改系统事实。</a:t>
              </a:r>
            </a:p>
          </p:txBody>
        </p:sp>
      </p:grpSp>
      <p:grpSp>
        <p:nvGrpSpPr>
          <p:cNvPr id="64" name="Group 68">
            <a:extLst>
              <a:ext uri="{FF2B5EF4-FFF2-40B4-BE49-F238E27FC236}">
                <a16:creationId xmlns:a16="http://schemas.microsoft.com/office/drawing/2014/main" id="{5917D71E-7BFD-8EEB-B240-8D7112B0D6A2}"/>
              </a:ext>
            </a:extLst>
          </p:cNvPr>
          <p:cNvGrpSpPr/>
          <p:nvPr/>
        </p:nvGrpSpPr>
        <p:grpSpPr>
          <a:xfrm>
            <a:off x="9537700" y="1993900"/>
            <a:ext cx="1955800" cy="3060700"/>
            <a:chOff x="9537700" y="1993900"/>
            <a:chExt cx="1955800" cy="3060700"/>
          </a:xfrm>
        </p:grpSpPr>
        <p:sp>
          <p:nvSpPr>
            <p:cNvPr id="65" name="Rectangle 61">
              <a:extLst>
                <a:ext uri="{FF2B5EF4-FFF2-40B4-BE49-F238E27FC236}">
                  <a16:creationId xmlns:a16="http://schemas.microsoft.com/office/drawing/2014/main" id="{B8D0B0E3-B4D1-8C81-0898-9F155EDC94AB}"/>
                </a:ext>
              </a:extLst>
            </p:cNvPr>
            <p:cNvSpPr/>
            <p:nvPr/>
          </p:nvSpPr>
          <p:spPr>
            <a:xfrm>
              <a:off x="9537700" y="1993900"/>
              <a:ext cx="1955800" cy="838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2">
              <a:extLst>
                <a:ext uri="{FF2B5EF4-FFF2-40B4-BE49-F238E27FC236}">
                  <a16:creationId xmlns:a16="http://schemas.microsoft.com/office/drawing/2014/main" id="{B40FA940-E49E-B7F0-71D9-E6D5C3BB3478}"/>
                </a:ext>
              </a:extLst>
            </p:cNvPr>
            <p:cNvSpPr txBox="1"/>
            <p:nvPr/>
          </p:nvSpPr>
          <p:spPr>
            <a:xfrm>
              <a:off x="10047224" y="2157730"/>
              <a:ext cx="936752" cy="32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模型候选</a:t>
              </a:r>
            </a:p>
          </p:txBody>
        </p:sp>
        <p:sp>
          <p:nvSpPr>
            <p:cNvPr id="145" name="TextBox 63">
              <a:extLst>
                <a:ext uri="{FF2B5EF4-FFF2-40B4-BE49-F238E27FC236}">
                  <a16:creationId xmlns:a16="http://schemas.microsoft.com/office/drawing/2014/main" id="{2E51BAFC-4EE7-C040-5DF4-E70EF60BB5C1}"/>
                </a:ext>
              </a:extLst>
            </p:cNvPr>
            <p:cNvSpPr txBox="1"/>
            <p:nvPr/>
          </p:nvSpPr>
          <p:spPr>
            <a:xfrm>
              <a:off x="9964261" y="2479358"/>
              <a:ext cx="1102678" cy="23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5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还不是系统事实</a:t>
              </a:r>
            </a:p>
          </p:txBody>
        </p:sp>
        <p:sp>
          <p:nvSpPr>
            <p:cNvPr id="146" name="Rectangle 64">
              <a:extLst>
                <a:ext uri="{FF2B5EF4-FFF2-40B4-BE49-F238E27FC236}">
                  <a16:creationId xmlns:a16="http://schemas.microsoft.com/office/drawing/2014/main" id="{213DA2D3-C65D-06DA-B1FA-43A06C25A4AF}"/>
                </a:ext>
              </a:extLst>
            </p:cNvPr>
            <p:cNvSpPr/>
            <p:nvPr/>
          </p:nvSpPr>
          <p:spPr>
            <a:xfrm>
              <a:off x="9537700" y="3289300"/>
              <a:ext cx="1955800" cy="6477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147" name="TextBox 65">
              <a:extLst>
                <a:ext uri="{FF2B5EF4-FFF2-40B4-BE49-F238E27FC236}">
                  <a16:creationId xmlns:a16="http://schemas.microsoft.com/office/drawing/2014/main" id="{4FBC4A4C-DD30-152D-D58E-545D571027F0}"/>
                </a:ext>
              </a:extLst>
            </p:cNvPr>
            <p:cNvSpPr txBox="1"/>
            <p:nvPr/>
          </p:nvSpPr>
          <p:spPr>
            <a:xfrm>
              <a:off x="9745706" y="3521075"/>
              <a:ext cx="15397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孩子 / 家长确认</a:t>
              </a:r>
            </a:p>
          </p:txBody>
        </p:sp>
        <p:sp>
          <p:nvSpPr>
            <p:cNvPr id="148" name="Rectangle 66">
              <a:extLst>
                <a:ext uri="{FF2B5EF4-FFF2-40B4-BE49-F238E27FC236}">
                  <a16:creationId xmlns:a16="http://schemas.microsoft.com/office/drawing/2014/main" id="{7FCD24C9-0D50-DBF4-1B79-C63CF6B2B552}"/>
                </a:ext>
              </a:extLst>
            </p:cNvPr>
            <p:cNvSpPr/>
            <p:nvPr/>
          </p:nvSpPr>
          <p:spPr>
            <a:xfrm>
              <a:off x="9537700" y="4394200"/>
              <a:ext cx="1955800" cy="660400"/>
            </a:xfrm>
            <a:prstGeom prst="rect">
              <a:avLst/>
            </a:prstGeom>
            <a:solidFill>
              <a:srgbClr val="1F665A"/>
            </a:solidFill>
            <a:ln w="19050">
              <a:solidFill>
                <a:srgbClr val="FFFFFF"/>
              </a:solidFill>
            </a:ln>
          </p:spPr>
        </p:sp>
        <p:sp>
          <p:nvSpPr>
            <p:cNvPr id="149" name="TextBox 67">
              <a:extLst>
                <a:ext uri="{FF2B5EF4-FFF2-40B4-BE49-F238E27FC236}">
                  <a16:creationId xmlns:a16="http://schemas.microsoft.com/office/drawing/2014/main" id="{9EC375CF-537A-4176-F7BE-407C0B164A55}"/>
                </a:ext>
              </a:extLst>
            </p:cNvPr>
            <p:cNvSpPr txBox="1"/>
            <p:nvPr/>
          </p:nvSpPr>
          <p:spPr>
            <a:xfrm>
              <a:off x="10047224" y="4627880"/>
              <a:ext cx="936752" cy="32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系统事实</a:t>
              </a:r>
            </a:p>
          </p:txBody>
        </p:sp>
      </p:grpSp>
      <p:grpSp>
        <p:nvGrpSpPr>
          <p:cNvPr id="150" name="Group 73">
            <a:extLst>
              <a:ext uri="{FF2B5EF4-FFF2-40B4-BE49-F238E27FC236}">
                <a16:creationId xmlns:a16="http://schemas.microsoft.com/office/drawing/2014/main" id="{7D15E897-9E62-CC2E-56B2-734016ACC2F2}"/>
              </a:ext>
            </a:extLst>
          </p:cNvPr>
          <p:cNvGrpSpPr/>
          <p:nvPr/>
        </p:nvGrpSpPr>
        <p:grpSpPr>
          <a:xfrm>
            <a:off x="533400" y="4724400"/>
            <a:ext cx="8293100" cy="584200"/>
            <a:chOff x="533400" y="4724400"/>
            <a:chExt cx="8293100" cy="584200"/>
          </a:xfrm>
        </p:grpSpPr>
        <p:sp>
          <p:nvSpPr>
            <p:cNvPr id="151" name="Rectangle 69">
              <a:extLst>
                <a:ext uri="{FF2B5EF4-FFF2-40B4-BE49-F238E27FC236}">
                  <a16:creationId xmlns:a16="http://schemas.microsoft.com/office/drawing/2014/main" id="{1CB16373-EBA2-2692-2870-F8C40A4A3390}"/>
                </a:ext>
              </a:extLst>
            </p:cNvPr>
            <p:cNvSpPr/>
            <p:nvPr/>
          </p:nvSpPr>
          <p:spPr>
            <a:xfrm>
              <a:off x="533400" y="4724400"/>
              <a:ext cx="8293100" cy="584200"/>
            </a:xfrm>
            <a:prstGeom prst="rect">
              <a:avLst/>
            </a:prstGeom>
            <a:solidFill>
              <a:srgbClr val="1F665A"/>
            </a:solidFill>
            <a:ln>
              <a:noFill/>
            </a:ln>
          </p:spPr>
        </p:sp>
        <p:sp>
          <p:nvSpPr>
            <p:cNvPr id="152" name="TextBox 70">
              <a:extLst>
                <a:ext uri="{FF2B5EF4-FFF2-40B4-BE49-F238E27FC236}">
                  <a16:creationId xmlns:a16="http://schemas.microsoft.com/office/drawing/2014/main" id="{C1979D5A-6DBB-13A5-1DB7-362AC67DE3D4}"/>
                </a:ext>
              </a:extLst>
            </p:cNvPr>
            <p:cNvSpPr txBox="1"/>
            <p:nvPr/>
          </p:nvSpPr>
          <p:spPr>
            <a:xfrm>
              <a:off x="694690" y="4825365"/>
              <a:ext cx="3309430" cy="264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服务器补上模型不能自己决定的可信信息</a:t>
              </a:r>
            </a:p>
          </p:txBody>
        </p:sp>
        <p:sp>
          <p:nvSpPr>
            <p:cNvPr id="153" name="TextBox 71">
              <a:extLst>
                <a:ext uri="{FF2B5EF4-FFF2-40B4-BE49-F238E27FC236}">
                  <a16:creationId xmlns:a16="http://schemas.microsoft.com/office/drawing/2014/main" id="{1901149B-CF65-8C2B-E54E-8E6D1EE43074}"/>
                </a:ext>
              </a:extLst>
            </p:cNvPr>
            <p:cNvSpPr txBox="1"/>
            <p:nvPr/>
          </p:nvSpPr>
          <p:spPr>
            <a:xfrm>
              <a:off x="697230" y="5069205"/>
              <a:ext cx="5154581" cy="223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actor · role · session · expected_version · trace_id · idempotency_key</a:t>
              </a:r>
            </a:p>
          </p:txBody>
        </p:sp>
        <p:sp>
          <p:nvSpPr>
            <p:cNvPr id="154" name="TextBox 72">
              <a:extLst>
                <a:ext uri="{FF2B5EF4-FFF2-40B4-BE49-F238E27FC236}">
                  <a16:creationId xmlns:a16="http://schemas.microsoft.com/office/drawing/2014/main" id="{73D6D8DD-FB89-5671-125B-8FEE1B73B37F}"/>
                </a:ext>
              </a:extLst>
            </p:cNvPr>
            <p:cNvSpPr txBox="1"/>
            <p:nvPr/>
          </p:nvSpPr>
          <p:spPr>
            <a:xfrm>
              <a:off x="7569994" y="4938713"/>
              <a:ext cx="1081881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50" b="1" dirty="0">
                  <a:solidFill>
                    <a:srgbClr val="DFFF7A"/>
                  </a:solidFill>
                  <a:latin typeface="Microsoft YaHei UI"/>
                  <a:ea typeface="Microsoft YaHei"/>
                  <a:cs typeface="Microsoft YaHei UI"/>
                </a:rPr>
                <a:t>模型不可伪造</a:t>
              </a:r>
            </a:p>
          </p:txBody>
        </p:sp>
      </p:grpSp>
      <p:grpSp>
        <p:nvGrpSpPr>
          <p:cNvPr id="155" name="Group 77">
            <a:extLst>
              <a:ext uri="{FF2B5EF4-FFF2-40B4-BE49-F238E27FC236}">
                <a16:creationId xmlns:a16="http://schemas.microsoft.com/office/drawing/2014/main" id="{6A254171-9CD6-AAF1-B492-F7E305B758A3}"/>
              </a:ext>
            </a:extLst>
          </p:cNvPr>
          <p:cNvGrpSpPr/>
          <p:nvPr/>
        </p:nvGrpSpPr>
        <p:grpSpPr>
          <a:xfrm>
            <a:off x="533400" y="5537200"/>
            <a:ext cx="11125200" cy="762000"/>
            <a:chOff x="533400" y="5537200"/>
            <a:chExt cx="11125200" cy="762000"/>
          </a:xfrm>
        </p:grpSpPr>
        <p:sp>
          <p:nvSpPr>
            <p:cNvPr id="156" name="Rectangle 74">
              <a:extLst>
                <a:ext uri="{FF2B5EF4-FFF2-40B4-BE49-F238E27FC236}">
                  <a16:creationId xmlns:a16="http://schemas.microsoft.com/office/drawing/2014/main" id="{0B9D934D-E596-1CE3-029F-D4B8EF42CBFB}"/>
                </a:ext>
              </a:extLst>
            </p:cNvPr>
            <p:cNvSpPr/>
            <p:nvPr/>
          </p:nvSpPr>
          <p:spPr>
            <a:xfrm>
              <a:off x="533400" y="5537200"/>
              <a:ext cx="11125200" cy="762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7" name="Rectangle 75">
              <a:extLst>
                <a:ext uri="{FF2B5EF4-FFF2-40B4-BE49-F238E27FC236}">
                  <a16:creationId xmlns:a16="http://schemas.microsoft.com/office/drawing/2014/main" id="{9F655B91-C36C-835B-3C51-5ECA74F90682}"/>
                </a:ext>
              </a:extLst>
            </p:cNvPr>
            <p:cNvSpPr/>
            <p:nvPr/>
          </p:nvSpPr>
          <p:spPr>
            <a:xfrm>
              <a:off x="533400" y="5537200"/>
              <a:ext cx="139700" cy="7620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158" name="TextBox 76">
              <a:extLst>
                <a:ext uri="{FF2B5EF4-FFF2-40B4-BE49-F238E27FC236}">
                  <a16:creationId xmlns:a16="http://schemas.microsoft.com/office/drawing/2014/main" id="{64993819-95D1-A4EF-6246-04E286DC71FB}"/>
                </a:ext>
              </a:extLst>
            </p:cNvPr>
            <p:cNvSpPr txBox="1"/>
            <p:nvPr/>
          </p:nvSpPr>
          <p:spPr>
            <a:xfrm>
              <a:off x="815340" y="5819140"/>
              <a:ext cx="50863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模型负责理解，护栏负责把错误挡在系统外。</a:t>
              </a:r>
            </a:p>
          </p:txBody>
        </p:sp>
      </p:grpSp>
      <p:grpSp>
        <p:nvGrpSpPr>
          <p:cNvPr id="159" name="Group 80">
            <a:extLst>
              <a:ext uri="{FF2B5EF4-FFF2-40B4-BE49-F238E27FC236}">
                <a16:creationId xmlns:a16="http://schemas.microsoft.com/office/drawing/2014/main" id="{A5F7029F-13EA-5243-64EF-718638D76D1B}"/>
              </a:ext>
            </a:extLst>
          </p:cNvPr>
          <p:cNvGrpSpPr/>
          <p:nvPr/>
        </p:nvGrpSpPr>
        <p:grpSpPr>
          <a:xfrm>
            <a:off x="518160" y="6490018"/>
            <a:ext cx="11157585" cy="274320"/>
            <a:chOff x="518160" y="6490018"/>
            <a:chExt cx="11157585" cy="274320"/>
          </a:xfrm>
        </p:grpSpPr>
        <p:sp>
          <p:nvSpPr>
            <p:cNvPr id="160" name="TextBox 78">
              <a:extLst>
                <a:ext uri="{FF2B5EF4-FFF2-40B4-BE49-F238E27FC236}">
                  <a16:creationId xmlns:a16="http://schemas.microsoft.com/office/drawing/2014/main" id="{17C6DE7F-FD02-8E84-603D-74B0F00DCADC}"/>
                </a:ext>
              </a:extLst>
            </p:cNvPr>
            <p:cNvSpPr txBox="1"/>
            <p:nvPr/>
          </p:nvSpPr>
          <p:spPr>
            <a:xfrm>
              <a:off x="518160" y="6506210"/>
              <a:ext cx="50231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66000"/>
                    </a:srgbClr>
                  </a:solidFill>
                  <a:latin typeface="Consolas"/>
                  <a:ea typeface="Microsoft YaHei"/>
                  <a:cs typeface="Consolas"/>
                </a:rPr>
                <a:t>allowlist / schema / repair budget / trace / human confirmation</a:t>
              </a:r>
            </a:p>
          </p:txBody>
        </p:sp>
        <p:sp>
          <p:nvSpPr>
            <p:cNvPr id="161" name="TextBox 79">
              <a:extLst>
                <a:ext uri="{FF2B5EF4-FFF2-40B4-BE49-F238E27FC236}">
                  <a16:creationId xmlns:a16="http://schemas.microsoft.com/office/drawing/2014/main" id="{59FB57F8-5613-CCCA-135E-D55255D33CA4}"/>
                </a:ext>
              </a:extLst>
            </p:cNvPr>
            <p:cNvSpPr txBox="1"/>
            <p:nvPr/>
          </p:nvSpPr>
          <p:spPr>
            <a:xfrm>
              <a:off x="11433529" y="64900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DFFF7A"/>
                  </a:solidFill>
                  <a:latin typeface="Microsoft YaHei UI"/>
                  <a:ea typeface="Microsoft YaHei"/>
                  <a:cs typeface="Microsoft YaHei UI"/>
                </a:rPr>
                <a:t>06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7943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4B3F720-D055-26E9-1576-7DDB498D52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BE9BD29-6143-845E-D2B6-FE1314C32114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2FA7"/>
          </a:solidFill>
          <a:ln>
            <a:noFill/>
          </a:ln>
        </p:spPr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CA2B065C-9185-80D7-8856-381D6678EE1C}"/>
              </a:ext>
            </a:extLst>
          </p:cNvPr>
          <p:cNvGrpSpPr/>
          <p:nvPr/>
        </p:nvGrpSpPr>
        <p:grpSpPr>
          <a:xfrm>
            <a:off x="492760" y="311468"/>
            <a:ext cx="11165840" cy="1298257"/>
            <a:chOff x="492760" y="311468"/>
            <a:chExt cx="11165840" cy="1298257"/>
          </a:xfrm>
        </p:grpSpPr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40082506-1A91-2439-46DC-2E472658E0B6}"/>
                </a:ext>
              </a:extLst>
            </p:cNvPr>
            <p:cNvSpPr txBox="1"/>
            <p:nvPr/>
          </p:nvSpPr>
          <p:spPr>
            <a:xfrm>
              <a:off x="516255" y="311468"/>
              <a:ext cx="41455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2FA7"/>
                  </a:solidFill>
                  <a:latin typeface="Consolas"/>
                  <a:ea typeface="Microsoft YaHei"/>
                  <a:cs typeface="Consolas"/>
                </a:rPr>
                <a:t>07 / FROM UNDERSTANDING TO A PRODUCT LOOP</a:t>
              </a:r>
            </a:p>
          </p:txBody>
        </p:sp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FAD110E4-E6E2-7A1F-559F-5389DF367E03}"/>
                </a:ext>
              </a:extLst>
            </p:cNvPr>
            <p:cNvSpPr txBox="1"/>
            <p:nvPr/>
          </p:nvSpPr>
          <p:spPr>
            <a:xfrm>
              <a:off x="492760" y="657860"/>
              <a:ext cx="6354064" cy="650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受控调用还不是产品，闭环才是</a:t>
              </a: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B7BDF229-A4A6-1B37-45A5-ABC395418615}"/>
                </a:ext>
              </a:extLst>
            </p:cNvPr>
            <p:cNvSpPr txBox="1"/>
            <p:nvPr/>
          </p:nvSpPr>
          <p:spPr>
            <a:xfrm>
              <a:off x="510540" y="1202690"/>
              <a:ext cx="8314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Gemma 听懂以后，规则引擎接手规划；状态机和长期记忆把任务接到下一晚。</a:t>
              </a:r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8C30DD8D-5C7F-C9E8-4F11-ABD64E4C340A}"/>
                </a:ext>
              </a:extLst>
            </p:cNvPr>
            <p:cNvSpPr/>
            <p:nvPr/>
          </p:nvSpPr>
          <p:spPr>
            <a:xfrm>
              <a:off x="533400" y="16002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D8D8D4"/>
              </a:solidFill>
            </a:ln>
          </p:spPr>
        </p:sp>
      </p:grpSp>
      <p:grpSp>
        <p:nvGrpSpPr>
          <p:cNvPr id="12" name="Group 17">
            <a:extLst>
              <a:ext uri="{FF2B5EF4-FFF2-40B4-BE49-F238E27FC236}">
                <a16:creationId xmlns:a16="http://schemas.microsoft.com/office/drawing/2014/main" id="{4B5FD83F-4A76-621A-DF15-AB829EC36BC7}"/>
              </a:ext>
            </a:extLst>
          </p:cNvPr>
          <p:cNvGrpSpPr/>
          <p:nvPr/>
        </p:nvGrpSpPr>
        <p:grpSpPr>
          <a:xfrm>
            <a:off x="2108200" y="3022600"/>
            <a:ext cx="6997700" cy="203200"/>
            <a:chOff x="2108200" y="3022600"/>
            <a:chExt cx="6997700" cy="203200"/>
          </a:xfrm>
        </p:grpSpPr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146D2AD3-07D1-831C-5BF8-C7ABF6C5AE67}"/>
                </a:ext>
              </a:extLst>
            </p:cNvPr>
            <p:cNvSpPr/>
            <p:nvPr/>
          </p:nvSpPr>
          <p:spPr>
            <a:xfrm>
              <a:off x="2108200" y="3124200"/>
              <a:ext cx="393700" cy="9525"/>
            </a:xfrm>
            <a:custGeom>
              <a:avLst/>
              <a:gdLst/>
              <a:ahLst/>
              <a:cxnLst/>
              <a:rect l="l" t="t" r="r" b="b"/>
              <a:pathLst>
                <a:path w="393700" h="9525">
                  <a:moveTo>
                    <a:pt x="0" y="0"/>
                  </a:moveTo>
                  <a:lnTo>
                    <a:pt x="393700" y="0"/>
                  </a:lnTo>
                </a:path>
              </a:pathLst>
            </a:custGeom>
            <a:noFill/>
            <a:ln w="44450">
              <a:solidFill>
                <a:srgbClr val="002FA7"/>
              </a:solidFill>
            </a:ln>
          </p:spPr>
        </p:sp>
        <p:sp>
          <p:nvSpPr>
            <p:cNvPr id="14" name="Polygon 10">
              <a:extLst>
                <a:ext uri="{FF2B5EF4-FFF2-40B4-BE49-F238E27FC236}">
                  <a16:creationId xmlns:a16="http://schemas.microsoft.com/office/drawing/2014/main" id="{D480328A-B3D2-FA01-956D-3FAA0A1D22EF}"/>
                </a:ext>
              </a:extLst>
            </p:cNvPr>
            <p:cNvSpPr/>
            <p:nvPr/>
          </p:nvSpPr>
          <p:spPr>
            <a:xfrm>
              <a:off x="2501900" y="302260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0" y="0"/>
                  </a:moveTo>
                  <a:lnTo>
                    <a:pt x="203200" y="1016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73A18AD1-93BC-BBA6-E5DB-88D567190D5D}"/>
                </a:ext>
              </a:extLst>
            </p:cNvPr>
            <p:cNvSpPr/>
            <p:nvPr/>
          </p:nvSpPr>
          <p:spPr>
            <a:xfrm>
              <a:off x="4241800" y="3124200"/>
              <a:ext cx="393700" cy="9525"/>
            </a:xfrm>
            <a:custGeom>
              <a:avLst/>
              <a:gdLst/>
              <a:ahLst/>
              <a:cxnLst/>
              <a:rect l="l" t="t" r="r" b="b"/>
              <a:pathLst>
                <a:path w="393700" h="9525">
                  <a:moveTo>
                    <a:pt x="0" y="0"/>
                  </a:moveTo>
                  <a:lnTo>
                    <a:pt x="393700" y="0"/>
                  </a:lnTo>
                </a:path>
              </a:pathLst>
            </a:custGeom>
            <a:noFill/>
            <a:ln w="44450">
              <a:solidFill>
                <a:srgbClr val="002FA7"/>
              </a:solidFill>
            </a:ln>
          </p:spPr>
        </p:sp>
        <p:sp>
          <p:nvSpPr>
            <p:cNvPr id="16" name="Polygon 12">
              <a:extLst>
                <a:ext uri="{FF2B5EF4-FFF2-40B4-BE49-F238E27FC236}">
                  <a16:creationId xmlns:a16="http://schemas.microsoft.com/office/drawing/2014/main" id="{E9EEF1AE-C448-5449-1DE7-D30DCFD09AB0}"/>
                </a:ext>
              </a:extLst>
            </p:cNvPr>
            <p:cNvSpPr/>
            <p:nvPr/>
          </p:nvSpPr>
          <p:spPr>
            <a:xfrm>
              <a:off x="4635500" y="302260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0" y="0"/>
                  </a:moveTo>
                  <a:lnTo>
                    <a:pt x="203200" y="1016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180F52C8-797B-020D-120A-B492750A8009}"/>
                </a:ext>
              </a:extLst>
            </p:cNvPr>
            <p:cNvSpPr/>
            <p:nvPr/>
          </p:nvSpPr>
          <p:spPr>
            <a:xfrm>
              <a:off x="6375400" y="3124200"/>
              <a:ext cx="393700" cy="9525"/>
            </a:xfrm>
            <a:custGeom>
              <a:avLst/>
              <a:gdLst/>
              <a:ahLst/>
              <a:cxnLst/>
              <a:rect l="l" t="t" r="r" b="b"/>
              <a:pathLst>
                <a:path w="393700" h="9525">
                  <a:moveTo>
                    <a:pt x="0" y="0"/>
                  </a:moveTo>
                  <a:lnTo>
                    <a:pt x="393700" y="0"/>
                  </a:lnTo>
                </a:path>
              </a:pathLst>
            </a:custGeom>
            <a:noFill/>
            <a:ln w="44450">
              <a:solidFill>
                <a:srgbClr val="1F665A"/>
              </a:solidFill>
            </a:ln>
          </p:spPr>
        </p:sp>
        <p:sp>
          <p:nvSpPr>
            <p:cNvPr id="18" name="Polygon 14">
              <a:extLst>
                <a:ext uri="{FF2B5EF4-FFF2-40B4-BE49-F238E27FC236}">
                  <a16:creationId xmlns:a16="http://schemas.microsoft.com/office/drawing/2014/main" id="{1A50B19B-2070-74DD-B793-1E256FA6E978}"/>
                </a:ext>
              </a:extLst>
            </p:cNvPr>
            <p:cNvSpPr/>
            <p:nvPr/>
          </p:nvSpPr>
          <p:spPr>
            <a:xfrm>
              <a:off x="6769100" y="302260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0" y="0"/>
                  </a:moveTo>
                  <a:lnTo>
                    <a:pt x="203200" y="1016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1F665A"/>
            </a:solidFill>
            <a:ln>
              <a:noFill/>
            </a:ln>
          </p:spPr>
        </p:sp>
        <p:sp>
          <p:nvSpPr>
            <p:cNvPr id="19" name="Line 15">
              <a:extLst>
                <a:ext uri="{FF2B5EF4-FFF2-40B4-BE49-F238E27FC236}">
                  <a16:creationId xmlns:a16="http://schemas.microsoft.com/office/drawing/2014/main" id="{0C253A05-8224-41CA-3219-F63DFE20B2AB}"/>
                </a:ext>
              </a:extLst>
            </p:cNvPr>
            <p:cNvSpPr/>
            <p:nvPr/>
          </p:nvSpPr>
          <p:spPr>
            <a:xfrm>
              <a:off x="8509000" y="3124200"/>
              <a:ext cx="393700" cy="9525"/>
            </a:xfrm>
            <a:custGeom>
              <a:avLst/>
              <a:gdLst/>
              <a:ahLst/>
              <a:cxnLst/>
              <a:rect l="l" t="t" r="r" b="b"/>
              <a:pathLst>
                <a:path w="393700" h="9525">
                  <a:moveTo>
                    <a:pt x="0" y="0"/>
                  </a:moveTo>
                  <a:lnTo>
                    <a:pt x="393700" y="0"/>
                  </a:lnTo>
                </a:path>
              </a:pathLst>
            </a:custGeom>
            <a:noFill/>
            <a:ln w="44450">
              <a:solidFill>
                <a:srgbClr val="1F665A"/>
              </a:solidFill>
            </a:ln>
          </p:spPr>
        </p:sp>
        <p:sp>
          <p:nvSpPr>
            <p:cNvPr id="20" name="Polygon 16">
              <a:extLst>
                <a:ext uri="{FF2B5EF4-FFF2-40B4-BE49-F238E27FC236}">
                  <a16:creationId xmlns:a16="http://schemas.microsoft.com/office/drawing/2014/main" id="{7B9AC6F8-B15C-4420-18EE-55DE7EC8BD2A}"/>
                </a:ext>
              </a:extLst>
            </p:cNvPr>
            <p:cNvSpPr/>
            <p:nvPr/>
          </p:nvSpPr>
          <p:spPr>
            <a:xfrm>
              <a:off x="8902700" y="302260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0" y="0"/>
                  </a:moveTo>
                  <a:lnTo>
                    <a:pt x="203200" y="1016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1F665A"/>
            </a:solidFill>
            <a:ln>
              <a:noFill/>
            </a:ln>
          </p:spPr>
        </p:sp>
      </p:grpSp>
      <p:grpSp>
        <p:nvGrpSpPr>
          <p:cNvPr id="21" name="Group 25">
            <a:extLst>
              <a:ext uri="{FF2B5EF4-FFF2-40B4-BE49-F238E27FC236}">
                <a16:creationId xmlns:a16="http://schemas.microsoft.com/office/drawing/2014/main" id="{4D96D08E-34D8-FCD8-6E5C-0D544EAD576D}"/>
              </a:ext>
            </a:extLst>
          </p:cNvPr>
          <p:cNvGrpSpPr/>
          <p:nvPr/>
        </p:nvGrpSpPr>
        <p:grpSpPr>
          <a:xfrm>
            <a:off x="533400" y="2171700"/>
            <a:ext cx="1574800" cy="1935163"/>
            <a:chOff x="533400" y="2171700"/>
            <a:chExt cx="1574800" cy="1935163"/>
          </a:xfrm>
        </p:grpSpPr>
        <p:sp>
          <p:nvSpPr>
            <p:cNvPr id="22" name="Rectangle 18">
              <a:extLst>
                <a:ext uri="{FF2B5EF4-FFF2-40B4-BE49-F238E27FC236}">
                  <a16:creationId xmlns:a16="http://schemas.microsoft.com/office/drawing/2014/main" id="{8DC91DD7-7EE2-5311-173F-A2B5CA0B0828}"/>
                </a:ext>
              </a:extLst>
            </p:cNvPr>
            <p:cNvSpPr/>
            <p:nvPr/>
          </p:nvSpPr>
          <p:spPr>
            <a:xfrm>
              <a:off x="533400" y="2171700"/>
              <a:ext cx="1574800" cy="1905000"/>
            </a:xfrm>
            <a:prstGeom prst="rect">
              <a:avLst/>
            </a:prstGeom>
            <a:solidFill>
              <a:srgbClr val="002FA7"/>
            </a:solidFill>
            <a:ln>
              <a:noFill/>
            </a:ln>
          </p:spPr>
        </p:sp>
        <p:sp>
          <p:nvSpPr>
            <p:cNvPr id="23" name="TextBox 19">
              <a:extLst>
                <a:ext uri="{FF2B5EF4-FFF2-40B4-BE49-F238E27FC236}">
                  <a16:creationId xmlns:a16="http://schemas.microsoft.com/office/drawing/2014/main" id="{46CB5233-43C7-6455-C29F-62B6936571D3}"/>
                </a:ext>
              </a:extLst>
            </p:cNvPr>
            <p:cNvSpPr txBox="1"/>
            <p:nvPr/>
          </p:nvSpPr>
          <p:spPr>
            <a:xfrm>
              <a:off x="697230" y="2345055"/>
              <a:ext cx="1167682" cy="223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SEMANTIC ENTRY</a:t>
              </a:r>
            </a:p>
          </p:txBody>
        </p:sp>
        <p:sp>
          <p:nvSpPr>
            <p:cNvPr id="24" name="TextBox 20">
              <a:extLst>
                <a:ext uri="{FF2B5EF4-FFF2-40B4-BE49-F238E27FC236}">
                  <a16:creationId xmlns:a16="http://schemas.microsoft.com/office/drawing/2014/main" id="{C4E4EE8C-07A4-D8C7-39F3-B1F90BEF59D1}"/>
                </a:ext>
              </a:extLst>
            </p:cNvPr>
            <p:cNvSpPr txBox="1"/>
            <p:nvPr/>
          </p:nvSpPr>
          <p:spPr>
            <a:xfrm>
              <a:off x="684530" y="26943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Gemma 4</a:t>
              </a:r>
            </a:p>
          </p:txBody>
        </p:sp>
        <p:sp>
          <p:nvSpPr>
            <p:cNvPr id="25" name="TextBox 21">
              <a:extLst>
                <a:ext uri="{FF2B5EF4-FFF2-40B4-BE49-F238E27FC236}">
                  <a16:creationId xmlns:a16="http://schemas.microsoft.com/office/drawing/2014/main" id="{80A407B6-E720-FDB0-E8CB-50DC8AF47456}"/>
                </a:ext>
              </a:extLst>
            </p:cNvPr>
            <p:cNvSpPr txBox="1"/>
            <p:nvPr/>
          </p:nvSpPr>
          <p:spPr>
            <a:xfrm>
              <a:off x="691515" y="3083878"/>
              <a:ext cx="1341533" cy="314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5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听懂家庭语言</a:t>
              </a:r>
            </a:p>
          </p:txBody>
        </p:sp>
        <p:sp>
          <p:nvSpPr>
            <p:cNvPr id="26" name="Line 22">
              <a:extLst>
                <a:ext uri="{FF2B5EF4-FFF2-40B4-BE49-F238E27FC236}">
                  <a16:creationId xmlns:a16="http://schemas.microsoft.com/office/drawing/2014/main" id="{FA55D21D-2F26-964F-7C13-11597D8E96BC}"/>
                </a:ext>
              </a:extLst>
            </p:cNvPr>
            <p:cNvSpPr/>
            <p:nvPr/>
          </p:nvSpPr>
          <p:spPr>
            <a:xfrm>
              <a:off x="711200" y="3467100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200" y="0"/>
                  </a:lnTo>
                </a:path>
              </a:pathLst>
            </a:custGeom>
            <a:noFill/>
            <a:ln w="12700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27" name="TextBox 23">
              <a:extLst>
                <a:ext uri="{FF2B5EF4-FFF2-40B4-BE49-F238E27FC236}">
                  <a16:creationId xmlns:a16="http://schemas.microsoft.com/office/drawing/2014/main" id="{0C399232-B7C8-6989-D7DD-B096F09FFF90}"/>
                </a:ext>
              </a:extLst>
            </p:cNvPr>
            <p:cNvSpPr txBox="1"/>
            <p:nvPr/>
          </p:nvSpPr>
          <p:spPr>
            <a:xfrm>
              <a:off x="695325" y="3636963"/>
              <a:ext cx="865188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dirty="0">
                  <a:solidFill>
                    <a:srgbClr val="FFFFFF">
                      <a:alphaMod val="72000"/>
                    </a:srgbClr>
                  </a:solidFill>
                  <a:latin typeface="Microsoft YaHei UI"/>
                  <a:ea typeface="Microsoft YaHei"/>
                  <a:cs typeface="Microsoft YaHei UI"/>
                </a:rPr>
                <a:t>只提交候选</a:t>
              </a:r>
            </a:p>
          </p:txBody>
        </p:sp>
        <p:sp>
          <p:nvSpPr>
            <p:cNvPr id="28" name="TextBox 24">
              <a:extLst>
                <a:ext uri="{FF2B5EF4-FFF2-40B4-BE49-F238E27FC236}">
                  <a16:creationId xmlns:a16="http://schemas.microsoft.com/office/drawing/2014/main" id="{1E0E0DA0-49B9-C842-7A9F-0F4DBC47C413}"/>
                </a:ext>
              </a:extLst>
            </p:cNvPr>
            <p:cNvSpPr txBox="1"/>
            <p:nvPr/>
          </p:nvSpPr>
          <p:spPr>
            <a:xfrm>
              <a:off x="695325" y="3852863"/>
              <a:ext cx="1031875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dirty="0">
                  <a:solidFill>
                    <a:srgbClr val="FFFFFF">
                      <a:alphaMod val="72000"/>
                    </a:srgbClr>
                  </a:solidFill>
                  <a:latin typeface="Microsoft YaHei UI"/>
                  <a:ea typeface="Microsoft YaHei"/>
                  <a:cs typeface="Microsoft YaHei UI"/>
                </a:rPr>
                <a:t>不直接写事实</a:t>
              </a:r>
            </a:p>
          </p:txBody>
        </p:sp>
      </p:grpSp>
      <p:grpSp>
        <p:nvGrpSpPr>
          <p:cNvPr id="29" name="Group 33">
            <a:extLst>
              <a:ext uri="{FF2B5EF4-FFF2-40B4-BE49-F238E27FC236}">
                <a16:creationId xmlns:a16="http://schemas.microsoft.com/office/drawing/2014/main" id="{EF5CF6E4-A9F5-3CC4-79B5-8BF5ACD8EC8A}"/>
              </a:ext>
            </a:extLst>
          </p:cNvPr>
          <p:cNvGrpSpPr/>
          <p:nvPr/>
        </p:nvGrpSpPr>
        <p:grpSpPr>
          <a:xfrm>
            <a:off x="2705100" y="2171700"/>
            <a:ext cx="1536700" cy="1935163"/>
            <a:chOff x="2705100" y="2171700"/>
            <a:chExt cx="1536700" cy="1935163"/>
          </a:xfrm>
        </p:grpSpPr>
        <p:sp>
          <p:nvSpPr>
            <p:cNvPr id="30" name="Rectangle 26">
              <a:extLst>
                <a:ext uri="{FF2B5EF4-FFF2-40B4-BE49-F238E27FC236}">
                  <a16:creationId xmlns:a16="http://schemas.microsoft.com/office/drawing/2014/main" id="{58474760-97F9-FDE8-47C2-98BBB3A7FE47}"/>
                </a:ext>
              </a:extLst>
            </p:cNvPr>
            <p:cNvSpPr/>
            <p:nvPr/>
          </p:nvSpPr>
          <p:spPr>
            <a:xfrm>
              <a:off x="2705100" y="2171700"/>
              <a:ext cx="1536700" cy="1905000"/>
            </a:xfrm>
            <a:prstGeom prst="rect">
              <a:avLst/>
            </a:prstGeom>
            <a:solidFill>
              <a:srgbClr val="DFFF7A"/>
            </a:solidFill>
            <a:ln w="19050">
              <a:solidFill>
                <a:srgbClr val="0A0A0A"/>
              </a:solidFill>
            </a:ln>
          </p:spPr>
        </p:sp>
        <p:sp>
          <p:nvSpPr>
            <p:cNvPr id="31" name="TextBox 27">
              <a:extLst>
                <a:ext uri="{FF2B5EF4-FFF2-40B4-BE49-F238E27FC236}">
                  <a16:creationId xmlns:a16="http://schemas.microsoft.com/office/drawing/2014/main" id="{B3831E4F-0363-283E-4FD3-46F3E1E9D516}"/>
                </a:ext>
              </a:extLst>
            </p:cNvPr>
            <p:cNvSpPr txBox="1"/>
            <p:nvPr/>
          </p:nvSpPr>
          <p:spPr>
            <a:xfrm>
              <a:off x="2868930" y="2345055"/>
              <a:ext cx="1252393" cy="223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b="1" dirty="0">
                  <a:solidFill>
                    <a:srgbClr val="0A0A0A"/>
                  </a:solidFill>
                  <a:latin typeface="Consolas"/>
                  <a:ea typeface="Microsoft YaHei"/>
                  <a:cs typeface="Consolas"/>
                </a:rPr>
                <a:t>AUTHORIZE FACTS</a:t>
              </a:r>
            </a:p>
          </p:txBody>
        </p:sp>
        <p:sp>
          <p:nvSpPr>
            <p:cNvPr id="32" name="TextBox 28">
              <a:extLst>
                <a:ext uri="{FF2B5EF4-FFF2-40B4-BE49-F238E27FC236}">
                  <a16:creationId xmlns:a16="http://schemas.microsoft.com/office/drawing/2014/main" id="{A449B2A2-BD16-B1F7-34B7-92D1F870881B}"/>
                </a:ext>
              </a:extLst>
            </p:cNvPr>
            <p:cNvSpPr txBox="1"/>
            <p:nvPr/>
          </p:nvSpPr>
          <p:spPr>
            <a:xfrm>
              <a:off x="2857500" y="2705100"/>
              <a:ext cx="1170940" cy="40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人类确认</a:t>
              </a:r>
            </a:p>
          </p:txBody>
        </p:sp>
        <p:sp>
          <p:nvSpPr>
            <p:cNvPr id="33" name="TextBox 29">
              <a:extLst>
                <a:ext uri="{FF2B5EF4-FFF2-40B4-BE49-F238E27FC236}">
                  <a16:creationId xmlns:a16="http://schemas.microsoft.com/office/drawing/2014/main" id="{C4591D46-DFB6-889F-4C02-372B6902580E}"/>
                </a:ext>
              </a:extLst>
            </p:cNvPr>
            <p:cNvSpPr txBox="1"/>
            <p:nvPr/>
          </p:nvSpPr>
          <p:spPr>
            <a:xfrm>
              <a:off x="2864485" y="3094673"/>
              <a:ext cx="1082411" cy="294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50" b="1" dirty="0">
                  <a:solidFill>
                    <a:srgbClr val="1F665A"/>
                  </a:solidFill>
                  <a:latin typeface="Microsoft YaHei UI"/>
                  <a:ea typeface="Microsoft YaHei"/>
                  <a:cs typeface="Microsoft YaHei UI"/>
                </a:rPr>
                <a:t>孩子 / 家长</a:t>
              </a:r>
            </a:p>
          </p:txBody>
        </p:sp>
        <p:sp>
          <p:nvSpPr>
            <p:cNvPr id="34" name="Line 30">
              <a:extLst>
                <a:ext uri="{FF2B5EF4-FFF2-40B4-BE49-F238E27FC236}">
                  <a16:creationId xmlns:a16="http://schemas.microsoft.com/office/drawing/2014/main" id="{5A029D16-6E27-82C8-6D8A-7E05E8DFD3BD}"/>
                </a:ext>
              </a:extLst>
            </p:cNvPr>
            <p:cNvSpPr/>
            <p:nvPr/>
          </p:nvSpPr>
          <p:spPr>
            <a:xfrm>
              <a:off x="2882900" y="3467100"/>
              <a:ext cx="1181100" cy="9525"/>
            </a:xfrm>
            <a:custGeom>
              <a:avLst/>
              <a:gdLst/>
              <a:ahLst/>
              <a:cxnLst/>
              <a:rect l="l" t="t" r="r" b="b"/>
              <a:pathLst>
                <a:path w="1181100" h="9525">
                  <a:moveTo>
                    <a:pt x="0" y="0"/>
                  </a:moveTo>
                  <a:lnTo>
                    <a:pt x="1181100" y="0"/>
                  </a:lnTo>
                </a:path>
              </a:pathLst>
            </a:custGeom>
            <a:noFill/>
            <a:ln w="12700">
              <a:solidFill>
                <a:srgbClr val="0A0A0A"/>
              </a:solidFill>
            </a:ln>
          </p:spPr>
        </p:sp>
        <p:sp>
          <p:nvSpPr>
            <p:cNvPr id="35" name="TextBox 31">
              <a:extLst>
                <a:ext uri="{FF2B5EF4-FFF2-40B4-BE49-F238E27FC236}">
                  <a16:creationId xmlns:a16="http://schemas.microsoft.com/office/drawing/2014/main" id="{B392E13A-756B-F083-D429-58DAF8F453F9}"/>
                </a:ext>
              </a:extLst>
            </p:cNvPr>
            <p:cNvSpPr txBox="1"/>
            <p:nvPr/>
          </p:nvSpPr>
          <p:spPr>
            <a:xfrm>
              <a:off x="2867025" y="3636963"/>
              <a:ext cx="1198563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确认任务与时间</a:t>
              </a:r>
            </a:p>
          </p:txBody>
        </p:sp>
        <p:sp>
          <p:nvSpPr>
            <p:cNvPr id="36" name="TextBox 32">
              <a:extLst>
                <a:ext uri="{FF2B5EF4-FFF2-40B4-BE49-F238E27FC236}">
                  <a16:creationId xmlns:a16="http://schemas.microsoft.com/office/drawing/2014/main" id="{B5B4700C-17CA-48F6-B6AF-8FB2BB442734}"/>
                </a:ext>
              </a:extLst>
            </p:cNvPr>
            <p:cNvSpPr txBox="1"/>
            <p:nvPr/>
          </p:nvSpPr>
          <p:spPr>
            <a:xfrm>
              <a:off x="2867025" y="3852863"/>
              <a:ext cx="1198563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候选才成为事实</a:t>
              </a:r>
            </a:p>
          </p:txBody>
        </p:sp>
      </p:grpSp>
      <p:grpSp>
        <p:nvGrpSpPr>
          <p:cNvPr id="37" name="Group 41">
            <a:extLst>
              <a:ext uri="{FF2B5EF4-FFF2-40B4-BE49-F238E27FC236}">
                <a16:creationId xmlns:a16="http://schemas.microsoft.com/office/drawing/2014/main" id="{121EC329-264B-6B0C-3D4E-BA2122F2F20E}"/>
              </a:ext>
            </a:extLst>
          </p:cNvPr>
          <p:cNvGrpSpPr/>
          <p:nvPr/>
        </p:nvGrpSpPr>
        <p:grpSpPr>
          <a:xfrm>
            <a:off x="4838700" y="2171700"/>
            <a:ext cx="1647252" cy="1935163"/>
            <a:chOff x="4838700" y="2171700"/>
            <a:chExt cx="1647252" cy="1935163"/>
          </a:xfrm>
        </p:grpSpPr>
        <p:sp>
          <p:nvSpPr>
            <p:cNvPr id="38" name="Rectangle 34">
              <a:extLst>
                <a:ext uri="{FF2B5EF4-FFF2-40B4-BE49-F238E27FC236}">
                  <a16:creationId xmlns:a16="http://schemas.microsoft.com/office/drawing/2014/main" id="{75F98425-E0CE-4CE4-3A19-560E88E16156}"/>
                </a:ext>
              </a:extLst>
            </p:cNvPr>
            <p:cNvSpPr/>
            <p:nvPr/>
          </p:nvSpPr>
          <p:spPr>
            <a:xfrm>
              <a:off x="4838700" y="2171700"/>
              <a:ext cx="1536700" cy="1905000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002FA7"/>
              </a:solidFill>
            </a:ln>
          </p:spPr>
        </p:sp>
        <p:sp>
          <p:nvSpPr>
            <p:cNvPr id="39" name="TextBox 35">
              <a:extLst>
                <a:ext uri="{FF2B5EF4-FFF2-40B4-BE49-F238E27FC236}">
                  <a16:creationId xmlns:a16="http://schemas.microsoft.com/office/drawing/2014/main" id="{8382CA3E-5830-8206-5F6C-968EAEB6ED41}"/>
                </a:ext>
              </a:extLst>
            </p:cNvPr>
            <p:cNvSpPr txBox="1"/>
            <p:nvPr/>
          </p:nvSpPr>
          <p:spPr>
            <a:xfrm>
              <a:off x="5002530" y="2345055"/>
              <a:ext cx="1483422" cy="223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b="1" dirty="0">
                  <a:solidFill>
                    <a:srgbClr val="002FA7"/>
                  </a:solidFill>
                  <a:latin typeface="Consolas"/>
                  <a:ea typeface="Microsoft YaHei"/>
                  <a:cs typeface="Consolas"/>
                </a:rPr>
                <a:t>COMPUTE THE ROUTE</a:t>
              </a:r>
            </a:p>
          </p:txBody>
        </p:sp>
        <p:sp>
          <p:nvSpPr>
            <p:cNvPr id="40" name="TextBox 36">
              <a:extLst>
                <a:ext uri="{FF2B5EF4-FFF2-40B4-BE49-F238E27FC236}">
                  <a16:creationId xmlns:a16="http://schemas.microsoft.com/office/drawing/2014/main" id="{FAD223E1-2754-A4F5-81AB-8AB0033BBBB3}"/>
                </a:ext>
              </a:extLst>
            </p:cNvPr>
            <p:cNvSpPr txBox="1"/>
            <p:nvPr/>
          </p:nvSpPr>
          <p:spPr>
            <a:xfrm>
              <a:off x="4991100" y="2705100"/>
              <a:ext cx="1170940" cy="40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规则引擎</a:t>
              </a:r>
            </a:p>
          </p:txBody>
        </p:sp>
        <p:sp>
          <p:nvSpPr>
            <p:cNvPr id="41" name="TextBox 37">
              <a:extLst>
                <a:ext uri="{FF2B5EF4-FFF2-40B4-BE49-F238E27FC236}">
                  <a16:creationId xmlns:a16="http://schemas.microsoft.com/office/drawing/2014/main" id="{21322BA4-4ED6-E996-EB1E-0452E9E58554}"/>
                </a:ext>
              </a:extLst>
            </p:cNvPr>
            <p:cNvSpPr txBox="1"/>
            <p:nvPr/>
          </p:nvSpPr>
          <p:spPr>
            <a:xfrm>
              <a:off x="4998085" y="3094673"/>
              <a:ext cx="1173772" cy="294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50" b="1" dirty="0">
                  <a:solidFill>
                    <a:srgbClr val="002FA7"/>
                  </a:solidFill>
                  <a:latin typeface="Microsoft YaHei UI"/>
                  <a:ea typeface="Microsoft YaHei"/>
                  <a:cs typeface="Microsoft YaHei UI"/>
                </a:rPr>
                <a:t>Python 规划</a:t>
              </a:r>
            </a:p>
          </p:txBody>
        </p:sp>
        <p:sp>
          <p:nvSpPr>
            <p:cNvPr id="42" name="Line 38">
              <a:extLst>
                <a:ext uri="{FF2B5EF4-FFF2-40B4-BE49-F238E27FC236}">
                  <a16:creationId xmlns:a16="http://schemas.microsoft.com/office/drawing/2014/main" id="{B66E1676-54CB-B97A-5958-5CE74302F655}"/>
                </a:ext>
              </a:extLst>
            </p:cNvPr>
            <p:cNvSpPr/>
            <p:nvPr/>
          </p:nvSpPr>
          <p:spPr>
            <a:xfrm>
              <a:off x="5016500" y="3467100"/>
              <a:ext cx="1181100" cy="9525"/>
            </a:xfrm>
            <a:custGeom>
              <a:avLst/>
              <a:gdLst/>
              <a:ahLst/>
              <a:cxnLst/>
              <a:rect l="l" t="t" r="r" b="b"/>
              <a:pathLst>
                <a:path w="1181100" h="9525">
                  <a:moveTo>
                    <a:pt x="0" y="0"/>
                  </a:moveTo>
                  <a:lnTo>
                    <a:pt x="1181100" y="0"/>
                  </a:lnTo>
                </a:path>
              </a:pathLst>
            </a:custGeom>
            <a:noFill/>
            <a:ln w="12700">
              <a:solidFill>
                <a:srgbClr val="D8D8D4"/>
              </a:solidFill>
            </a:ln>
          </p:spPr>
        </p:sp>
        <p:sp>
          <p:nvSpPr>
            <p:cNvPr id="102" name="TextBox 39">
              <a:extLst>
                <a:ext uri="{FF2B5EF4-FFF2-40B4-BE49-F238E27FC236}">
                  <a16:creationId xmlns:a16="http://schemas.microsoft.com/office/drawing/2014/main" id="{57D5FE35-5060-380E-1007-4135342BA31A}"/>
                </a:ext>
              </a:extLst>
            </p:cNvPr>
            <p:cNvSpPr txBox="1"/>
            <p:nvPr/>
          </p:nvSpPr>
          <p:spPr>
            <a:xfrm>
              <a:off x="5000625" y="3636963"/>
              <a:ext cx="1198563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检查截止与容量</a:t>
              </a:r>
            </a:p>
          </p:txBody>
        </p:sp>
        <p:sp>
          <p:nvSpPr>
            <p:cNvPr id="103" name="TextBox 40">
              <a:extLst>
                <a:ext uri="{FF2B5EF4-FFF2-40B4-BE49-F238E27FC236}">
                  <a16:creationId xmlns:a16="http://schemas.microsoft.com/office/drawing/2014/main" id="{CC1D7D12-884F-009B-B5F2-D8A5ADAE5061}"/>
                </a:ext>
              </a:extLst>
            </p:cNvPr>
            <p:cNvSpPr txBox="1"/>
            <p:nvPr/>
          </p:nvSpPr>
          <p:spPr>
            <a:xfrm>
              <a:off x="5000625" y="3852863"/>
              <a:ext cx="1198563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排出可复现路线</a:t>
              </a:r>
            </a:p>
          </p:txBody>
        </p:sp>
      </p:grpSp>
      <p:grpSp>
        <p:nvGrpSpPr>
          <p:cNvPr id="104" name="Group 49">
            <a:extLst>
              <a:ext uri="{FF2B5EF4-FFF2-40B4-BE49-F238E27FC236}">
                <a16:creationId xmlns:a16="http://schemas.microsoft.com/office/drawing/2014/main" id="{FEBCCEE3-5E81-533C-DF8B-26BC18E09A9B}"/>
              </a:ext>
            </a:extLst>
          </p:cNvPr>
          <p:cNvGrpSpPr/>
          <p:nvPr/>
        </p:nvGrpSpPr>
        <p:grpSpPr>
          <a:xfrm>
            <a:off x="6972300" y="2171700"/>
            <a:ext cx="1617393" cy="1935163"/>
            <a:chOff x="6972300" y="2171700"/>
            <a:chExt cx="1617393" cy="1935163"/>
          </a:xfrm>
        </p:grpSpPr>
        <p:sp>
          <p:nvSpPr>
            <p:cNvPr id="105" name="Rectangle 42">
              <a:extLst>
                <a:ext uri="{FF2B5EF4-FFF2-40B4-BE49-F238E27FC236}">
                  <a16:creationId xmlns:a16="http://schemas.microsoft.com/office/drawing/2014/main" id="{A93A02F6-6BEC-3EAB-8C6C-1BC528191B56}"/>
                </a:ext>
              </a:extLst>
            </p:cNvPr>
            <p:cNvSpPr/>
            <p:nvPr/>
          </p:nvSpPr>
          <p:spPr>
            <a:xfrm>
              <a:off x="6972300" y="2171700"/>
              <a:ext cx="1536700" cy="1905000"/>
            </a:xfrm>
            <a:prstGeom prst="rect">
              <a:avLst/>
            </a:prstGeom>
            <a:solidFill>
              <a:srgbClr val="1F665A"/>
            </a:solidFill>
            <a:ln>
              <a:noFill/>
            </a:ln>
          </p:spPr>
        </p:sp>
        <p:sp>
          <p:nvSpPr>
            <p:cNvPr id="106" name="TextBox 43">
              <a:extLst>
                <a:ext uri="{FF2B5EF4-FFF2-40B4-BE49-F238E27FC236}">
                  <a16:creationId xmlns:a16="http://schemas.microsoft.com/office/drawing/2014/main" id="{B2BF7FB2-C0EB-6D66-059C-FAF8673A36B0}"/>
                </a:ext>
              </a:extLst>
            </p:cNvPr>
            <p:cNvSpPr txBox="1"/>
            <p:nvPr/>
          </p:nvSpPr>
          <p:spPr>
            <a:xfrm>
              <a:off x="7136130" y="2345055"/>
              <a:ext cx="1367907" cy="223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CONTROL THE STEP</a:t>
              </a:r>
            </a:p>
          </p:txBody>
        </p:sp>
        <p:sp>
          <p:nvSpPr>
            <p:cNvPr id="107" name="TextBox 44">
              <a:extLst>
                <a:ext uri="{FF2B5EF4-FFF2-40B4-BE49-F238E27FC236}">
                  <a16:creationId xmlns:a16="http://schemas.microsoft.com/office/drawing/2014/main" id="{475B8EBE-39F6-3FBC-4289-72FA94648896}"/>
                </a:ext>
              </a:extLst>
            </p:cNvPr>
            <p:cNvSpPr txBox="1"/>
            <p:nvPr/>
          </p:nvSpPr>
          <p:spPr>
            <a:xfrm>
              <a:off x="7124700" y="2705100"/>
              <a:ext cx="890905" cy="40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状态机</a:t>
              </a:r>
            </a:p>
          </p:txBody>
        </p:sp>
        <p:sp>
          <p:nvSpPr>
            <p:cNvPr id="108" name="TextBox 45">
              <a:extLst>
                <a:ext uri="{FF2B5EF4-FFF2-40B4-BE49-F238E27FC236}">
                  <a16:creationId xmlns:a16="http://schemas.microsoft.com/office/drawing/2014/main" id="{665DBBFD-9FCE-E212-6247-575866D809D4}"/>
                </a:ext>
              </a:extLst>
            </p:cNvPr>
            <p:cNvSpPr txBox="1"/>
            <p:nvPr/>
          </p:nvSpPr>
          <p:spPr>
            <a:xfrm>
              <a:off x="7131685" y="3094673"/>
              <a:ext cx="1458008" cy="294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50" b="1" dirty="0">
                  <a:solidFill>
                    <a:srgbClr val="DFFF7A"/>
                  </a:solidFill>
                  <a:latin typeface="Microsoft YaHei UI"/>
                  <a:ea typeface="Microsoft YaHei"/>
                  <a:cs typeface="Microsoft YaHei UI"/>
                </a:rPr>
                <a:t>知道走到哪一步</a:t>
              </a:r>
            </a:p>
          </p:txBody>
        </p:sp>
        <p:sp>
          <p:nvSpPr>
            <p:cNvPr id="109" name="Line 46">
              <a:extLst>
                <a:ext uri="{FF2B5EF4-FFF2-40B4-BE49-F238E27FC236}">
                  <a16:creationId xmlns:a16="http://schemas.microsoft.com/office/drawing/2014/main" id="{028CB678-AF38-2346-5436-EB73A25B2974}"/>
                </a:ext>
              </a:extLst>
            </p:cNvPr>
            <p:cNvSpPr/>
            <p:nvPr/>
          </p:nvSpPr>
          <p:spPr>
            <a:xfrm>
              <a:off x="7150100" y="3467100"/>
              <a:ext cx="1181100" cy="9525"/>
            </a:xfrm>
            <a:custGeom>
              <a:avLst/>
              <a:gdLst/>
              <a:ahLst/>
              <a:cxnLst/>
              <a:rect l="l" t="t" r="r" b="b"/>
              <a:pathLst>
                <a:path w="1181100" h="9525">
                  <a:moveTo>
                    <a:pt x="0" y="0"/>
                  </a:moveTo>
                  <a:lnTo>
                    <a:pt x="1181100" y="0"/>
                  </a:lnTo>
                </a:path>
              </a:pathLst>
            </a:custGeom>
            <a:noFill/>
            <a:ln w="12700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110" name="TextBox 47">
              <a:extLst>
                <a:ext uri="{FF2B5EF4-FFF2-40B4-BE49-F238E27FC236}">
                  <a16:creationId xmlns:a16="http://schemas.microsoft.com/office/drawing/2014/main" id="{CB6ADE6F-D51C-E512-DB81-3D59836ADA6C}"/>
                </a:ext>
              </a:extLst>
            </p:cNvPr>
            <p:cNvSpPr txBox="1"/>
            <p:nvPr/>
          </p:nvSpPr>
          <p:spPr>
            <a:xfrm>
              <a:off x="7134225" y="3636963"/>
              <a:ext cx="1031875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中断后可恢复</a:t>
              </a:r>
            </a:p>
          </p:txBody>
        </p:sp>
        <p:sp>
          <p:nvSpPr>
            <p:cNvPr id="111" name="TextBox 48">
              <a:extLst>
                <a:ext uri="{FF2B5EF4-FFF2-40B4-BE49-F238E27FC236}">
                  <a16:creationId xmlns:a16="http://schemas.microsoft.com/office/drawing/2014/main" id="{495D7634-400D-53E3-4C37-2584663E6E0E}"/>
                </a:ext>
              </a:extLst>
            </p:cNvPr>
            <p:cNvSpPr txBox="1"/>
            <p:nvPr/>
          </p:nvSpPr>
          <p:spPr>
            <a:xfrm>
              <a:off x="7134225" y="3852863"/>
              <a:ext cx="1198563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重复操作不乱套</a:t>
              </a:r>
            </a:p>
          </p:txBody>
        </p:sp>
      </p:grpSp>
      <p:grpSp>
        <p:nvGrpSpPr>
          <p:cNvPr id="112" name="Group 57">
            <a:extLst>
              <a:ext uri="{FF2B5EF4-FFF2-40B4-BE49-F238E27FC236}">
                <a16:creationId xmlns:a16="http://schemas.microsoft.com/office/drawing/2014/main" id="{A4CC33CF-F4E2-8F65-DE04-4D4C26E298A8}"/>
              </a:ext>
            </a:extLst>
          </p:cNvPr>
          <p:cNvGrpSpPr/>
          <p:nvPr/>
        </p:nvGrpSpPr>
        <p:grpSpPr>
          <a:xfrm>
            <a:off x="9105900" y="2171700"/>
            <a:ext cx="2552700" cy="1935163"/>
            <a:chOff x="9105900" y="2171700"/>
            <a:chExt cx="2552700" cy="1935163"/>
          </a:xfrm>
        </p:grpSpPr>
        <p:sp>
          <p:nvSpPr>
            <p:cNvPr id="113" name="Rectangle 50">
              <a:extLst>
                <a:ext uri="{FF2B5EF4-FFF2-40B4-BE49-F238E27FC236}">
                  <a16:creationId xmlns:a16="http://schemas.microsoft.com/office/drawing/2014/main" id="{D2DA41C6-BD9F-15DF-EED6-313AE9F42BB6}"/>
                </a:ext>
              </a:extLst>
            </p:cNvPr>
            <p:cNvSpPr/>
            <p:nvPr/>
          </p:nvSpPr>
          <p:spPr>
            <a:xfrm>
              <a:off x="9105900" y="2171700"/>
              <a:ext cx="2552700" cy="1905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4" name="TextBox 51">
              <a:extLst>
                <a:ext uri="{FF2B5EF4-FFF2-40B4-BE49-F238E27FC236}">
                  <a16:creationId xmlns:a16="http://schemas.microsoft.com/office/drawing/2014/main" id="{50571F04-B831-2126-A79C-83D7DD9C2E38}"/>
                </a:ext>
              </a:extLst>
            </p:cNvPr>
            <p:cNvSpPr txBox="1"/>
            <p:nvPr/>
          </p:nvSpPr>
          <p:spPr>
            <a:xfrm>
              <a:off x="9295130" y="2345055"/>
              <a:ext cx="1752956" cy="223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CARRY IT TO TOMORROW</a:t>
              </a:r>
            </a:p>
          </p:txBody>
        </p:sp>
        <p:sp>
          <p:nvSpPr>
            <p:cNvPr id="115" name="TextBox 52">
              <a:extLst>
                <a:ext uri="{FF2B5EF4-FFF2-40B4-BE49-F238E27FC236}">
                  <a16:creationId xmlns:a16="http://schemas.microsoft.com/office/drawing/2014/main" id="{967136FB-7561-682F-F90C-C88F819C3FDD}"/>
                </a:ext>
              </a:extLst>
            </p:cNvPr>
            <p:cNvSpPr txBox="1"/>
            <p:nvPr/>
          </p:nvSpPr>
          <p:spPr>
            <a:xfrm>
              <a:off x="9283700" y="2705100"/>
              <a:ext cx="1170940" cy="40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长期记忆</a:t>
              </a:r>
            </a:p>
          </p:txBody>
        </p:sp>
        <p:sp>
          <p:nvSpPr>
            <p:cNvPr id="116" name="TextBox 53">
              <a:extLst>
                <a:ext uri="{FF2B5EF4-FFF2-40B4-BE49-F238E27FC236}">
                  <a16:creationId xmlns:a16="http://schemas.microsoft.com/office/drawing/2014/main" id="{57EFAA79-09CD-F699-AC03-3E4C09C866A6}"/>
                </a:ext>
              </a:extLst>
            </p:cNvPr>
            <p:cNvSpPr txBox="1"/>
            <p:nvPr/>
          </p:nvSpPr>
          <p:spPr>
            <a:xfrm>
              <a:off x="9290685" y="3094673"/>
              <a:ext cx="1569672" cy="294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50" b="1" dirty="0">
                  <a:solidFill>
                    <a:srgbClr val="DFFF7A"/>
                  </a:solidFill>
                  <a:latin typeface="Microsoft YaHei UI"/>
                  <a:ea typeface="Microsoft YaHei"/>
                  <a:cs typeface="Microsoft YaHei UI"/>
                </a:rPr>
                <a:t>SQLite 持久保存</a:t>
              </a:r>
            </a:p>
          </p:txBody>
        </p:sp>
        <p:sp>
          <p:nvSpPr>
            <p:cNvPr id="117" name="Line 54">
              <a:extLst>
                <a:ext uri="{FF2B5EF4-FFF2-40B4-BE49-F238E27FC236}">
                  <a16:creationId xmlns:a16="http://schemas.microsoft.com/office/drawing/2014/main" id="{35A506AF-F79A-8321-0686-AD2A1908C764}"/>
                </a:ext>
              </a:extLst>
            </p:cNvPr>
            <p:cNvSpPr/>
            <p:nvPr/>
          </p:nvSpPr>
          <p:spPr>
            <a:xfrm>
              <a:off x="9309100" y="3467100"/>
              <a:ext cx="2146300" cy="9525"/>
            </a:xfrm>
            <a:custGeom>
              <a:avLst/>
              <a:gdLst/>
              <a:ahLst/>
              <a:cxnLst/>
              <a:rect l="l" t="t" r="r" b="b"/>
              <a:pathLst>
                <a:path w="2146300" h="9525">
                  <a:moveTo>
                    <a:pt x="0" y="0"/>
                  </a:moveTo>
                  <a:lnTo>
                    <a:pt x="2146300" y="0"/>
                  </a:lnTo>
                </a:path>
              </a:pathLst>
            </a:custGeom>
            <a:noFill/>
            <a:ln w="12700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118" name="TextBox 55">
              <a:extLst>
                <a:ext uri="{FF2B5EF4-FFF2-40B4-BE49-F238E27FC236}">
                  <a16:creationId xmlns:a16="http://schemas.microsoft.com/office/drawing/2014/main" id="{F4EB74AF-C9A2-4499-A983-2B98E6E12B4E}"/>
                </a:ext>
              </a:extLst>
            </p:cNvPr>
            <p:cNvSpPr txBox="1"/>
            <p:nvPr/>
          </p:nvSpPr>
          <p:spPr>
            <a:xfrm>
              <a:off x="9293225" y="3636963"/>
              <a:ext cx="1723628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dirty="0">
                  <a:solidFill>
                    <a:srgbClr val="FFFFFF">
                      <a:alphaMod val="72000"/>
                    </a:srgbClr>
                  </a:solidFill>
                  <a:latin typeface="Microsoft YaHei UI"/>
                  <a:ea typeface="Microsoft YaHei"/>
                  <a:cs typeface="Microsoft YaHei UI"/>
                </a:rPr>
                <a:t>待完成任务 · 家庭画像</a:t>
              </a:r>
            </a:p>
          </p:txBody>
        </p:sp>
        <p:sp>
          <p:nvSpPr>
            <p:cNvPr id="119" name="TextBox 56">
              <a:extLst>
                <a:ext uri="{FF2B5EF4-FFF2-40B4-BE49-F238E27FC236}">
                  <a16:creationId xmlns:a16="http://schemas.microsoft.com/office/drawing/2014/main" id="{669FA052-F525-E162-9EE5-AD8F06FEB8A2}"/>
                </a:ext>
              </a:extLst>
            </p:cNvPr>
            <p:cNvSpPr txBox="1"/>
            <p:nvPr/>
          </p:nvSpPr>
          <p:spPr>
            <a:xfrm>
              <a:off x="9293225" y="3852863"/>
              <a:ext cx="1531938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dirty="0">
                  <a:solidFill>
                    <a:srgbClr val="FFFFFF">
                      <a:alphaMod val="72000"/>
                    </a:srgbClr>
                  </a:solidFill>
                  <a:latin typeface="Microsoft YaHei UI"/>
                  <a:ea typeface="Microsoft YaHei"/>
                  <a:cs typeface="Microsoft YaHei UI"/>
                </a:rPr>
                <a:t>下一晚重新进入规划</a:t>
              </a:r>
            </a:p>
          </p:txBody>
        </p:sp>
      </p:grpSp>
      <p:grpSp>
        <p:nvGrpSpPr>
          <p:cNvPr id="120" name="Group 62">
            <a:extLst>
              <a:ext uri="{FF2B5EF4-FFF2-40B4-BE49-F238E27FC236}">
                <a16:creationId xmlns:a16="http://schemas.microsoft.com/office/drawing/2014/main" id="{11162EC6-42AA-7357-DD8F-2079EF1DA72B}"/>
              </a:ext>
            </a:extLst>
          </p:cNvPr>
          <p:cNvGrpSpPr/>
          <p:nvPr/>
        </p:nvGrpSpPr>
        <p:grpSpPr>
          <a:xfrm>
            <a:off x="5511800" y="4178300"/>
            <a:ext cx="4864100" cy="660400"/>
            <a:chOff x="5511800" y="4178300"/>
            <a:chExt cx="4864100" cy="660400"/>
          </a:xfrm>
        </p:grpSpPr>
        <p:sp>
          <p:nvSpPr>
            <p:cNvPr id="121" name="Freeform 58">
              <a:extLst>
                <a:ext uri="{FF2B5EF4-FFF2-40B4-BE49-F238E27FC236}">
                  <a16:creationId xmlns:a16="http://schemas.microsoft.com/office/drawing/2014/main" id="{B06ED647-9A63-6FE4-983D-3AE16812CE1B}"/>
                </a:ext>
              </a:extLst>
            </p:cNvPr>
            <p:cNvSpPr/>
            <p:nvPr/>
          </p:nvSpPr>
          <p:spPr>
            <a:xfrm>
              <a:off x="5613400" y="4191000"/>
              <a:ext cx="4762500" cy="533400"/>
            </a:xfrm>
            <a:custGeom>
              <a:avLst/>
              <a:gdLst/>
              <a:ahLst/>
              <a:cxnLst/>
              <a:rect l="l" t="t" r="r" b="b"/>
              <a:pathLst>
                <a:path w="4762500" h="533400">
                  <a:moveTo>
                    <a:pt x="4762500" y="0"/>
                  </a:moveTo>
                  <a:lnTo>
                    <a:pt x="4762500" y="533400"/>
                  </a:lnTo>
                  <a:lnTo>
                    <a:pt x="0" y="533400"/>
                  </a:lnTo>
                  <a:lnTo>
                    <a:pt x="0" y="190500"/>
                  </a:lnTo>
                </a:path>
              </a:pathLst>
            </a:custGeom>
            <a:noFill/>
            <a:ln w="38100">
              <a:solidFill>
                <a:srgbClr val="1F665A"/>
              </a:solidFill>
              <a:custDash>
                <a:ds d="300000" sp="225000"/>
              </a:custDash>
            </a:ln>
          </p:spPr>
        </p:sp>
        <p:sp>
          <p:nvSpPr>
            <p:cNvPr id="122" name="Polygon 59">
              <a:extLst>
                <a:ext uri="{FF2B5EF4-FFF2-40B4-BE49-F238E27FC236}">
                  <a16:creationId xmlns:a16="http://schemas.microsoft.com/office/drawing/2014/main" id="{3C5975FD-913F-698E-B5CA-FEDBCB4DC0BF}"/>
                </a:ext>
              </a:extLst>
            </p:cNvPr>
            <p:cNvSpPr/>
            <p:nvPr/>
          </p:nvSpPr>
          <p:spPr>
            <a:xfrm>
              <a:off x="5511800" y="417830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0" y="203200"/>
                  </a:moveTo>
                  <a:lnTo>
                    <a:pt x="101600" y="0"/>
                  </a:lnTo>
                  <a:lnTo>
                    <a:pt x="203200" y="203200"/>
                  </a:lnTo>
                  <a:close/>
                </a:path>
              </a:pathLst>
            </a:custGeom>
            <a:solidFill>
              <a:srgbClr val="1F665A"/>
            </a:solidFill>
            <a:ln>
              <a:noFill/>
            </a:ln>
          </p:spPr>
        </p:sp>
        <p:sp>
          <p:nvSpPr>
            <p:cNvPr id="123" name="Rectangle 60">
              <a:extLst>
                <a:ext uri="{FF2B5EF4-FFF2-40B4-BE49-F238E27FC236}">
                  <a16:creationId xmlns:a16="http://schemas.microsoft.com/office/drawing/2014/main" id="{4640F66D-2F35-821F-DEFC-63606F2D53E0}"/>
                </a:ext>
              </a:extLst>
            </p:cNvPr>
            <p:cNvSpPr/>
            <p:nvPr/>
          </p:nvSpPr>
          <p:spPr>
            <a:xfrm>
              <a:off x="7048500" y="4483100"/>
              <a:ext cx="1905000" cy="3556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124" name="TextBox 61">
              <a:extLst>
                <a:ext uri="{FF2B5EF4-FFF2-40B4-BE49-F238E27FC236}">
                  <a16:creationId xmlns:a16="http://schemas.microsoft.com/office/drawing/2014/main" id="{B2EF50F2-08A0-F035-B3E9-B846EE6A6AA7}"/>
                </a:ext>
              </a:extLst>
            </p:cNvPr>
            <p:cNvSpPr txBox="1"/>
            <p:nvPr/>
          </p:nvSpPr>
          <p:spPr>
            <a:xfrm>
              <a:off x="6977634" y="4594860"/>
              <a:ext cx="20467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665A"/>
                  </a:solidFill>
                  <a:latin typeface="Microsoft YaHei UI"/>
                  <a:ea typeface="Microsoft YaHei"/>
                  <a:cs typeface="Microsoft YaHei UI"/>
                </a:rPr>
                <a:t>下一晚，规则引擎继续接手</a:t>
              </a:r>
            </a:p>
          </p:txBody>
        </p:sp>
      </p:grpSp>
      <p:grpSp>
        <p:nvGrpSpPr>
          <p:cNvPr id="125" name="Group 67">
            <a:extLst>
              <a:ext uri="{FF2B5EF4-FFF2-40B4-BE49-F238E27FC236}">
                <a16:creationId xmlns:a16="http://schemas.microsoft.com/office/drawing/2014/main" id="{071882E2-A171-DC78-F2CF-FF70D0A45F46}"/>
              </a:ext>
            </a:extLst>
          </p:cNvPr>
          <p:cNvGrpSpPr/>
          <p:nvPr/>
        </p:nvGrpSpPr>
        <p:grpSpPr>
          <a:xfrm>
            <a:off x="533400" y="5245100"/>
            <a:ext cx="11125200" cy="914400"/>
            <a:chOff x="533400" y="5245100"/>
            <a:chExt cx="11125200" cy="914400"/>
          </a:xfrm>
        </p:grpSpPr>
        <p:sp>
          <p:nvSpPr>
            <p:cNvPr id="126" name="Rectangle 63">
              <a:extLst>
                <a:ext uri="{FF2B5EF4-FFF2-40B4-BE49-F238E27FC236}">
                  <a16:creationId xmlns:a16="http://schemas.microsoft.com/office/drawing/2014/main" id="{9C7F889C-4ABD-283D-C0E5-2B7512BC1926}"/>
                </a:ext>
              </a:extLst>
            </p:cNvPr>
            <p:cNvSpPr/>
            <p:nvPr/>
          </p:nvSpPr>
          <p:spPr>
            <a:xfrm>
              <a:off x="533400" y="5245100"/>
              <a:ext cx="11125200" cy="9144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27" name="Rectangle 64">
              <a:extLst>
                <a:ext uri="{FF2B5EF4-FFF2-40B4-BE49-F238E27FC236}">
                  <a16:creationId xmlns:a16="http://schemas.microsoft.com/office/drawing/2014/main" id="{DD860BEC-3E42-B497-EA7D-70431D5614C1}"/>
                </a:ext>
              </a:extLst>
            </p:cNvPr>
            <p:cNvSpPr/>
            <p:nvPr/>
          </p:nvSpPr>
          <p:spPr>
            <a:xfrm>
              <a:off x="533400" y="5245100"/>
              <a:ext cx="139700" cy="9144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128" name="TextBox 65">
              <a:extLst>
                <a:ext uri="{FF2B5EF4-FFF2-40B4-BE49-F238E27FC236}">
                  <a16:creationId xmlns:a16="http://schemas.microsoft.com/office/drawing/2014/main" id="{B408204C-D0E0-6529-B87A-360F82BB0B6C}"/>
                </a:ext>
              </a:extLst>
            </p:cNvPr>
            <p:cNvSpPr txBox="1"/>
            <p:nvPr/>
          </p:nvSpPr>
          <p:spPr>
            <a:xfrm>
              <a:off x="817880" y="5440680"/>
              <a:ext cx="3053817" cy="32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DFFF7A"/>
                  </a:solidFill>
                  <a:latin typeface="Microsoft YaHei UI"/>
                  <a:ea typeface="Microsoft YaHei"/>
                  <a:cs typeface="Microsoft YaHei UI"/>
                </a:rPr>
                <a:t>GEMMA 是入口，不是整个系统</a:t>
              </a:r>
            </a:p>
          </p:txBody>
        </p:sp>
        <p:sp>
          <p:nvSpPr>
            <p:cNvPr id="129" name="TextBox 66">
              <a:extLst>
                <a:ext uri="{FF2B5EF4-FFF2-40B4-BE49-F238E27FC236}">
                  <a16:creationId xmlns:a16="http://schemas.microsoft.com/office/drawing/2014/main" id="{6D08C69E-F751-41DE-70C7-9C06DA17FF8F}"/>
                </a:ext>
              </a:extLst>
            </p:cNvPr>
            <p:cNvSpPr txBox="1"/>
            <p:nvPr/>
          </p:nvSpPr>
          <p:spPr>
            <a:xfrm>
              <a:off x="815340" y="5749290"/>
              <a:ext cx="685057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理解语言只是入口；任务能跨夜、状态能恢复，才构成产品。</a:t>
              </a:r>
            </a:p>
          </p:txBody>
        </p:sp>
      </p:grpSp>
      <p:grpSp>
        <p:nvGrpSpPr>
          <p:cNvPr id="130" name="Group 70">
            <a:extLst>
              <a:ext uri="{FF2B5EF4-FFF2-40B4-BE49-F238E27FC236}">
                <a16:creationId xmlns:a16="http://schemas.microsoft.com/office/drawing/2014/main" id="{EAD039E8-CA64-21AC-1EE5-80E7D4CECD20}"/>
              </a:ext>
            </a:extLst>
          </p:cNvPr>
          <p:cNvGrpSpPr/>
          <p:nvPr/>
        </p:nvGrpSpPr>
        <p:grpSpPr>
          <a:xfrm>
            <a:off x="518160" y="6490018"/>
            <a:ext cx="11157585" cy="274320"/>
            <a:chOff x="518160" y="6490018"/>
            <a:chExt cx="11157585" cy="274320"/>
          </a:xfrm>
        </p:grpSpPr>
        <p:sp>
          <p:nvSpPr>
            <p:cNvPr id="131" name="TextBox 68">
              <a:extLst>
                <a:ext uri="{FF2B5EF4-FFF2-40B4-BE49-F238E27FC236}">
                  <a16:creationId xmlns:a16="http://schemas.microsoft.com/office/drawing/2014/main" id="{D1A08EE9-AFF0-FE58-150B-52155722B0E4}"/>
                </a:ext>
              </a:extLst>
            </p:cNvPr>
            <p:cNvSpPr txBox="1"/>
            <p:nvPr/>
          </p:nvSpPr>
          <p:spPr>
            <a:xfrm>
              <a:off x="518160" y="6506210"/>
              <a:ext cx="42470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D6D69"/>
                  </a:solidFill>
                  <a:latin typeface="Consolas"/>
                  <a:ea typeface="Microsoft YaHei"/>
                  <a:cs typeface="Consolas"/>
                </a:rPr>
                <a:t>understand / confirm / compute / control / remember</a:t>
              </a:r>
            </a:p>
          </p:txBody>
        </p:sp>
        <p:sp>
          <p:nvSpPr>
            <p:cNvPr id="132" name="TextBox 69">
              <a:extLst>
                <a:ext uri="{FF2B5EF4-FFF2-40B4-BE49-F238E27FC236}">
                  <a16:creationId xmlns:a16="http://schemas.microsoft.com/office/drawing/2014/main" id="{4FB5A9CE-8F71-8389-565A-AC29709AEAE0}"/>
                </a:ext>
              </a:extLst>
            </p:cNvPr>
            <p:cNvSpPr txBox="1"/>
            <p:nvPr/>
          </p:nvSpPr>
          <p:spPr>
            <a:xfrm>
              <a:off x="11433529" y="64900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002FA7"/>
                  </a:solidFill>
                  <a:latin typeface="Microsoft YaHei UI"/>
                  <a:ea typeface="Microsoft YaHei"/>
                  <a:cs typeface="Microsoft YaHei UI"/>
                </a:rPr>
                <a:t>07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6641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9C23F4-59F7-5CDC-5DAB-CF27BBD3F4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08DFB2C-B142-849D-9BA8-5CAD924796C6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2FA7"/>
          </a:solidFill>
          <a:ln>
            <a:noFill/>
          </a:ln>
        </p:spPr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E7921EAA-FDD4-71CF-5EC8-85C613EDB91D}"/>
              </a:ext>
            </a:extLst>
          </p:cNvPr>
          <p:cNvGrpSpPr/>
          <p:nvPr/>
        </p:nvGrpSpPr>
        <p:grpSpPr>
          <a:xfrm>
            <a:off x="496570" y="311468"/>
            <a:ext cx="11162030" cy="1298257"/>
            <a:chOff x="496570" y="311468"/>
            <a:chExt cx="11162030" cy="1298257"/>
          </a:xfrm>
        </p:grpSpPr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4D63C632-95C4-C946-DFCC-94DABF5EFBF3}"/>
                </a:ext>
              </a:extLst>
            </p:cNvPr>
            <p:cNvSpPr txBox="1"/>
            <p:nvPr/>
          </p:nvSpPr>
          <p:spPr>
            <a:xfrm>
              <a:off x="516255" y="311468"/>
              <a:ext cx="32665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2FA7"/>
                  </a:solidFill>
                  <a:latin typeface="Consolas"/>
                  <a:ea typeface="Microsoft YaHei"/>
                  <a:cs typeface="Consolas"/>
                </a:rPr>
                <a:t>08 / TWO LOOPS, ONE ARCHITECTURE</a:t>
              </a:r>
            </a:p>
          </p:txBody>
        </p:sp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2B23B144-6EB8-D3DC-1765-52B8CAB2452C}"/>
                </a:ext>
              </a:extLst>
            </p:cNvPr>
            <p:cNvSpPr txBox="1"/>
            <p:nvPr/>
          </p:nvSpPr>
          <p:spPr>
            <a:xfrm>
              <a:off x="496570" y="690245"/>
              <a:ext cx="8803751" cy="589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9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两个 Loop，共用一套受控语义入口与确定性内核</a:t>
              </a: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A443351E-477B-DBD3-68C0-E8A43C945BE3}"/>
                </a:ext>
              </a:extLst>
            </p:cNvPr>
            <p:cNvSpPr txBox="1"/>
            <p:nvPr/>
          </p:nvSpPr>
          <p:spPr>
            <a:xfrm>
              <a:off x="511810" y="1213485"/>
              <a:ext cx="7433437" cy="345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0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家长先输入作业单，孩子再说今晚情况；确认后，Python 负责排出路线。</a:t>
              </a:r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EB88E33B-7EA5-17BF-63BB-CAC2F7A2EFBE}"/>
                </a:ext>
              </a:extLst>
            </p:cNvPr>
            <p:cNvSpPr/>
            <p:nvPr/>
          </p:nvSpPr>
          <p:spPr>
            <a:xfrm>
              <a:off x="533400" y="16002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D8D8D4"/>
              </a:solidFill>
            </a:ln>
          </p:spPr>
        </p:sp>
      </p:grpSp>
      <p:grpSp>
        <p:nvGrpSpPr>
          <p:cNvPr id="12" name="Group 15">
            <a:extLst>
              <a:ext uri="{FF2B5EF4-FFF2-40B4-BE49-F238E27FC236}">
                <a16:creationId xmlns:a16="http://schemas.microsoft.com/office/drawing/2014/main" id="{1C2B718D-7D69-6278-211B-E1DBC9A9906E}"/>
              </a:ext>
            </a:extLst>
          </p:cNvPr>
          <p:cNvGrpSpPr/>
          <p:nvPr/>
        </p:nvGrpSpPr>
        <p:grpSpPr>
          <a:xfrm>
            <a:off x="8394700" y="1739900"/>
            <a:ext cx="3263900" cy="279400"/>
            <a:chOff x="8394700" y="1739900"/>
            <a:chExt cx="3263900" cy="279400"/>
          </a:xfrm>
        </p:grpSpPr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9D988761-BCDC-1FBE-E0A8-B158C4123F07}"/>
                </a:ext>
              </a:extLst>
            </p:cNvPr>
            <p:cNvSpPr/>
            <p:nvPr/>
          </p:nvSpPr>
          <p:spPr>
            <a:xfrm>
              <a:off x="8394700" y="1739900"/>
              <a:ext cx="863600" cy="2667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65EECFF9-9AD1-6F9F-6453-46934868EF4C}"/>
                </a:ext>
              </a:extLst>
            </p:cNvPr>
            <p:cNvSpPr txBox="1"/>
            <p:nvPr/>
          </p:nvSpPr>
          <p:spPr>
            <a:xfrm>
              <a:off x="8593272" y="1816100"/>
              <a:ext cx="466455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b="1" dirty="0">
                  <a:solidFill>
                    <a:srgbClr val="DFFF7A"/>
                  </a:solidFill>
                  <a:latin typeface="Microsoft YaHei UI"/>
                  <a:ea typeface="Microsoft YaHei"/>
                  <a:cs typeface="Microsoft YaHei UI"/>
                </a:rPr>
                <a:t>AI 语义</a:t>
              </a:r>
            </a:p>
          </p:txBody>
        </p:sp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F484C156-1513-C1D7-4FE6-001E17B240E7}"/>
                </a:ext>
              </a:extLst>
            </p:cNvPr>
            <p:cNvSpPr/>
            <p:nvPr/>
          </p:nvSpPr>
          <p:spPr>
            <a:xfrm>
              <a:off x="9347200" y="1739900"/>
              <a:ext cx="863600" cy="2667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16" name="TextBox 12">
              <a:extLst>
                <a:ext uri="{FF2B5EF4-FFF2-40B4-BE49-F238E27FC236}">
                  <a16:creationId xmlns:a16="http://schemas.microsoft.com/office/drawing/2014/main" id="{93E8B90C-5BE2-4A94-430B-CC6308720D05}"/>
                </a:ext>
              </a:extLst>
            </p:cNvPr>
            <p:cNvSpPr txBox="1"/>
            <p:nvPr/>
          </p:nvSpPr>
          <p:spPr>
            <a:xfrm>
              <a:off x="9486265" y="1816100"/>
              <a:ext cx="58547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人类确认</a:t>
              </a:r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07450D23-694E-B8CE-81AD-1C94069BCB43}"/>
                </a:ext>
              </a:extLst>
            </p:cNvPr>
            <p:cNvSpPr/>
            <p:nvPr/>
          </p:nvSpPr>
          <p:spPr>
            <a:xfrm>
              <a:off x="10299700" y="1739900"/>
              <a:ext cx="1358900" cy="266700"/>
            </a:xfrm>
            <a:prstGeom prst="rect">
              <a:avLst/>
            </a:prstGeom>
            <a:solidFill>
              <a:srgbClr val="1F665A"/>
            </a:solidFill>
            <a:ln>
              <a:noFill/>
            </a:ln>
          </p:spPr>
        </p:sp>
        <p:sp>
          <p:nvSpPr>
            <p:cNvPr id="18" name="TextBox 14">
              <a:extLst>
                <a:ext uri="{FF2B5EF4-FFF2-40B4-BE49-F238E27FC236}">
                  <a16:creationId xmlns:a16="http://schemas.microsoft.com/office/drawing/2014/main" id="{2D43FD8B-2FB0-EC14-B41F-3D3FEEF60E5C}"/>
                </a:ext>
              </a:extLst>
            </p:cNvPr>
            <p:cNvSpPr txBox="1"/>
            <p:nvPr/>
          </p:nvSpPr>
          <p:spPr>
            <a:xfrm>
              <a:off x="10514894" y="1816100"/>
              <a:ext cx="928513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Python / 状态</a:t>
              </a:r>
            </a:p>
          </p:txBody>
        </p:sp>
      </p:grpSp>
      <p:grpSp>
        <p:nvGrpSpPr>
          <p:cNvPr id="19" name="Group 20">
            <a:extLst>
              <a:ext uri="{FF2B5EF4-FFF2-40B4-BE49-F238E27FC236}">
                <a16:creationId xmlns:a16="http://schemas.microsoft.com/office/drawing/2014/main" id="{C5A6B58A-BE5A-F562-01BA-20FCCDF65194}"/>
              </a:ext>
            </a:extLst>
          </p:cNvPr>
          <p:cNvGrpSpPr/>
          <p:nvPr/>
        </p:nvGrpSpPr>
        <p:grpSpPr>
          <a:xfrm>
            <a:off x="1079500" y="2470150"/>
            <a:ext cx="10414000" cy="3028950"/>
            <a:chOff x="1079500" y="2470150"/>
            <a:chExt cx="10414000" cy="3028950"/>
          </a:xfrm>
        </p:grpSpPr>
        <p:sp>
          <p:nvSpPr>
            <p:cNvPr id="20" name="Line 16">
              <a:extLst>
                <a:ext uri="{FF2B5EF4-FFF2-40B4-BE49-F238E27FC236}">
                  <a16:creationId xmlns:a16="http://schemas.microsoft.com/office/drawing/2014/main" id="{1EDC0747-DD29-F94C-EC19-C4C761BA9B91}"/>
                </a:ext>
              </a:extLst>
            </p:cNvPr>
            <p:cNvSpPr/>
            <p:nvPr/>
          </p:nvSpPr>
          <p:spPr>
            <a:xfrm>
              <a:off x="1079500" y="2565400"/>
              <a:ext cx="9423400" cy="9525"/>
            </a:xfrm>
            <a:custGeom>
              <a:avLst/>
              <a:gdLst/>
              <a:ahLst/>
              <a:cxnLst/>
              <a:rect l="l" t="t" r="r" b="b"/>
              <a:pathLst>
                <a:path w="9423400" h="9525">
                  <a:moveTo>
                    <a:pt x="0" y="0"/>
                  </a:moveTo>
                  <a:lnTo>
                    <a:pt x="9423400" y="0"/>
                  </a:lnTo>
                </a:path>
              </a:pathLst>
            </a:custGeom>
            <a:noFill/>
            <a:ln w="38100">
              <a:solidFill>
                <a:srgbClr val="002FA7"/>
              </a:solidFill>
            </a:ln>
          </p:spPr>
        </p:sp>
        <p:sp>
          <p:nvSpPr>
            <p:cNvPr id="21" name="Polygon 17">
              <a:extLst>
                <a:ext uri="{FF2B5EF4-FFF2-40B4-BE49-F238E27FC236}">
                  <a16:creationId xmlns:a16="http://schemas.microsoft.com/office/drawing/2014/main" id="{A1F6152A-96E9-D4AF-0FB0-68D45E9F3380}"/>
                </a:ext>
              </a:extLst>
            </p:cNvPr>
            <p:cNvSpPr/>
            <p:nvPr/>
          </p:nvSpPr>
          <p:spPr>
            <a:xfrm>
              <a:off x="10502900" y="2470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449F4593-0B51-17E4-BF55-27CE42A5374E}"/>
                </a:ext>
              </a:extLst>
            </p:cNvPr>
            <p:cNvSpPr/>
            <p:nvPr/>
          </p:nvSpPr>
          <p:spPr>
            <a:xfrm>
              <a:off x="3454400" y="2565400"/>
              <a:ext cx="8039100" cy="2743200"/>
            </a:xfrm>
            <a:custGeom>
              <a:avLst/>
              <a:gdLst/>
              <a:ahLst/>
              <a:cxnLst/>
              <a:rect l="l" t="t" r="r" b="b"/>
              <a:pathLst>
                <a:path w="8039100" h="2743200">
                  <a:moveTo>
                    <a:pt x="7429500" y="0"/>
                  </a:moveTo>
                  <a:lnTo>
                    <a:pt x="8039100" y="0"/>
                  </a:lnTo>
                  <a:lnTo>
                    <a:pt x="8039100" y="2641600"/>
                  </a:lnTo>
                  <a:lnTo>
                    <a:pt x="0" y="2641600"/>
                  </a:lnTo>
                  <a:lnTo>
                    <a:pt x="0" y="2743200"/>
                  </a:lnTo>
                </a:path>
              </a:pathLst>
            </a:custGeom>
            <a:noFill/>
            <a:ln w="31750">
              <a:solidFill>
                <a:srgbClr val="002FA7"/>
              </a:solidFill>
            </a:ln>
          </p:spPr>
        </p:sp>
        <p:sp>
          <p:nvSpPr>
            <p:cNvPr id="23" name="Polygon 19">
              <a:extLst>
                <a:ext uri="{FF2B5EF4-FFF2-40B4-BE49-F238E27FC236}">
                  <a16:creationId xmlns:a16="http://schemas.microsoft.com/office/drawing/2014/main" id="{1CAB5107-B0DB-14FA-0474-5DB6C527957C}"/>
                </a:ext>
              </a:extLst>
            </p:cNvPr>
            <p:cNvSpPr/>
            <p:nvPr/>
          </p:nvSpPr>
          <p:spPr>
            <a:xfrm>
              <a:off x="3359150" y="53086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95250" y="190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</p:sp>
      </p:grpSp>
      <p:grpSp>
        <p:nvGrpSpPr>
          <p:cNvPr id="24" name="Group 45">
            <a:extLst>
              <a:ext uri="{FF2B5EF4-FFF2-40B4-BE49-F238E27FC236}">
                <a16:creationId xmlns:a16="http://schemas.microsoft.com/office/drawing/2014/main" id="{107AECE1-A38A-6DF7-0683-B793E8B61D49}"/>
              </a:ext>
            </a:extLst>
          </p:cNvPr>
          <p:cNvGrpSpPr/>
          <p:nvPr/>
        </p:nvGrpSpPr>
        <p:grpSpPr>
          <a:xfrm>
            <a:off x="517525" y="1833563"/>
            <a:ext cx="10612954" cy="1581150"/>
            <a:chOff x="517525" y="1833563"/>
            <a:chExt cx="10612954" cy="1581150"/>
          </a:xfrm>
        </p:grpSpPr>
        <p:sp>
          <p:nvSpPr>
            <p:cNvPr id="25" name="TextBox 21">
              <a:extLst>
                <a:ext uri="{FF2B5EF4-FFF2-40B4-BE49-F238E27FC236}">
                  <a16:creationId xmlns:a16="http://schemas.microsoft.com/office/drawing/2014/main" id="{12CECC0B-00DA-EE5B-72FB-3B11941295C5}"/>
                </a:ext>
              </a:extLst>
            </p:cNvPr>
            <p:cNvSpPr txBox="1"/>
            <p:nvPr/>
          </p:nvSpPr>
          <p:spPr>
            <a:xfrm>
              <a:off x="517525" y="1833563"/>
              <a:ext cx="2245777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2FA7"/>
                  </a:solidFill>
                  <a:latin typeface="Consolas"/>
                  <a:ea typeface="Microsoft YaHei"/>
                  <a:cs typeface="Consolas"/>
                </a:rPr>
                <a:t>孩子 Loop · 每晚输入与规划</a:t>
              </a:r>
            </a:p>
          </p:txBody>
        </p:sp>
        <p:sp>
          <p:nvSpPr>
            <p:cNvPr id="26" name="Ellipse 22">
              <a:extLst>
                <a:ext uri="{FF2B5EF4-FFF2-40B4-BE49-F238E27FC236}">
                  <a16:creationId xmlns:a16="http://schemas.microsoft.com/office/drawing/2014/main" id="{89D18C3D-6295-239A-B34B-55FD81AF96D2}"/>
                </a:ext>
              </a:extLst>
            </p:cNvPr>
            <p:cNvSpPr/>
            <p:nvPr/>
          </p:nvSpPr>
          <p:spPr>
            <a:xfrm>
              <a:off x="927100" y="2286000"/>
              <a:ext cx="558800" cy="558800"/>
            </a:xfrm>
            <a:prstGeom prst="ellipse">
              <a:avLst/>
            </a:prstGeom>
            <a:solidFill>
              <a:srgbClr val="002FA7"/>
            </a:solidFill>
            <a:ln>
              <a:noFill/>
            </a:ln>
          </p:spPr>
        </p:sp>
        <p:sp>
          <p:nvSpPr>
            <p:cNvPr id="27" name="TextBox 23">
              <a:extLst>
                <a:ext uri="{FF2B5EF4-FFF2-40B4-BE49-F238E27FC236}">
                  <a16:creationId xmlns:a16="http://schemas.microsoft.com/office/drawing/2014/main" id="{405CF48E-9EB3-1137-F4F3-783A0610354B}"/>
                </a:ext>
              </a:extLst>
            </p:cNvPr>
            <p:cNvSpPr txBox="1"/>
            <p:nvPr/>
          </p:nvSpPr>
          <p:spPr>
            <a:xfrm>
              <a:off x="1152576" y="2475230"/>
              <a:ext cx="107848" cy="32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1</a:t>
              </a:r>
            </a:p>
          </p:txBody>
        </p:sp>
        <p:sp>
          <p:nvSpPr>
            <p:cNvPr id="28" name="TextBox 24">
              <a:extLst>
                <a:ext uri="{FF2B5EF4-FFF2-40B4-BE49-F238E27FC236}">
                  <a16:creationId xmlns:a16="http://schemas.microsoft.com/office/drawing/2014/main" id="{12661DE0-4B4B-BCF8-3492-9025BF3349D0}"/>
                </a:ext>
              </a:extLst>
            </p:cNvPr>
            <p:cNvSpPr txBox="1"/>
            <p:nvPr/>
          </p:nvSpPr>
          <p:spPr>
            <a:xfrm>
              <a:off x="527772" y="292766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家长输入作业单</a:t>
              </a:r>
            </a:p>
          </p:txBody>
        </p:sp>
        <p:sp>
          <p:nvSpPr>
            <p:cNvPr id="29" name="Ellipse 25">
              <a:extLst>
                <a:ext uri="{FF2B5EF4-FFF2-40B4-BE49-F238E27FC236}">
                  <a16:creationId xmlns:a16="http://schemas.microsoft.com/office/drawing/2014/main" id="{8C70022A-E020-2C21-D3DD-F09C46928262}"/>
                </a:ext>
              </a:extLst>
            </p:cNvPr>
            <p:cNvSpPr/>
            <p:nvPr/>
          </p:nvSpPr>
          <p:spPr>
            <a:xfrm>
              <a:off x="2768600" y="2286000"/>
              <a:ext cx="558800" cy="558800"/>
            </a:xfrm>
            <a:prstGeom prst="ellipse">
              <a:avLst/>
            </a:prstGeom>
            <a:solidFill>
              <a:srgbClr val="002FA7"/>
            </a:solidFill>
            <a:ln>
              <a:noFill/>
            </a:ln>
          </p:spPr>
        </p:sp>
        <p:sp>
          <p:nvSpPr>
            <p:cNvPr id="30" name="TextBox 26">
              <a:extLst>
                <a:ext uri="{FF2B5EF4-FFF2-40B4-BE49-F238E27FC236}">
                  <a16:creationId xmlns:a16="http://schemas.microsoft.com/office/drawing/2014/main" id="{2FB032AC-4C6B-AC7C-8424-C6A746BFCA58}"/>
                </a:ext>
              </a:extLst>
            </p:cNvPr>
            <p:cNvSpPr txBox="1"/>
            <p:nvPr/>
          </p:nvSpPr>
          <p:spPr>
            <a:xfrm>
              <a:off x="2966072" y="2475230"/>
              <a:ext cx="163855" cy="32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2</a:t>
              </a:r>
            </a:p>
          </p:txBody>
        </p:sp>
        <p:sp>
          <p:nvSpPr>
            <p:cNvPr id="31" name="TextBox 27">
              <a:extLst>
                <a:ext uri="{FF2B5EF4-FFF2-40B4-BE49-F238E27FC236}">
                  <a16:creationId xmlns:a16="http://schemas.microsoft.com/office/drawing/2014/main" id="{D5ABB2E9-F9DD-277F-34CC-73475FDCD42C}"/>
                </a:ext>
              </a:extLst>
            </p:cNvPr>
            <p:cNvSpPr txBox="1"/>
            <p:nvPr/>
          </p:nvSpPr>
          <p:spPr>
            <a:xfrm>
              <a:off x="2274761" y="2927668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孩子输入今晚情况</a:t>
              </a:r>
            </a:p>
          </p:txBody>
        </p:sp>
        <p:sp>
          <p:nvSpPr>
            <p:cNvPr id="32" name="TextBox 28">
              <a:extLst>
                <a:ext uri="{FF2B5EF4-FFF2-40B4-BE49-F238E27FC236}">
                  <a16:creationId xmlns:a16="http://schemas.microsoft.com/office/drawing/2014/main" id="{E57AADA9-34D2-D439-1AA6-8B55366002D7}"/>
                </a:ext>
              </a:extLst>
            </p:cNvPr>
            <p:cNvSpPr txBox="1"/>
            <p:nvPr/>
          </p:nvSpPr>
          <p:spPr>
            <a:xfrm>
              <a:off x="2313575" y="3201353"/>
              <a:ext cx="146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状态 · 可用时间 · 困难</a:t>
              </a:r>
            </a:p>
          </p:txBody>
        </p:sp>
        <p:sp>
          <p:nvSpPr>
            <p:cNvPr id="33" name="Ellipse 29">
              <a:extLst>
                <a:ext uri="{FF2B5EF4-FFF2-40B4-BE49-F238E27FC236}">
                  <a16:creationId xmlns:a16="http://schemas.microsoft.com/office/drawing/2014/main" id="{99947282-27E8-E3CD-B45A-6648698128C6}"/>
                </a:ext>
              </a:extLst>
            </p:cNvPr>
            <p:cNvSpPr/>
            <p:nvPr/>
          </p:nvSpPr>
          <p:spPr>
            <a:xfrm>
              <a:off x="4572000" y="2247900"/>
              <a:ext cx="635000" cy="635000"/>
            </a:xfrm>
            <a:prstGeom prst="ellipse">
              <a:avLst/>
            </a:prstGeom>
            <a:solidFill>
              <a:srgbClr val="0A0A0A"/>
            </a:solidFill>
            <a:ln w="44450">
              <a:solidFill>
                <a:srgbClr val="DFFF7A"/>
              </a:solidFill>
            </a:ln>
          </p:spPr>
        </p:sp>
        <p:sp>
          <p:nvSpPr>
            <p:cNvPr id="34" name="TextBox 30">
              <a:extLst>
                <a:ext uri="{FF2B5EF4-FFF2-40B4-BE49-F238E27FC236}">
                  <a16:creationId xmlns:a16="http://schemas.microsoft.com/office/drawing/2014/main" id="{8D05C73C-80FE-6839-24B7-FFEB31A76998}"/>
                </a:ext>
              </a:extLst>
            </p:cNvPr>
            <p:cNvSpPr txBox="1"/>
            <p:nvPr/>
          </p:nvSpPr>
          <p:spPr>
            <a:xfrm>
              <a:off x="4807572" y="2475230"/>
              <a:ext cx="163855" cy="32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DFFF7A"/>
                  </a:solidFill>
                  <a:latin typeface="Microsoft YaHei UI"/>
                  <a:ea typeface="Microsoft YaHei"/>
                  <a:cs typeface="Microsoft YaHei UI"/>
                </a:rPr>
                <a:t>3</a:t>
              </a:r>
            </a:p>
          </p:txBody>
        </p:sp>
        <p:sp>
          <p:nvSpPr>
            <p:cNvPr id="35" name="TextBox 31">
              <a:extLst>
                <a:ext uri="{FF2B5EF4-FFF2-40B4-BE49-F238E27FC236}">
                  <a16:creationId xmlns:a16="http://schemas.microsoft.com/office/drawing/2014/main" id="{42294B52-0DB9-1E12-2501-B542E806AE3A}"/>
                </a:ext>
              </a:extLst>
            </p:cNvPr>
            <p:cNvSpPr txBox="1"/>
            <p:nvPr/>
          </p:nvSpPr>
          <p:spPr>
            <a:xfrm>
              <a:off x="4317841" y="2916873"/>
              <a:ext cx="1143318" cy="294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Gemma 理解</a:t>
              </a:r>
            </a:p>
          </p:txBody>
        </p:sp>
        <p:sp>
          <p:nvSpPr>
            <p:cNvPr id="36" name="TextBox 32">
              <a:extLst>
                <a:ext uri="{FF2B5EF4-FFF2-40B4-BE49-F238E27FC236}">
                  <a16:creationId xmlns:a16="http://schemas.microsoft.com/office/drawing/2014/main" id="{625AFA3D-BB48-097D-F6A3-41EF25A1EC6A}"/>
                </a:ext>
              </a:extLst>
            </p:cNvPr>
            <p:cNvSpPr txBox="1"/>
            <p:nvPr/>
          </p:nvSpPr>
          <p:spPr>
            <a:xfrm>
              <a:off x="4386104" y="3201353"/>
              <a:ext cx="10067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整理成候选任务</a:t>
              </a:r>
            </a:p>
          </p:txBody>
        </p:sp>
        <p:sp>
          <p:nvSpPr>
            <p:cNvPr id="37" name="Ellipse 33">
              <a:extLst>
                <a:ext uri="{FF2B5EF4-FFF2-40B4-BE49-F238E27FC236}">
                  <a16:creationId xmlns:a16="http://schemas.microsoft.com/office/drawing/2014/main" id="{87760D71-33AC-38EA-5E15-A5A1CD44D795}"/>
                </a:ext>
              </a:extLst>
            </p:cNvPr>
            <p:cNvSpPr/>
            <p:nvPr/>
          </p:nvSpPr>
          <p:spPr>
            <a:xfrm>
              <a:off x="6413500" y="2247900"/>
              <a:ext cx="635000" cy="635000"/>
            </a:xfrm>
            <a:prstGeom prst="ellipse">
              <a:avLst/>
            </a:prstGeom>
            <a:solidFill>
              <a:srgbClr val="DFFF7A"/>
            </a:solidFill>
            <a:ln w="31750">
              <a:solidFill>
                <a:srgbClr val="002FA7"/>
              </a:solidFill>
            </a:ln>
          </p:spPr>
        </p:sp>
        <p:sp>
          <p:nvSpPr>
            <p:cNvPr id="38" name="TextBox 34">
              <a:extLst>
                <a:ext uri="{FF2B5EF4-FFF2-40B4-BE49-F238E27FC236}">
                  <a16:creationId xmlns:a16="http://schemas.microsoft.com/office/drawing/2014/main" id="{3C421C8B-4C20-D057-752D-94354E50E239}"/>
                </a:ext>
              </a:extLst>
            </p:cNvPr>
            <p:cNvSpPr txBox="1"/>
            <p:nvPr/>
          </p:nvSpPr>
          <p:spPr>
            <a:xfrm>
              <a:off x="6649072" y="2475230"/>
              <a:ext cx="163855" cy="32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4</a:t>
              </a:r>
            </a:p>
          </p:txBody>
        </p:sp>
        <p:sp>
          <p:nvSpPr>
            <p:cNvPr id="39" name="TextBox 35">
              <a:extLst>
                <a:ext uri="{FF2B5EF4-FFF2-40B4-BE49-F238E27FC236}">
                  <a16:creationId xmlns:a16="http://schemas.microsoft.com/office/drawing/2014/main" id="{B9805B27-14CC-A916-CD30-274BB0B32745}"/>
                </a:ext>
              </a:extLst>
            </p:cNvPr>
            <p:cNvSpPr txBox="1"/>
            <p:nvPr/>
          </p:nvSpPr>
          <p:spPr>
            <a:xfrm>
              <a:off x="6306534" y="2916873"/>
              <a:ext cx="848932" cy="294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孩子确认</a:t>
              </a:r>
            </a:p>
          </p:txBody>
        </p:sp>
        <p:sp>
          <p:nvSpPr>
            <p:cNvPr id="40" name="TextBox 36">
              <a:extLst>
                <a:ext uri="{FF2B5EF4-FFF2-40B4-BE49-F238E27FC236}">
                  <a16:creationId xmlns:a16="http://schemas.microsoft.com/office/drawing/2014/main" id="{06F0B3A3-602B-D6F3-C84C-A18C9994AC15}"/>
                </a:ext>
              </a:extLst>
            </p:cNvPr>
            <p:cNvSpPr txBox="1"/>
            <p:nvPr/>
          </p:nvSpPr>
          <p:spPr>
            <a:xfrm>
              <a:off x="6297613" y="3201353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候选成为事实</a:t>
              </a:r>
            </a:p>
          </p:txBody>
        </p:sp>
        <p:sp>
          <p:nvSpPr>
            <p:cNvPr id="41" name="Ellipse 37">
              <a:extLst>
                <a:ext uri="{FF2B5EF4-FFF2-40B4-BE49-F238E27FC236}">
                  <a16:creationId xmlns:a16="http://schemas.microsoft.com/office/drawing/2014/main" id="{1B0D8C72-E088-F96A-026B-6B7DC1592853}"/>
                </a:ext>
              </a:extLst>
            </p:cNvPr>
            <p:cNvSpPr/>
            <p:nvPr/>
          </p:nvSpPr>
          <p:spPr>
            <a:xfrm>
              <a:off x="8293100" y="2286000"/>
              <a:ext cx="558800" cy="558800"/>
            </a:xfrm>
            <a:prstGeom prst="ellipse">
              <a:avLst/>
            </a:prstGeom>
            <a:solidFill>
              <a:srgbClr val="1F665A"/>
            </a:solidFill>
            <a:ln>
              <a:noFill/>
            </a:ln>
          </p:spPr>
        </p:sp>
        <p:sp>
          <p:nvSpPr>
            <p:cNvPr id="42" name="TextBox 38">
              <a:extLst>
                <a:ext uri="{FF2B5EF4-FFF2-40B4-BE49-F238E27FC236}">
                  <a16:creationId xmlns:a16="http://schemas.microsoft.com/office/drawing/2014/main" id="{05546A6B-7C0E-D277-895D-ABC04D5DBBCD}"/>
                </a:ext>
              </a:extLst>
            </p:cNvPr>
            <p:cNvSpPr txBox="1"/>
            <p:nvPr/>
          </p:nvSpPr>
          <p:spPr>
            <a:xfrm>
              <a:off x="8490572" y="2475230"/>
              <a:ext cx="163855" cy="32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5</a:t>
              </a:r>
            </a:p>
          </p:txBody>
        </p:sp>
        <p:sp>
          <p:nvSpPr>
            <p:cNvPr id="119" name="TextBox 39">
              <a:extLst>
                <a:ext uri="{FF2B5EF4-FFF2-40B4-BE49-F238E27FC236}">
                  <a16:creationId xmlns:a16="http://schemas.microsoft.com/office/drawing/2014/main" id="{81A91713-5FD9-4065-E445-8F3405E5FE18}"/>
                </a:ext>
              </a:extLst>
            </p:cNvPr>
            <p:cNvSpPr txBox="1"/>
            <p:nvPr/>
          </p:nvSpPr>
          <p:spPr>
            <a:xfrm>
              <a:off x="7985614" y="2916873"/>
              <a:ext cx="1173772" cy="294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Python 规划</a:t>
              </a:r>
            </a:p>
          </p:txBody>
        </p:sp>
        <p:sp>
          <p:nvSpPr>
            <p:cNvPr id="120" name="TextBox 40">
              <a:extLst>
                <a:ext uri="{FF2B5EF4-FFF2-40B4-BE49-F238E27FC236}">
                  <a16:creationId xmlns:a16="http://schemas.microsoft.com/office/drawing/2014/main" id="{518C1336-2FCA-00D3-7ADC-4C405C1B8E5A}"/>
                </a:ext>
              </a:extLst>
            </p:cNvPr>
            <p:cNvSpPr txBox="1"/>
            <p:nvPr/>
          </p:nvSpPr>
          <p:spPr>
            <a:xfrm>
              <a:off x="8139113" y="3201353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排出今晚路线</a:t>
              </a:r>
            </a:p>
          </p:txBody>
        </p:sp>
        <p:sp>
          <p:nvSpPr>
            <p:cNvPr id="121" name="Ellipse 41">
              <a:extLst>
                <a:ext uri="{FF2B5EF4-FFF2-40B4-BE49-F238E27FC236}">
                  <a16:creationId xmlns:a16="http://schemas.microsoft.com/office/drawing/2014/main" id="{2C6A95B2-F678-71F3-8DE9-7C0350736825}"/>
                </a:ext>
              </a:extLst>
            </p:cNvPr>
            <p:cNvSpPr/>
            <p:nvPr/>
          </p:nvSpPr>
          <p:spPr>
            <a:xfrm>
              <a:off x="10325100" y="2286000"/>
              <a:ext cx="558800" cy="558800"/>
            </a:xfrm>
            <a:prstGeom prst="ellipse">
              <a:avLst/>
            </a:prstGeom>
            <a:solidFill>
              <a:srgbClr val="002FA7"/>
            </a:solidFill>
            <a:ln>
              <a:noFill/>
            </a:ln>
          </p:spPr>
        </p:sp>
        <p:sp>
          <p:nvSpPr>
            <p:cNvPr id="122" name="TextBox 42">
              <a:extLst>
                <a:ext uri="{FF2B5EF4-FFF2-40B4-BE49-F238E27FC236}">
                  <a16:creationId xmlns:a16="http://schemas.microsoft.com/office/drawing/2014/main" id="{F3CAFEFC-0ED2-E296-82D6-8D9545BD46C2}"/>
                </a:ext>
              </a:extLst>
            </p:cNvPr>
            <p:cNvSpPr txBox="1"/>
            <p:nvPr/>
          </p:nvSpPr>
          <p:spPr>
            <a:xfrm>
              <a:off x="10522572" y="2475230"/>
              <a:ext cx="163855" cy="32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6</a:t>
              </a:r>
            </a:p>
          </p:txBody>
        </p:sp>
        <p:sp>
          <p:nvSpPr>
            <p:cNvPr id="123" name="TextBox 43">
              <a:extLst>
                <a:ext uri="{FF2B5EF4-FFF2-40B4-BE49-F238E27FC236}">
                  <a16:creationId xmlns:a16="http://schemas.microsoft.com/office/drawing/2014/main" id="{92BD2E88-6A04-C07F-B0B8-B4F5844E33D0}"/>
                </a:ext>
              </a:extLst>
            </p:cNvPr>
            <p:cNvSpPr txBox="1"/>
            <p:nvPr/>
          </p:nvSpPr>
          <p:spPr>
            <a:xfrm>
              <a:off x="10078522" y="2916873"/>
              <a:ext cx="1051957" cy="294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未完成任务</a:t>
              </a:r>
            </a:p>
          </p:txBody>
        </p:sp>
        <p:sp>
          <p:nvSpPr>
            <p:cNvPr id="124" name="TextBox 44">
              <a:extLst>
                <a:ext uri="{FF2B5EF4-FFF2-40B4-BE49-F238E27FC236}">
                  <a16:creationId xmlns:a16="http://schemas.microsoft.com/office/drawing/2014/main" id="{C2B83236-3484-3AF0-C30E-CD5656B625DF}"/>
                </a:ext>
              </a:extLst>
            </p:cNvPr>
            <p:cNvSpPr txBox="1"/>
            <p:nvPr/>
          </p:nvSpPr>
          <p:spPr>
            <a:xfrm>
              <a:off x="10241121" y="3201353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进入下一晚</a:t>
              </a:r>
            </a:p>
          </p:txBody>
        </p:sp>
      </p:grpSp>
      <p:grpSp>
        <p:nvGrpSpPr>
          <p:cNvPr id="125" name="Group 50">
            <a:extLst>
              <a:ext uri="{FF2B5EF4-FFF2-40B4-BE49-F238E27FC236}">
                <a16:creationId xmlns:a16="http://schemas.microsoft.com/office/drawing/2014/main" id="{5FE6039B-3C44-A5A7-2B96-4E40D7889F06}"/>
              </a:ext>
            </a:extLst>
          </p:cNvPr>
          <p:cNvGrpSpPr/>
          <p:nvPr/>
        </p:nvGrpSpPr>
        <p:grpSpPr>
          <a:xfrm>
            <a:off x="1206500" y="4095750"/>
            <a:ext cx="9493250" cy="1403350"/>
            <a:chOff x="1206500" y="4095750"/>
            <a:chExt cx="9493250" cy="1403350"/>
          </a:xfrm>
        </p:grpSpPr>
        <p:sp>
          <p:nvSpPr>
            <p:cNvPr id="126" name="Line 46">
              <a:extLst>
                <a:ext uri="{FF2B5EF4-FFF2-40B4-BE49-F238E27FC236}">
                  <a16:creationId xmlns:a16="http://schemas.microsoft.com/office/drawing/2014/main" id="{AC9E115A-6614-975C-2A05-938338BC8002}"/>
                </a:ext>
              </a:extLst>
            </p:cNvPr>
            <p:cNvSpPr/>
            <p:nvPr/>
          </p:nvSpPr>
          <p:spPr>
            <a:xfrm>
              <a:off x="1206500" y="4191000"/>
              <a:ext cx="9296400" cy="9525"/>
            </a:xfrm>
            <a:custGeom>
              <a:avLst/>
              <a:gdLst/>
              <a:ahLst/>
              <a:cxnLst/>
              <a:rect l="l" t="t" r="r" b="b"/>
              <a:pathLst>
                <a:path w="9296400" h="9525">
                  <a:moveTo>
                    <a:pt x="0" y="0"/>
                  </a:moveTo>
                  <a:lnTo>
                    <a:pt x="9296400" y="0"/>
                  </a:lnTo>
                </a:path>
              </a:pathLst>
            </a:custGeom>
            <a:noFill/>
            <a:ln w="38100">
              <a:solidFill>
                <a:srgbClr val="1F665A"/>
              </a:solidFill>
            </a:ln>
          </p:spPr>
        </p:sp>
        <p:sp>
          <p:nvSpPr>
            <p:cNvPr id="127" name="Polygon 47">
              <a:extLst>
                <a:ext uri="{FF2B5EF4-FFF2-40B4-BE49-F238E27FC236}">
                  <a16:creationId xmlns:a16="http://schemas.microsoft.com/office/drawing/2014/main" id="{C24FD75C-AEAC-3DDB-419B-9E86592A2A48}"/>
                </a:ext>
              </a:extLst>
            </p:cNvPr>
            <p:cNvSpPr/>
            <p:nvPr/>
          </p:nvSpPr>
          <p:spPr>
            <a:xfrm>
              <a:off x="10502900" y="4095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1F665A"/>
            </a:solidFill>
            <a:ln>
              <a:noFill/>
            </a:ln>
          </p:spPr>
        </p:sp>
        <p:sp>
          <p:nvSpPr>
            <p:cNvPr id="128" name="Freeform 48">
              <a:extLst>
                <a:ext uri="{FF2B5EF4-FFF2-40B4-BE49-F238E27FC236}">
                  <a16:creationId xmlns:a16="http://schemas.microsoft.com/office/drawing/2014/main" id="{F2E18B9B-0748-33E9-3AB2-F3A6429019DF}"/>
                </a:ext>
              </a:extLst>
            </p:cNvPr>
            <p:cNvSpPr/>
            <p:nvPr/>
          </p:nvSpPr>
          <p:spPr>
            <a:xfrm>
              <a:off x="10604500" y="48895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31750">
              <a:solidFill>
                <a:srgbClr val="1F665A"/>
              </a:solidFill>
            </a:ln>
          </p:spPr>
        </p:sp>
        <p:sp>
          <p:nvSpPr>
            <p:cNvPr id="129" name="Polygon 49">
              <a:extLst>
                <a:ext uri="{FF2B5EF4-FFF2-40B4-BE49-F238E27FC236}">
                  <a16:creationId xmlns:a16="http://schemas.microsoft.com/office/drawing/2014/main" id="{68B0364B-48FD-D4FE-F1A8-AC7E45857ECE}"/>
                </a:ext>
              </a:extLst>
            </p:cNvPr>
            <p:cNvSpPr/>
            <p:nvPr/>
          </p:nvSpPr>
          <p:spPr>
            <a:xfrm>
              <a:off x="10509250" y="53086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95250" y="190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1F665A"/>
            </a:solidFill>
            <a:ln>
              <a:noFill/>
            </a:ln>
          </p:spPr>
        </p:sp>
      </p:grpSp>
      <p:grpSp>
        <p:nvGrpSpPr>
          <p:cNvPr id="130" name="Group 69">
            <a:extLst>
              <a:ext uri="{FF2B5EF4-FFF2-40B4-BE49-F238E27FC236}">
                <a16:creationId xmlns:a16="http://schemas.microsoft.com/office/drawing/2014/main" id="{01F2CD93-E15C-217A-5FDF-6DAB60D056D9}"/>
              </a:ext>
            </a:extLst>
          </p:cNvPr>
          <p:cNvGrpSpPr/>
          <p:nvPr/>
        </p:nvGrpSpPr>
        <p:grpSpPr>
          <a:xfrm>
            <a:off x="517525" y="3509963"/>
            <a:ext cx="10576679" cy="1692275"/>
            <a:chOff x="517525" y="3509963"/>
            <a:chExt cx="10576679" cy="1692275"/>
          </a:xfrm>
        </p:grpSpPr>
        <p:sp>
          <p:nvSpPr>
            <p:cNvPr id="131" name="TextBox 51">
              <a:extLst>
                <a:ext uri="{FF2B5EF4-FFF2-40B4-BE49-F238E27FC236}">
                  <a16:creationId xmlns:a16="http://schemas.microsoft.com/office/drawing/2014/main" id="{C1A08502-D9FD-D398-4B17-E3DE9D531257}"/>
                </a:ext>
              </a:extLst>
            </p:cNvPr>
            <p:cNvSpPr txBox="1"/>
            <p:nvPr/>
          </p:nvSpPr>
          <p:spPr>
            <a:xfrm>
              <a:off x="517525" y="3509963"/>
              <a:ext cx="1720711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1F665A"/>
                  </a:solidFill>
                  <a:latin typeface="Consolas"/>
                  <a:ea typeface="Microsoft YaHei"/>
                  <a:cs typeface="Consolas"/>
                </a:rPr>
                <a:t>家长 Loop · 主动发起</a:t>
              </a:r>
            </a:p>
          </p:txBody>
        </p:sp>
        <p:sp>
          <p:nvSpPr>
            <p:cNvPr id="132" name="Ellipse 52">
              <a:extLst>
                <a:ext uri="{FF2B5EF4-FFF2-40B4-BE49-F238E27FC236}">
                  <a16:creationId xmlns:a16="http://schemas.microsoft.com/office/drawing/2014/main" id="{59741150-EAE1-F3A9-0395-D798AC56233E}"/>
                </a:ext>
              </a:extLst>
            </p:cNvPr>
            <p:cNvSpPr/>
            <p:nvPr/>
          </p:nvSpPr>
          <p:spPr>
            <a:xfrm>
              <a:off x="1054100" y="3911600"/>
              <a:ext cx="558800" cy="558800"/>
            </a:xfrm>
            <a:prstGeom prst="ellipse">
              <a:avLst/>
            </a:prstGeom>
            <a:solidFill>
              <a:srgbClr val="1F665A"/>
            </a:solidFill>
            <a:ln>
              <a:noFill/>
            </a:ln>
          </p:spPr>
        </p:sp>
        <p:sp>
          <p:nvSpPr>
            <p:cNvPr id="133" name="TextBox 53">
              <a:extLst>
                <a:ext uri="{FF2B5EF4-FFF2-40B4-BE49-F238E27FC236}">
                  <a16:creationId xmlns:a16="http://schemas.microsoft.com/office/drawing/2014/main" id="{9612C3B1-2CDC-72F2-8CA4-C54AFDA9BD1F}"/>
                </a:ext>
              </a:extLst>
            </p:cNvPr>
            <p:cNvSpPr txBox="1"/>
            <p:nvPr/>
          </p:nvSpPr>
          <p:spPr>
            <a:xfrm>
              <a:off x="1279576" y="4100830"/>
              <a:ext cx="107848" cy="32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1</a:t>
              </a:r>
            </a:p>
          </p:txBody>
        </p:sp>
        <p:sp>
          <p:nvSpPr>
            <p:cNvPr id="134" name="TextBox 54">
              <a:extLst>
                <a:ext uri="{FF2B5EF4-FFF2-40B4-BE49-F238E27FC236}">
                  <a16:creationId xmlns:a16="http://schemas.microsoft.com/office/drawing/2014/main" id="{902C7CD9-4BC3-BC24-DD0C-11E589BCC2D2}"/>
                </a:ext>
              </a:extLst>
            </p:cNvPr>
            <p:cNvSpPr txBox="1"/>
            <p:nvPr/>
          </p:nvSpPr>
          <p:spPr>
            <a:xfrm>
              <a:off x="749284" y="45405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家长输入观察</a:t>
              </a:r>
            </a:p>
          </p:txBody>
        </p:sp>
        <p:sp>
          <p:nvSpPr>
            <p:cNvPr id="135" name="Ellipse 55">
              <a:extLst>
                <a:ext uri="{FF2B5EF4-FFF2-40B4-BE49-F238E27FC236}">
                  <a16:creationId xmlns:a16="http://schemas.microsoft.com/office/drawing/2014/main" id="{29B18BA6-9D35-1507-31E4-1130AD2331DD}"/>
                </a:ext>
              </a:extLst>
            </p:cNvPr>
            <p:cNvSpPr/>
            <p:nvPr/>
          </p:nvSpPr>
          <p:spPr>
            <a:xfrm>
              <a:off x="3238500" y="3873500"/>
              <a:ext cx="635000" cy="635000"/>
            </a:xfrm>
            <a:prstGeom prst="ellipse">
              <a:avLst/>
            </a:prstGeom>
            <a:solidFill>
              <a:srgbClr val="0A0A0A"/>
            </a:solidFill>
            <a:ln w="44450">
              <a:solidFill>
                <a:srgbClr val="DFFF7A"/>
              </a:solidFill>
            </a:ln>
          </p:spPr>
        </p:sp>
        <p:sp>
          <p:nvSpPr>
            <p:cNvPr id="136" name="TextBox 56">
              <a:extLst>
                <a:ext uri="{FF2B5EF4-FFF2-40B4-BE49-F238E27FC236}">
                  <a16:creationId xmlns:a16="http://schemas.microsoft.com/office/drawing/2014/main" id="{9FD50E4E-9A13-E370-FD38-757A8D448AED}"/>
                </a:ext>
              </a:extLst>
            </p:cNvPr>
            <p:cNvSpPr txBox="1"/>
            <p:nvPr/>
          </p:nvSpPr>
          <p:spPr>
            <a:xfrm>
              <a:off x="3474072" y="4100830"/>
              <a:ext cx="163855" cy="32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DFFF7A"/>
                  </a:solidFill>
                  <a:latin typeface="Microsoft YaHei UI"/>
                  <a:ea typeface="Microsoft YaHei"/>
                  <a:cs typeface="Microsoft YaHei UI"/>
                </a:rPr>
                <a:t>2</a:t>
              </a:r>
            </a:p>
          </p:txBody>
        </p:sp>
        <p:sp>
          <p:nvSpPr>
            <p:cNvPr id="137" name="TextBox 57">
              <a:extLst>
                <a:ext uri="{FF2B5EF4-FFF2-40B4-BE49-F238E27FC236}">
                  <a16:creationId xmlns:a16="http://schemas.microsoft.com/office/drawing/2014/main" id="{2BB53CDD-DE4E-8AE8-1515-FFF9F14630C0}"/>
                </a:ext>
              </a:extLst>
            </p:cNvPr>
            <p:cNvSpPr txBox="1"/>
            <p:nvPr/>
          </p:nvSpPr>
          <p:spPr>
            <a:xfrm>
              <a:off x="2984341" y="4529773"/>
              <a:ext cx="1143318" cy="294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Gemma 提取</a:t>
              </a:r>
            </a:p>
          </p:txBody>
        </p:sp>
        <p:sp>
          <p:nvSpPr>
            <p:cNvPr id="138" name="TextBox 58">
              <a:extLst>
                <a:ext uri="{FF2B5EF4-FFF2-40B4-BE49-F238E27FC236}">
                  <a16:creationId xmlns:a16="http://schemas.microsoft.com/office/drawing/2014/main" id="{921CBCC3-EFD3-FFF5-0355-4487EBD0D5CC}"/>
                </a:ext>
              </a:extLst>
            </p:cNvPr>
            <p:cNvSpPr txBox="1"/>
            <p:nvPr/>
          </p:nvSpPr>
          <p:spPr>
            <a:xfrm>
              <a:off x="2982595" y="4763453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从观察中提取证据</a:t>
              </a:r>
            </a:p>
          </p:txBody>
        </p:sp>
        <p:sp>
          <p:nvSpPr>
            <p:cNvPr id="139" name="Ellipse 59">
              <a:extLst>
                <a:ext uri="{FF2B5EF4-FFF2-40B4-BE49-F238E27FC236}">
                  <a16:creationId xmlns:a16="http://schemas.microsoft.com/office/drawing/2014/main" id="{6BBB09F0-0D64-817E-340C-86E8A602DB74}"/>
                </a:ext>
              </a:extLst>
            </p:cNvPr>
            <p:cNvSpPr/>
            <p:nvPr/>
          </p:nvSpPr>
          <p:spPr>
            <a:xfrm>
              <a:off x="5562600" y="3911600"/>
              <a:ext cx="558800" cy="558800"/>
            </a:xfrm>
            <a:prstGeom prst="ellipse">
              <a:avLst/>
            </a:prstGeom>
            <a:solidFill>
              <a:srgbClr val="1F665A"/>
            </a:solidFill>
            <a:ln>
              <a:noFill/>
            </a:ln>
          </p:spPr>
        </p:sp>
        <p:sp>
          <p:nvSpPr>
            <p:cNvPr id="140" name="TextBox 60">
              <a:extLst>
                <a:ext uri="{FF2B5EF4-FFF2-40B4-BE49-F238E27FC236}">
                  <a16:creationId xmlns:a16="http://schemas.microsoft.com/office/drawing/2014/main" id="{34BE9FED-8AE8-80B3-BCC2-EF16248C8734}"/>
                </a:ext>
              </a:extLst>
            </p:cNvPr>
            <p:cNvSpPr txBox="1"/>
            <p:nvPr/>
          </p:nvSpPr>
          <p:spPr>
            <a:xfrm>
              <a:off x="5760072" y="4100830"/>
              <a:ext cx="163855" cy="32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3</a:t>
              </a:r>
            </a:p>
          </p:txBody>
        </p:sp>
        <p:sp>
          <p:nvSpPr>
            <p:cNvPr id="141" name="TextBox 61">
              <a:extLst>
                <a:ext uri="{FF2B5EF4-FFF2-40B4-BE49-F238E27FC236}">
                  <a16:creationId xmlns:a16="http://schemas.microsoft.com/office/drawing/2014/main" id="{200763EF-48C6-022C-83DF-3F22A3BB123B}"/>
                </a:ext>
              </a:extLst>
            </p:cNvPr>
            <p:cNvSpPr txBox="1"/>
            <p:nvPr/>
          </p:nvSpPr>
          <p:spPr>
            <a:xfrm>
              <a:off x="5257784" y="45405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程序计算建议</a:t>
              </a:r>
            </a:p>
          </p:txBody>
        </p:sp>
        <p:sp>
          <p:nvSpPr>
            <p:cNvPr id="142" name="Ellipse 62">
              <a:extLst>
                <a:ext uri="{FF2B5EF4-FFF2-40B4-BE49-F238E27FC236}">
                  <a16:creationId xmlns:a16="http://schemas.microsoft.com/office/drawing/2014/main" id="{5A82E3B5-AB0B-ACC7-846D-4FFE5B3FA7F7}"/>
                </a:ext>
              </a:extLst>
            </p:cNvPr>
            <p:cNvSpPr/>
            <p:nvPr/>
          </p:nvSpPr>
          <p:spPr>
            <a:xfrm>
              <a:off x="7810500" y="3873500"/>
              <a:ext cx="635000" cy="635000"/>
            </a:xfrm>
            <a:prstGeom prst="ellipse">
              <a:avLst/>
            </a:prstGeom>
            <a:solidFill>
              <a:srgbClr val="DFFF7A"/>
            </a:solidFill>
            <a:ln w="31750">
              <a:solidFill>
                <a:srgbClr val="1F665A"/>
              </a:solidFill>
            </a:ln>
          </p:spPr>
        </p:sp>
        <p:sp>
          <p:nvSpPr>
            <p:cNvPr id="143" name="TextBox 63">
              <a:extLst>
                <a:ext uri="{FF2B5EF4-FFF2-40B4-BE49-F238E27FC236}">
                  <a16:creationId xmlns:a16="http://schemas.microsoft.com/office/drawing/2014/main" id="{2A38EA13-E94F-8F25-D0A7-99EA6E7C7EB7}"/>
                </a:ext>
              </a:extLst>
            </p:cNvPr>
            <p:cNvSpPr txBox="1"/>
            <p:nvPr/>
          </p:nvSpPr>
          <p:spPr>
            <a:xfrm>
              <a:off x="8046072" y="4100830"/>
              <a:ext cx="163855" cy="32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4</a:t>
              </a:r>
            </a:p>
          </p:txBody>
        </p:sp>
        <p:sp>
          <p:nvSpPr>
            <p:cNvPr id="144" name="TextBox 64">
              <a:extLst>
                <a:ext uri="{FF2B5EF4-FFF2-40B4-BE49-F238E27FC236}">
                  <a16:creationId xmlns:a16="http://schemas.microsoft.com/office/drawing/2014/main" id="{F09641E3-522E-948D-5336-6341F6AE3E53}"/>
                </a:ext>
              </a:extLst>
            </p:cNvPr>
            <p:cNvSpPr txBox="1"/>
            <p:nvPr/>
          </p:nvSpPr>
          <p:spPr>
            <a:xfrm>
              <a:off x="7354761" y="4540568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家长校准作业时间</a:t>
              </a:r>
            </a:p>
          </p:txBody>
        </p:sp>
        <p:sp>
          <p:nvSpPr>
            <p:cNvPr id="145" name="Ellipse 65">
              <a:extLst>
                <a:ext uri="{FF2B5EF4-FFF2-40B4-BE49-F238E27FC236}">
                  <a16:creationId xmlns:a16="http://schemas.microsoft.com/office/drawing/2014/main" id="{9160034B-B5CF-CD7D-21D1-0EF21B3C975C}"/>
                </a:ext>
              </a:extLst>
            </p:cNvPr>
            <p:cNvSpPr/>
            <p:nvPr/>
          </p:nvSpPr>
          <p:spPr>
            <a:xfrm>
              <a:off x="10325100" y="3911600"/>
              <a:ext cx="558800" cy="558800"/>
            </a:xfrm>
            <a:prstGeom prst="ellipse">
              <a:avLst/>
            </a:prstGeom>
            <a:solidFill>
              <a:srgbClr val="1F665A"/>
            </a:solidFill>
            <a:ln>
              <a:noFill/>
            </a:ln>
          </p:spPr>
        </p:sp>
        <p:sp>
          <p:nvSpPr>
            <p:cNvPr id="146" name="TextBox 66">
              <a:extLst>
                <a:ext uri="{FF2B5EF4-FFF2-40B4-BE49-F238E27FC236}">
                  <a16:creationId xmlns:a16="http://schemas.microsoft.com/office/drawing/2014/main" id="{5440A9FC-2889-C271-4CF1-D85194A66BC6}"/>
                </a:ext>
              </a:extLst>
            </p:cNvPr>
            <p:cNvSpPr txBox="1"/>
            <p:nvPr/>
          </p:nvSpPr>
          <p:spPr>
            <a:xfrm>
              <a:off x="10522572" y="4100830"/>
              <a:ext cx="163855" cy="32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5</a:t>
              </a:r>
            </a:p>
          </p:txBody>
        </p:sp>
        <p:sp>
          <p:nvSpPr>
            <p:cNvPr id="147" name="TextBox 67">
              <a:extLst>
                <a:ext uri="{FF2B5EF4-FFF2-40B4-BE49-F238E27FC236}">
                  <a16:creationId xmlns:a16="http://schemas.microsoft.com/office/drawing/2014/main" id="{9202B4C2-D260-260A-1065-79F1AC99B24A}"/>
                </a:ext>
              </a:extLst>
            </p:cNvPr>
            <p:cNvSpPr txBox="1"/>
            <p:nvPr/>
          </p:nvSpPr>
          <p:spPr>
            <a:xfrm>
              <a:off x="10114796" y="45405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新画像版本</a:t>
              </a:r>
            </a:p>
          </p:txBody>
        </p:sp>
        <p:sp>
          <p:nvSpPr>
            <p:cNvPr id="148" name="TextBox 68">
              <a:extLst>
                <a:ext uri="{FF2B5EF4-FFF2-40B4-BE49-F238E27FC236}">
                  <a16:creationId xmlns:a16="http://schemas.microsoft.com/office/drawing/2014/main" id="{99FA92E8-140B-54F4-AB51-AFC55AAA874B}"/>
                </a:ext>
              </a:extLst>
            </p:cNvPr>
            <p:cNvSpPr txBox="1"/>
            <p:nvPr/>
          </p:nvSpPr>
          <p:spPr>
            <a:xfrm>
              <a:off x="518795" y="4968558"/>
              <a:ext cx="3893693" cy="23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50" b="1" dirty="0">
                  <a:solidFill>
                    <a:srgbClr val="1F665A"/>
                  </a:solidFill>
                  <a:latin typeface="Microsoft YaHei UI"/>
                  <a:ea typeface="Microsoft YaHei"/>
                  <a:cs typeface="Microsoft YaHei UI"/>
                </a:rPr>
                <a:t>家长主动发起、主动确认；不是模型在后台自己学习。</a:t>
              </a:r>
            </a:p>
          </p:txBody>
        </p:sp>
      </p:grpSp>
      <p:grpSp>
        <p:nvGrpSpPr>
          <p:cNvPr id="149" name="Group 77">
            <a:extLst>
              <a:ext uri="{FF2B5EF4-FFF2-40B4-BE49-F238E27FC236}">
                <a16:creationId xmlns:a16="http://schemas.microsoft.com/office/drawing/2014/main" id="{37EB1EAD-F9F2-F305-9058-FAE9204284CF}"/>
              </a:ext>
            </a:extLst>
          </p:cNvPr>
          <p:cNvGrpSpPr/>
          <p:nvPr/>
        </p:nvGrpSpPr>
        <p:grpSpPr>
          <a:xfrm>
            <a:off x="533400" y="5397500"/>
            <a:ext cx="11125200" cy="809625"/>
            <a:chOff x="533400" y="5397500"/>
            <a:chExt cx="11125200" cy="809625"/>
          </a:xfrm>
        </p:grpSpPr>
        <p:sp>
          <p:nvSpPr>
            <p:cNvPr id="150" name="Polygon 70">
              <a:extLst>
                <a:ext uri="{FF2B5EF4-FFF2-40B4-BE49-F238E27FC236}">
                  <a16:creationId xmlns:a16="http://schemas.microsoft.com/office/drawing/2014/main" id="{7F792F81-8792-E9C0-7902-A6B3F426188B}"/>
                </a:ext>
              </a:extLst>
            </p:cNvPr>
            <p:cNvSpPr/>
            <p:nvPr/>
          </p:nvSpPr>
          <p:spPr>
            <a:xfrm>
              <a:off x="533400" y="5397500"/>
              <a:ext cx="3302000" cy="762000"/>
            </a:xfrm>
            <a:custGeom>
              <a:avLst/>
              <a:gdLst/>
              <a:ahLst/>
              <a:cxnLst/>
              <a:rect l="l" t="t" r="r" b="b"/>
              <a:pathLst>
                <a:path w="3302000" h="762000">
                  <a:moveTo>
                    <a:pt x="0" y="0"/>
                  </a:moveTo>
                  <a:lnTo>
                    <a:pt x="2921000" y="0"/>
                  </a:lnTo>
                  <a:lnTo>
                    <a:pt x="3302000" y="381000"/>
                  </a:lnTo>
                  <a:lnTo>
                    <a:pt x="2921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</p:sp>
        <p:sp>
          <p:nvSpPr>
            <p:cNvPr id="151" name="TextBox 71">
              <a:extLst>
                <a:ext uri="{FF2B5EF4-FFF2-40B4-BE49-F238E27FC236}">
                  <a16:creationId xmlns:a16="http://schemas.microsoft.com/office/drawing/2014/main" id="{3FAFCB87-3AE8-18B3-3F77-8D8EFF6E992A}"/>
                </a:ext>
              </a:extLst>
            </p:cNvPr>
            <p:cNvSpPr txBox="1"/>
            <p:nvPr/>
          </p:nvSpPr>
          <p:spPr>
            <a:xfrm>
              <a:off x="1317387" y="5662295"/>
              <a:ext cx="1378426" cy="386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待完成任务</a:t>
              </a:r>
            </a:p>
          </p:txBody>
        </p:sp>
        <p:sp>
          <p:nvSpPr>
            <p:cNvPr id="152" name="Rectangle 72">
              <a:extLst>
                <a:ext uri="{FF2B5EF4-FFF2-40B4-BE49-F238E27FC236}">
                  <a16:creationId xmlns:a16="http://schemas.microsoft.com/office/drawing/2014/main" id="{29E20F5C-C37B-16DD-02A6-5CF5887045B5}"/>
                </a:ext>
              </a:extLst>
            </p:cNvPr>
            <p:cNvSpPr/>
            <p:nvPr/>
          </p:nvSpPr>
          <p:spPr>
            <a:xfrm>
              <a:off x="3454400" y="5397500"/>
              <a:ext cx="5283200" cy="7620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153" name="TextBox 73">
              <a:extLst>
                <a:ext uri="{FF2B5EF4-FFF2-40B4-BE49-F238E27FC236}">
                  <a16:creationId xmlns:a16="http://schemas.microsoft.com/office/drawing/2014/main" id="{92AB622D-18B0-A72F-8409-C75D135A9F0D}"/>
                </a:ext>
              </a:extLst>
            </p:cNvPr>
            <p:cNvSpPr txBox="1"/>
            <p:nvPr/>
          </p:nvSpPr>
          <p:spPr>
            <a:xfrm>
              <a:off x="4761315" y="5545455"/>
              <a:ext cx="2669370" cy="223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0A0A0A"/>
                  </a:solidFill>
                  <a:latin typeface="Consolas"/>
                  <a:ea typeface="Microsoft YaHei"/>
                  <a:cs typeface="Consolas"/>
                </a:rPr>
                <a:t>MERGE INTO ONE DETERMINISTIC CORE</a:t>
              </a:r>
            </a:p>
          </p:txBody>
        </p:sp>
        <p:sp>
          <p:nvSpPr>
            <p:cNvPr id="154" name="TextBox 74">
              <a:extLst>
                <a:ext uri="{FF2B5EF4-FFF2-40B4-BE49-F238E27FC236}">
                  <a16:creationId xmlns:a16="http://schemas.microsoft.com/office/drawing/2014/main" id="{A70E7EA7-0E93-FC48-C932-76F7ADAF4769}"/>
                </a:ext>
              </a:extLst>
            </p:cNvPr>
            <p:cNvSpPr txBox="1"/>
            <p:nvPr/>
          </p:nvSpPr>
          <p:spPr>
            <a:xfrm>
              <a:off x="5334238" y="578040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下一晚规划</a:t>
              </a:r>
            </a:p>
          </p:txBody>
        </p:sp>
        <p:sp>
          <p:nvSpPr>
            <p:cNvPr id="155" name="Polygon 75">
              <a:extLst>
                <a:ext uri="{FF2B5EF4-FFF2-40B4-BE49-F238E27FC236}">
                  <a16:creationId xmlns:a16="http://schemas.microsoft.com/office/drawing/2014/main" id="{3D5ED1BF-BF08-A570-8720-B4636674DBC5}"/>
                </a:ext>
              </a:extLst>
            </p:cNvPr>
            <p:cNvSpPr/>
            <p:nvPr/>
          </p:nvSpPr>
          <p:spPr>
            <a:xfrm>
              <a:off x="8356600" y="5397500"/>
              <a:ext cx="3302000" cy="762000"/>
            </a:xfrm>
            <a:custGeom>
              <a:avLst/>
              <a:gdLst/>
              <a:ahLst/>
              <a:cxnLst/>
              <a:rect l="l" t="t" r="r" b="b"/>
              <a:pathLst>
                <a:path w="3302000" h="762000">
                  <a:moveTo>
                    <a:pt x="381000" y="0"/>
                  </a:moveTo>
                  <a:lnTo>
                    <a:pt x="3302000" y="0"/>
                  </a:lnTo>
                  <a:lnTo>
                    <a:pt x="3302000" y="762000"/>
                  </a:lnTo>
                  <a:lnTo>
                    <a:pt x="381000" y="762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1F665A"/>
            </a:solidFill>
            <a:ln>
              <a:noFill/>
            </a:ln>
          </p:spPr>
        </p:sp>
        <p:sp>
          <p:nvSpPr>
            <p:cNvPr id="156" name="TextBox 76">
              <a:extLst>
                <a:ext uri="{FF2B5EF4-FFF2-40B4-BE49-F238E27FC236}">
                  <a16:creationId xmlns:a16="http://schemas.microsoft.com/office/drawing/2014/main" id="{0CB03902-BFD5-81B0-BE54-9833C4D08B0E}"/>
                </a:ext>
              </a:extLst>
            </p:cNvPr>
            <p:cNvSpPr txBox="1"/>
            <p:nvPr/>
          </p:nvSpPr>
          <p:spPr>
            <a:xfrm>
              <a:off x="9077754" y="5662295"/>
              <a:ext cx="1910493" cy="386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已确认家庭画像</a:t>
              </a:r>
            </a:p>
          </p:txBody>
        </p:sp>
      </p:grpSp>
      <p:grpSp>
        <p:nvGrpSpPr>
          <p:cNvPr id="157" name="Group 80">
            <a:extLst>
              <a:ext uri="{FF2B5EF4-FFF2-40B4-BE49-F238E27FC236}">
                <a16:creationId xmlns:a16="http://schemas.microsoft.com/office/drawing/2014/main" id="{1F8052C8-FFF0-1D49-89A0-7EAA97F40106}"/>
              </a:ext>
            </a:extLst>
          </p:cNvPr>
          <p:cNvGrpSpPr/>
          <p:nvPr/>
        </p:nvGrpSpPr>
        <p:grpSpPr>
          <a:xfrm>
            <a:off x="518160" y="6490018"/>
            <a:ext cx="11157585" cy="274320"/>
            <a:chOff x="518160" y="6490018"/>
            <a:chExt cx="11157585" cy="274320"/>
          </a:xfrm>
        </p:grpSpPr>
        <p:sp>
          <p:nvSpPr>
            <p:cNvPr id="158" name="TextBox 78">
              <a:extLst>
                <a:ext uri="{FF2B5EF4-FFF2-40B4-BE49-F238E27FC236}">
                  <a16:creationId xmlns:a16="http://schemas.microsoft.com/office/drawing/2014/main" id="{9D8C9067-91F1-48B3-C1CA-C97FE7036A8D}"/>
                </a:ext>
              </a:extLst>
            </p:cNvPr>
            <p:cNvSpPr txBox="1"/>
            <p:nvPr/>
          </p:nvSpPr>
          <p:spPr>
            <a:xfrm>
              <a:off x="518160" y="6506210"/>
              <a:ext cx="59432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D6D69"/>
                  </a:solidFill>
                  <a:latin typeface="Consolas"/>
                  <a:ea typeface="Microsoft YaHei"/>
                  <a:cs typeface="Consolas"/>
                </a:rPr>
                <a:t>Gemma understands / people authorize / Python computes / state continues</a:t>
              </a:r>
            </a:p>
          </p:txBody>
        </p:sp>
        <p:sp>
          <p:nvSpPr>
            <p:cNvPr id="159" name="TextBox 79">
              <a:extLst>
                <a:ext uri="{FF2B5EF4-FFF2-40B4-BE49-F238E27FC236}">
                  <a16:creationId xmlns:a16="http://schemas.microsoft.com/office/drawing/2014/main" id="{79625534-B9FA-CF74-9938-5FD0045478DB}"/>
                </a:ext>
              </a:extLst>
            </p:cNvPr>
            <p:cNvSpPr txBox="1"/>
            <p:nvPr/>
          </p:nvSpPr>
          <p:spPr>
            <a:xfrm>
              <a:off x="11433529" y="64900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002FA7"/>
                  </a:solidFill>
                  <a:latin typeface="Microsoft YaHei UI"/>
                  <a:ea typeface="Microsoft YaHei"/>
                  <a:cs typeface="Microsoft YaHei UI"/>
                </a:rPr>
                <a:t>08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D043ADB-3B84-655B-B24D-4C174A983C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85DD75A-9B8F-4229-2286-E0CB799BD38C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2FA7"/>
          </a:solidFill>
          <a:ln>
            <a:noFill/>
          </a:ln>
        </p:spPr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34EB4178-5A7D-820B-D422-454B5DED922C}"/>
              </a:ext>
            </a:extLst>
          </p:cNvPr>
          <p:cNvGrpSpPr/>
          <p:nvPr/>
        </p:nvGrpSpPr>
        <p:grpSpPr>
          <a:xfrm>
            <a:off x="492760" y="311468"/>
            <a:ext cx="11187430" cy="1298257"/>
            <a:chOff x="492760" y="311468"/>
            <a:chExt cx="11187430" cy="1298257"/>
          </a:xfrm>
        </p:grpSpPr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3888254B-F036-8625-723A-2AA2365A9166}"/>
                </a:ext>
              </a:extLst>
            </p:cNvPr>
            <p:cNvSpPr txBox="1"/>
            <p:nvPr/>
          </p:nvSpPr>
          <p:spPr>
            <a:xfrm>
              <a:off x="516255" y="311468"/>
              <a:ext cx="35312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2FA7"/>
                  </a:solidFill>
                  <a:latin typeface="Consolas"/>
                  <a:ea typeface="Microsoft YaHei"/>
                  <a:cs typeface="Consolas"/>
                </a:rPr>
                <a:t>09 / VALIDATION BEFORE PRODUCT FORM</a:t>
              </a:r>
            </a:p>
          </p:txBody>
        </p:sp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57E8CB14-DE81-D934-45B5-134524ED084C}"/>
                </a:ext>
              </a:extLst>
            </p:cNvPr>
            <p:cNvSpPr txBox="1"/>
            <p:nvPr/>
          </p:nvSpPr>
          <p:spPr>
            <a:xfrm>
              <a:off x="492760" y="657860"/>
              <a:ext cx="7698232" cy="650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先证明孩子真的受益，再讨论产品形态</a:t>
              </a: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216E6D0C-3D71-E21C-78D2-CA2182178DC7}"/>
                </a:ext>
              </a:extLst>
            </p:cNvPr>
            <p:cNvSpPr txBox="1"/>
            <p:nvPr/>
          </p:nvSpPr>
          <p:spPr>
            <a:xfrm>
              <a:off x="510540" y="1202690"/>
              <a:ext cx="65265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商业化有可能，但要先把真实家庭连续用好；这条路会很难。</a:t>
              </a: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339381D5-98D7-8C71-A9CD-22396637D653}"/>
                </a:ext>
              </a:extLst>
            </p:cNvPr>
            <p:cNvSpPr txBox="1"/>
            <p:nvPr/>
          </p:nvSpPr>
          <p:spPr>
            <a:xfrm>
              <a:off x="9054387" y="1213485"/>
              <a:ext cx="2625803" cy="345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700" b="1" dirty="0">
                  <a:solidFill>
                    <a:srgbClr val="1F665A"/>
                  </a:solidFill>
                  <a:latin typeface="Microsoft YaHei UI"/>
                  <a:ea typeface="Microsoft YaHei"/>
                  <a:cs typeface="Microsoft YaHei UI"/>
                </a:rPr>
                <a:t>当前真实家庭证据：0 晚</a:t>
              </a:r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4F5B6066-A5D6-D981-82AA-EB3ADCCCE898}"/>
                </a:ext>
              </a:extLst>
            </p:cNvPr>
            <p:cNvSpPr/>
            <p:nvPr/>
          </p:nvSpPr>
          <p:spPr>
            <a:xfrm>
              <a:off x="533400" y="16002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D8D8D4"/>
              </a:solidFill>
            </a:ln>
          </p:spPr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746FC7-1D6F-B0BD-2998-75AB3F16FA78}"/>
              </a:ext>
            </a:extLst>
          </p:cNvPr>
          <p:cNvGrpSpPr/>
          <p:nvPr/>
        </p:nvGrpSpPr>
        <p:grpSpPr>
          <a:xfrm>
            <a:off x="514985" y="1913573"/>
            <a:ext cx="7373938" cy="294640"/>
            <a:chOff x="514985" y="1913573"/>
            <a:chExt cx="7373938" cy="294640"/>
          </a:xfrm>
        </p:grpSpPr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18DFFE78-D8C9-0364-117D-C02418EBB620}"/>
                </a:ext>
              </a:extLst>
            </p:cNvPr>
            <p:cNvSpPr txBox="1"/>
            <p:nvPr/>
          </p:nvSpPr>
          <p:spPr>
            <a:xfrm>
              <a:off x="514985" y="1913573"/>
              <a:ext cx="2879185" cy="294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50" b="1" dirty="0">
                  <a:solidFill>
                    <a:srgbClr val="0A0A0A"/>
                  </a:solidFill>
                  <a:latin typeface="Microsoft YaHei UI"/>
                  <a:ea typeface="Microsoft YaHei"/>
                  <a:cs typeface="Microsoft YaHei UI"/>
                </a:rPr>
                <a:t>今天能够证明：系统可以运行。</a:t>
              </a:r>
            </a:p>
          </p:txBody>
        </p:sp>
        <p:sp>
          <p:nvSpPr>
            <p:cNvPr id="15" name="TextBox 11">
              <a:extLst>
                <a:ext uri="{FF2B5EF4-FFF2-40B4-BE49-F238E27FC236}">
                  <a16:creationId xmlns:a16="http://schemas.microsoft.com/office/drawing/2014/main" id="{EFF9D8FD-1CFA-0A57-C607-441BCA398E6E}"/>
                </a:ext>
              </a:extLst>
            </p:cNvPr>
            <p:cNvSpPr txBox="1"/>
            <p:nvPr/>
          </p:nvSpPr>
          <p:spPr>
            <a:xfrm>
              <a:off x="3791585" y="1913573"/>
              <a:ext cx="4097338" cy="294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50" b="1" dirty="0">
                  <a:solidFill>
                    <a:srgbClr val="6D6D69"/>
                  </a:solidFill>
                  <a:latin typeface="Microsoft YaHei UI"/>
                  <a:ea typeface="Microsoft YaHei"/>
                  <a:cs typeface="Microsoft YaHei UI"/>
                </a:rPr>
                <a:t>接下来必须证明：它在真实生活里确实有用。</a:t>
              </a:r>
            </a:p>
          </p:txBody>
        </p:sp>
      </p:grpSp>
      <p:grpSp>
        <p:nvGrpSpPr>
          <p:cNvPr id="16" name="Group 47">
            <a:extLst>
              <a:ext uri="{FF2B5EF4-FFF2-40B4-BE49-F238E27FC236}">
                <a16:creationId xmlns:a16="http://schemas.microsoft.com/office/drawing/2014/main" id="{F81022B7-06CA-D5AA-CC19-3222130EC0D6}"/>
              </a:ext>
            </a:extLst>
          </p:cNvPr>
          <p:cNvGrpSpPr/>
          <p:nvPr/>
        </p:nvGrpSpPr>
        <p:grpSpPr>
          <a:xfrm>
            <a:off x="533400" y="2171700"/>
            <a:ext cx="11125200" cy="3873500"/>
            <a:chOff x="533400" y="2171700"/>
            <a:chExt cx="11125200" cy="3873500"/>
          </a:xfrm>
        </p:grpSpPr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C69452ED-95DB-26B8-32F4-DAF854F5892C}"/>
                </a:ext>
              </a:extLst>
            </p:cNvPr>
            <p:cNvSpPr/>
            <p:nvPr/>
          </p:nvSpPr>
          <p:spPr>
            <a:xfrm>
              <a:off x="533400" y="3987800"/>
              <a:ext cx="2667000" cy="20574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A90AD7EB-9C89-CA9D-C453-D383F1718AF0}"/>
                </a:ext>
              </a:extLst>
            </p:cNvPr>
            <p:cNvSpPr/>
            <p:nvPr/>
          </p:nvSpPr>
          <p:spPr>
            <a:xfrm>
              <a:off x="533400" y="3987800"/>
              <a:ext cx="2667000" cy="1016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19" name="TextBox 15">
              <a:extLst>
                <a:ext uri="{FF2B5EF4-FFF2-40B4-BE49-F238E27FC236}">
                  <a16:creationId xmlns:a16="http://schemas.microsoft.com/office/drawing/2014/main" id="{09F5F3DC-5009-9B16-0F1B-5603A5A3EC9A}"/>
                </a:ext>
              </a:extLst>
            </p:cNvPr>
            <p:cNvSpPr txBox="1"/>
            <p:nvPr/>
          </p:nvSpPr>
          <p:spPr>
            <a:xfrm>
              <a:off x="771525" y="4310063"/>
              <a:ext cx="740589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01 / NOW</a:t>
              </a:r>
            </a:p>
          </p:txBody>
        </p:sp>
        <p:sp>
          <p:nvSpPr>
            <p:cNvPr id="20" name="TextBox 16">
              <a:extLst>
                <a:ext uri="{FF2B5EF4-FFF2-40B4-BE49-F238E27FC236}">
                  <a16:creationId xmlns:a16="http://schemas.microsoft.com/office/drawing/2014/main" id="{B7527E09-1426-3598-C299-B1E584AF3F94}"/>
                </a:ext>
              </a:extLst>
            </p:cNvPr>
            <p:cNvSpPr txBox="1"/>
            <p:nvPr/>
          </p:nvSpPr>
          <p:spPr>
            <a:xfrm>
              <a:off x="760730" y="467550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已经可以运行</a:t>
              </a:r>
            </a:p>
          </p:txBody>
        </p:sp>
        <p:sp>
          <p:nvSpPr>
            <p:cNvPr id="21" name="TextBox 17">
              <a:extLst>
                <a:ext uri="{FF2B5EF4-FFF2-40B4-BE49-F238E27FC236}">
                  <a16:creationId xmlns:a16="http://schemas.microsoft.com/office/drawing/2014/main" id="{0CA1EEFE-0639-E0FB-39AC-AA7D3DAF6FEF}"/>
                </a:ext>
              </a:extLst>
            </p:cNvPr>
            <p:cNvSpPr txBox="1"/>
            <p:nvPr/>
          </p:nvSpPr>
          <p:spPr>
            <a:xfrm>
              <a:off x="768350" y="5121275"/>
              <a:ext cx="12682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本地 · 可解释</a:t>
              </a:r>
            </a:p>
          </p:txBody>
        </p:sp>
        <p:sp>
          <p:nvSpPr>
            <p:cNvPr id="22" name="Line 18">
              <a:extLst>
                <a:ext uri="{FF2B5EF4-FFF2-40B4-BE49-F238E27FC236}">
                  <a16:creationId xmlns:a16="http://schemas.microsoft.com/office/drawing/2014/main" id="{56BE03DE-34D7-AE8F-7E9D-4B99C6A0BD4A}"/>
                </a:ext>
              </a:extLst>
            </p:cNvPr>
            <p:cNvSpPr/>
            <p:nvPr/>
          </p:nvSpPr>
          <p:spPr>
            <a:xfrm>
              <a:off x="787400" y="5461000"/>
              <a:ext cx="2146300" cy="9525"/>
            </a:xfrm>
            <a:custGeom>
              <a:avLst/>
              <a:gdLst/>
              <a:ahLst/>
              <a:cxnLst/>
              <a:rect l="l" t="t" r="r" b="b"/>
              <a:pathLst>
                <a:path w="2146300" h="9525">
                  <a:moveTo>
                    <a:pt x="0" y="0"/>
                  </a:moveTo>
                  <a:lnTo>
                    <a:pt x="2146300" y="0"/>
                  </a:lnTo>
                </a:path>
              </a:pathLst>
            </a:custGeom>
            <a:noFill/>
            <a:ln w="12700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23" name="TextBox 19">
              <a:extLst>
                <a:ext uri="{FF2B5EF4-FFF2-40B4-BE49-F238E27FC236}">
                  <a16:creationId xmlns:a16="http://schemas.microsoft.com/office/drawing/2014/main" id="{D2D09325-6413-23C6-1E20-61861668242E}"/>
                </a:ext>
              </a:extLst>
            </p:cNvPr>
            <p:cNvSpPr txBox="1"/>
            <p:nvPr/>
          </p:nvSpPr>
          <p:spPr>
            <a:xfrm>
              <a:off x="772160" y="563626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68000"/>
                    </a:srgbClr>
                  </a:solidFill>
                  <a:latin typeface="Microsoft YaHei UI"/>
                  <a:ea typeface="Microsoft YaHei"/>
                  <a:cs typeface="Microsoft YaHei UI"/>
                </a:rPr>
                <a:t>但效果仍待真实生活验证</a:t>
              </a:r>
            </a:p>
          </p:txBody>
        </p:sp>
        <p:sp>
          <p:nvSpPr>
            <p:cNvPr id="24" name="Rectangle 20">
              <a:extLst>
                <a:ext uri="{FF2B5EF4-FFF2-40B4-BE49-F238E27FC236}">
                  <a16:creationId xmlns:a16="http://schemas.microsoft.com/office/drawing/2014/main" id="{EBA88C8A-0259-1C47-C90E-E8B2D5C3798F}"/>
                </a:ext>
              </a:extLst>
            </p:cNvPr>
            <p:cNvSpPr/>
            <p:nvPr/>
          </p:nvSpPr>
          <p:spPr>
            <a:xfrm>
              <a:off x="3200400" y="3009900"/>
              <a:ext cx="4191000" cy="3035300"/>
            </a:xfrm>
            <a:prstGeom prst="rect">
              <a:avLst/>
            </a:prstGeom>
            <a:solidFill>
              <a:srgbClr val="002FA7"/>
            </a:solidFill>
            <a:ln>
              <a:noFill/>
            </a:ln>
          </p:spPr>
        </p:sp>
        <p:sp>
          <p:nvSpPr>
            <p:cNvPr id="25" name="Rectangle 21">
              <a:extLst>
                <a:ext uri="{FF2B5EF4-FFF2-40B4-BE49-F238E27FC236}">
                  <a16:creationId xmlns:a16="http://schemas.microsoft.com/office/drawing/2014/main" id="{D92789FD-BB7F-25E2-6E60-9BE26D95FD8B}"/>
                </a:ext>
              </a:extLst>
            </p:cNvPr>
            <p:cNvSpPr/>
            <p:nvPr/>
          </p:nvSpPr>
          <p:spPr>
            <a:xfrm>
              <a:off x="3200400" y="3009900"/>
              <a:ext cx="4191000" cy="1016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26" name="TextBox 22">
              <a:extLst>
                <a:ext uri="{FF2B5EF4-FFF2-40B4-BE49-F238E27FC236}">
                  <a16:creationId xmlns:a16="http://schemas.microsoft.com/office/drawing/2014/main" id="{C3E37A84-0940-FB6B-C8B3-F53FBB8A79E6}"/>
                </a:ext>
              </a:extLst>
            </p:cNvPr>
            <p:cNvSpPr txBox="1"/>
            <p:nvPr/>
          </p:nvSpPr>
          <p:spPr>
            <a:xfrm>
              <a:off x="3463925" y="3332163"/>
              <a:ext cx="1151890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02 / REAL USE</a:t>
              </a:r>
            </a:p>
          </p:txBody>
        </p:sp>
        <p:sp>
          <p:nvSpPr>
            <p:cNvPr id="27" name="TextBox 23">
              <a:extLst>
                <a:ext uri="{FF2B5EF4-FFF2-40B4-BE49-F238E27FC236}">
                  <a16:creationId xmlns:a16="http://schemas.microsoft.com/office/drawing/2014/main" id="{5EDC8C68-24DC-4312-37FC-0E9830C5A639}"/>
                </a:ext>
              </a:extLst>
            </p:cNvPr>
            <p:cNvSpPr txBox="1"/>
            <p:nvPr/>
          </p:nvSpPr>
          <p:spPr>
            <a:xfrm>
              <a:off x="3453130" y="3684905"/>
              <a:ext cx="36258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真实初一：一夜 → 连续两周</a:t>
              </a:r>
            </a:p>
          </p:txBody>
        </p:sp>
        <p:sp>
          <p:nvSpPr>
            <p:cNvPr id="28" name="TextBox 24">
              <a:extLst>
                <a:ext uri="{FF2B5EF4-FFF2-40B4-BE49-F238E27FC236}">
                  <a16:creationId xmlns:a16="http://schemas.microsoft.com/office/drawing/2014/main" id="{EB9D4381-CEF8-2BDF-0E28-390C931A50E9}"/>
                </a:ext>
              </a:extLst>
            </p:cNvPr>
            <p:cNvSpPr txBox="1"/>
            <p:nvPr/>
          </p:nvSpPr>
          <p:spPr>
            <a:xfrm>
              <a:off x="3462655" y="4108768"/>
              <a:ext cx="29326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4000"/>
                    </a:srgbClr>
                  </a:solidFill>
                  <a:latin typeface="Microsoft YaHei UI"/>
                  <a:ea typeface="Microsoft YaHei"/>
                  <a:cs typeface="Microsoft YaHei UI"/>
                </a:rPr>
                <a:t>不验证“感觉不错”，只验证三个结果</a:t>
              </a:r>
            </a:p>
          </p:txBody>
        </p:sp>
        <p:sp>
          <p:nvSpPr>
            <p:cNvPr id="29" name="Line 25">
              <a:extLst>
                <a:ext uri="{FF2B5EF4-FFF2-40B4-BE49-F238E27FC236}">
                  <a16:creationId xmlns:a16="http://schemas.microsoft.com/office/drawing/2014/main" id="{CCA60C55-A23D-BC8E-FC0C-FFA0DF18D3EF}"/>
                </a:ext>
              </a:extLst>
            </p:cNvPr>
            <p:cNvSpPr/>
            <p:nvPr/>
          </p:nvSpPr>
          <p:spPr>
            <a:xfrm>
              <a:off x="3479800" y="4470400"/>
              <a:ext cx="3632200" cy="9525"/>
            </a:xfrm>
            <a:custGeom>
              <a:avLst/>
              <a:gdLst/>
              <a:ahLst/>
              <a:cxnLst/>
              <a:rect l="l" t="t" r="r" b="b"/>
              <a:pathLst>
                <a:path w="3632200" h="9525">
                  <a:moveTo>
                    <a:pt x="0" y="0"/>
                  </a:moveTo>
                  <a:lnTo>
                    <a:pt x="3632200" y="0"/>
                  </a:lnTo>
                </a:path>
              </a:pathLst>
            </a:custGeom>
            <a:noFill/>
            <a:ln w="12700">
              <a:solidFill>
                <a:srgbClr val="FFFFFF">
                  <a:alpha val="32000"/>
                </a:srgbClr>
              </a:solidFill>
            </a:ln>
          </p:spPr>
        </p:sp>
        <p:sp>
          <p:nvSpPr>
            <p:cNvPr id="30" name="Ellipse 26">
              <a:extLst>
                <a:ext uri="{FF2B5EF4-FFF2-40B4-BE49-F238E27FC236}">
                  <a16:creationId xmlns:a16="http://schemas.microsoft.com/office/drawing/2014/main" id="{8C963423-44BA-CB9E-8B46-E4BE95BD57B4}"/>
                </a:ext>
              </a:extLst>
            </p:cNvPr>
            <p:cNvSpPr/>
            <p:nvPr/>
          </p:nvSpPr>
          <p:spPr>
            <a:xfrm>
              <a:off x="3536950" y="4768850"/>
              <a:ext cx="114300" cy="114300"/>
            </a:xfrm>
            <a:prstGeom prst="ellipse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31" name="TextBox 27">
              <a:extLst>
                <a:ext uri="{FF2B5EF4-FFF2-40B4-BE49-F238E27FC236}">
                  <a16:creationId xmlns:a16="http://schemas.microsoft.com/office/drawing/2014/main" id="{B18C3FD2-63C1-6389-AD71-9BBE3E1D5127}"/>
                </a:ext>
              </a:extLst>
            </p:cNvPr>
            <p:cNvSpPr txBox="1"/>
            <p:nvPr/>
          </p:nvSpPr>
          <p:spPr>
            <a:xfrm>
              <a:off x="3777615" y="4728528"/>
              <a:ext cx="1341533" cy="314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5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遗漏是否减少</a:t>
              </a:r>
            </a:p>
          </p:txBody>
        </p:sp>
        <p:sp>
          <p:nvSpPr>
            <p:cNvPr id="32" name="Ellipse 28">
              <a:extLst>
                <a:ext uri="{FF2B5EF4-FFF2-40B4-BE49-F238E27FC236}">
                  <a16:creationId xmlns:a16="http://schemas.microsoft.com/office/drawing/2014/main" id="{77B0BF00-F71F-C50E-34E6-B9515FF2B30A}"/>
                </a:ext>
              </a:extLst>
            </p:cNvPr>
            <p:cNvSpPr/>
            <p:nvPr/>
          </p:nvSpPr>
          <p:spPr>
            <a:xfrm>
              <a:off x="3536950" y="5213350"/>
              <a:ext cx="114300" cy="114300"/>
            </a:xfrm>
            <a:prstGeom prst="ellipse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33" name="TextBox 29">
              <a:extLst>
                <a:ext uri="{FF2B5EF4-FFF2-40B4-BE49-F238E27FC236}">
                  <a16:creationId xmlns:a16="http://schemas.microsoft.com/office/drawing/2014/main" id="{B0BC8E66-FE0B-8F4B-15AF-835478D97720}"/>
                </a:ext>
              </a:extLst>
            </p:cNvPr>
            <p:cNvSpPr txBox="1"/>
            <p:nvPr/>
          </p:nvSpPr>
          <p:spPr>
            <a:xfrm>
              <a:off x="3777615" y="5173028"/>
              <a:ext cx="1992614" cy="314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5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是否更容易自己开始</a:t>
              </a:r>
            </a:p>
          </p:txBody>
        </p:sp>
        <p:sp>
          <p:nvSpPr>
            <p:cNvPr id="34" name="Ellipse 30">
              <a:extLst>
                <a:ext uri="{FF2B5EF4-FFF2-40B4-BE49-F238E27FC236}">
                  <a16:creationId xmlns:a16="http://schemas.microsoft.com/office/drawing/2014/main" id="{D63DEF24-E88A-9430-C00D-C5924F3B66D6}"/>
                </a:ext>
              </a:extLst>
            </p:cNvPr>
            <p:cNvSpPr/>
            <p:nvPr/>
          </p:nvSpPr>
          <p:spPr>
            <a:xfrm>
              <a:off x="3536950" y="5657850"/>
              <a:ext cx="114300" cy="114300"/>
            </a:xfrm>
            <a:prstGeom prst="ellipse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35" name="TextBox 31">
              <a:extLst>
                <a:ext uri="{FF2B5EF4-FFF2-40B4-BE49-F238E27FC236}">
                  <a16:creationId xmlns:a16="http://schemas.microsoft.com/office/drawing/2014/main" id="{9830FE51-7F6A-6D71-DFC6-450EEAF8FDCF}"/>
                </a:ext>
              </a:extLst>
            </p:cNvPr>
            <p:cNvSpPr txBox="1"/>
            <p:nvPr/>
          </p:nvSpPr>
          <p:spPr>
            <a:xfrm>
              <a:off x="3777615" y="5617528"/>
              <a:ext cx="1775587" cy="314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5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估时偏差是否收敛</a:t>
              </a:r>
            </a:p>
          </p:txBody>
        </p:sp>
        <p:sp>
          <p:nvSpPr>
            <p:cNvPr id="36" name="Rectangle 32">
              <a:extLst>
                <a:ext uri="{FF2B5EF4-FFF2-40B4-BE49-F238E27FC236}">
                  <a16:creationId xmlns:a16="http://schemas.microsoft.com/office/drawing/2014/main" id="{46A209BA-6AA1-4F33-A02D-DF370D777609}"/>
                </a:ext>
              </a:extLst>
            </p:cNvPr>
            <p:cNvSpPr/>
            <p:nvPr/>
          </p:nvSpPr>
          <p:spPr>
            <a:xfrm>
              <a:off x="7391400" y="2171700"/>
              <a:ext cx="4267200" cy="3873500"/>
            </a:xfrm>
            <a:prstGeom prst="rect">
              <a:avLst/>
            </a:prstGeom>
            <a:solidFill>
              <a:srgbClr val="1F665A"/>
            </a:solidFill>
            <a:ln>
              <a:noFill/>
            </a:ln>
          </p:spPr>
        </p:sp>
        <p:sp>
          <p:nvSpPr>
            <p:cNvPr id="37" name="Rectangle 33">
              <a:extLst>
                <a:ext uri="{FF2B5EF4-FFF2-40B4-BE49-F238E27FC236}">
                  <a16:creationId xmlns:a16="http://schemas.microsoft.com/office/drawing/2014/main" id="{B0E42E1B-474D-BD59-D92F-2B0F4C680C32}"/>
                </a:ext>
              </a:extLst>
            </p:cNvPr>
            <p:cNvSpPr/>
            <p:nvPr/>
          </p:nvSpPr>
          <p:spPr>
            <a:xfrm>
              <a:off x="7391400" y="2171700"/>
              <a:ext cx="4267200" cy="1016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38" name="TextBox 34">
              <a:extLst>
                <a:ext uri="{FF2B5EF4-FFF2-40B4-BE49-F238E27FC236}">
                  <a16:creationId xmlns:a16="http://schemas.microsoft.com/office/drawing/2014/main" id="{E00C9F24-A7EA-611F-AE33-8E38AD118A8C}"/>
                </a:ext>
              </a:extLst>
            </p:cNvPr>
            <p:cNvSpPr txBox="1"/>
            <p:nvPr/>
          </p:nvSpPr>
          <p:spPr>
            <a:xfrm>
              <a:off x="7654925" y="2493963"/>
              <a:ext cx="2158266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DFFF7A"/>
                  </a:solidFill>
                  <a:latin typeface="Consolas"/>
                  <a:ea typeface="Microsoft YaHei"/>
                  <a:cs typeface="Consolas"/>
                </a:rPr>
                <a:t>03 / ONLY AFTER EVIDENCE</a:t>
              </a:r>
            </a:p>
          </p:txBody>
        </p:sp>
        <p:sp>
          <p:nvSpPr>
            <p:cNvPr id="39" name="TextBox 35">
              <a:extLst>
                <a:ext uri="{FF2B5EF4-FFF2-40B4-BE49-F238E27FC236}">
                  <a16:creationId xmlns:a16="http://schemas.microsoft.com/office/drawing/2014/main" id="{99BF56ED-ABB6-44CE-DB17-2A1930E6E3FB}"/>
                </a:ext>
              </a:extLst>
            </p:cNvPr>
            <p:cNvSpPr txBox="1"/>
            <p:nvPr/>
          </p:nvSpPr>
          <p:spPr>
            <a:xfrm>
              <a:off x="7645400" y="2870200"/>
              <a:ext cx="2851150" cy="40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验证后再选择产品形态</a:t>
              </a:r>
            </a:p>
          </p:txBody>
        </p:sp>
        <p:sp>
          <p:nvSpPr>
            <p:cNvPr id="40" name="TextBox 36">
              <a:extLst>
                <a:ext uri="{FF2B5EF4-FFF2-40B4-BE49-F238E27FC236}">
                  <a16:creationId xmlns:a16="http://schemas.microsoft.com/office/drawing/2014/main" id="{6EBAC6E0-76F7-8BD7-8029-84F2F143B0B3}"/>
                </a:ext>
              </a:extLst>
            </p:cNvPr>
            <p:cNvSpPr txBox="1"/>
            <p:nvPr/>
          </p:nvSpPr>
          <p:spPr>
            <a:xfrm>
              <a:off x="7653655" y="32832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2000"/>
                    </a:srgbClr>
                  </a:solidFill>
                  <a:latin typeface="Microsoft YaHei UI"/>
                  <a:ea typeface="Microsoft YaHei"/>
                  <a:cs typeface="Microsoft YaHei UI"/>
                </a:rPr>
                <a:t>候选，不是今天的结论</a:t>
              </a:r>
            </a:p>
          </p:txBody>
        </p:sp>
        <p:sp>
          <p:nvSpPr>
            <p:cNvPr id="41" name="Line 37">
              <a:extLst>
                <a:ext uri="{FF2B5EF4-FFF2-40B4-BE49-F238E27FC236}">
                  <a16:creationId xmlns:a16="http://schemas.microsoft.com/office/drawing/2014/main" id="{E8B8EA0A-BE9B-EF58-6BD8-2983362A9DC8}"/>
                </a:ext>
              </a:extLst>
            </p:cNvPr>
            <p:cNvSpPr/>
            <p:nvPr/>
          </p:nvSpPr>
          <p:spPr>
            <a:xfrm>
              <a:off x="7670800" y="3657600"/>
              <a:ext cx="3708400" cy="9525"/>
            </a:xfrm>
            <a:custGeom>
              <a:avLst/>
              <a:gdLst/>
              <a:ahLst/>
              <a:cxnLst/>
              <a:rect l="l" t="t" r="r" b="b"/>
              <a:pathLst>
                <a:path w="3708400" h="9525">
                  <a:moveTo>
                    <a:pt x="0" y="0"/>
                  </a:moveTo>
                  <a:lnTo>
                    <a:pt x="3708400" y="0"/>
                  </a:lnTo>
                </a:path>
              </a:pathLst>
            </a:custGeom>
            <a:noFill/>
            <a:ln w="12700">
              <a:solidFill>
                <a:srgbClr val="FFFFFF">
                  <a:alpha val="32000"/>
                </a:srgbClr>
              </a:solidFill>
            </a:ln>
          </p:spPr>
        </p:sp>
        <p:sp>
          <p:nvSpPr>
            <p:cNvPr id="42" name="Rectangle 38">
              <a:extLst>
                <a:ext uri="{FF2B5EF4-FFF2-40B4-BE49-F238E27FC236}">
                  <a16:creationId xmlns:a16="http://schemas.microsoft.com/office/drawing/2014/main" id="{1078BFE0-F4F1-8376-AA0A-44211D54DB00}"/>
                </a:ext>
              </a:extLst>
            </p:cNvPr>
            <p:cNvSpPr/>
            <p:nvPr/>
          </p:nvSpPr>
          <p:spPr>
            <a:xfrm>
              <a:off x="7670800" y="3975100"/>
              <a:ext cx="88900" cy="889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43" name="TextBox 39">
              <a:extLst>
                <a:ext uri="{FF2B5EF4-FFF2-40B4-BE49-F238E27FC236}">
                  <a16:creationId xmlns:a16="http://schemas.microsoft.com/office/drawing/2014/main" id="{2046459F-8CCD-9BED-642C-F09A744BD205}"/>
                </a:ext>
              </a:extLst>
            </p:cNvPr>
            <p:cNvSpPr txBox="1"/>
            <p:nvPr/>
          </p:nvSpPr>
          <p:spPr>
            <a:xfrm>
              <a:off x="7891780" y="3923030"/>
              <a:ext cx="936752" cy="32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家庭订阅</a:t>
              </a:r>
            </a:p>
          </p:txBody>
        </p:sp>
        <p:sp>
          <p:nvSpPr>
            <p:cNvPr id="44" name="Rectangle 40">
              <a:extLst>
                <a:ext uri="{FF2B5EF4-FFF2-40B4-BE49-F238E27FC236}">
                  <a16:creationId xmlns:a16="http://schemas.microsoft.com/office/drawing/2014/main" id="{E69DE9E3-F376-161E-144A-722AB7C64237}"/>
                </a:ext>
              </a:extLst>
            </p:cNvPr>
            <p:cNvSpPr/>
            <p:nvPr/>
          </p:nvSpPr>
          <p:spPr>
            <a:xfrm>
              <a:off x="7670800" y="4457700"/>
              <a:ext cx="88900" cy="889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45" name="TextBox 41">
              <a:extLst>
                <a:ext uri="{FF2B5EF4-FFF2-40B4-BE49-F238E27FC236}">
                  <a16:creationId xmlns:a16="http://schemas.microsoft.com/office/drawing/2014/main" id="{81A14317-9C76-6DE0-E24C-9C55ED1C1E13}"/>
                </a:ext>
              </a:extLst>
            </p:cNvPr>
            <p:cNvSpPr txBox="1"/>
            <p:nvPr/>
          </p:nvSpPr>
          <p:spPr>
            <a:xfrm>
              <a:off x="7891780" y="4405630"/>
              <a:ext cx="936752" cy="32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本地软件</a:t>
              </a:r>
            </a:p>
          </p:txBody>
        </p:sp>
        <p:sp>
          <p:nvSpPr>
            <p:cNvPr id="46" name="Rectangle 42">
              <a:extLst>
                <a:ext uri="{FF2B5EF4-FFF2-40B4-BE49-F238E27FC236}">
                  <a16:creationId xmlns:a16="http://schemas.microsoft.com/office/drawing/2014/main" id="{3AED3715-B2FC-72DE-2E74-622336011D97}"/>
                </a:ext>
              </a:extLst>
            </p:cNvPr>
            <p:cNvSpPr/>
            <p:nvPr/>
          </p:nvSpPr>
          <p:spPr>
            <a:xfrm>
              <a:off x="7670800" y="4940300"/>
              <a:ext cx="88900" cy="88900"/>
            </a:xfrm>
            <a:prstGeom prst="rect">
              <a:avLst/>
            </a:prstGeom>
            <a:solidFill>
              <a:srgbClr val="DFFF7A"/>
            </a:solidFill>
            <a:ln>
              <a:noFill/>
            </a:ln>
          </p:spPr>
        </p:sp>
        <p:sp>
          <p:nvSpPr>
            <p:cNvPr id="47" name="TextBox 43">
              <a:extLst>
                <a:ext uri="{FF2B5EF4-FFF2-40B4-BE49-F238E27FC236}">
                  <a16:creationId xmlns:a16="http://schemas.microsoft.com/office/drawing/2014/main" id="{3473819B-12AA-D21A-82E2-1B90F2BF1A0E}"/>
                </a:ext>
              </a:extLst>
            </p:cNvPr>
            <p:cNvSpPr txBox="1"/>
            <p:nvPr/>
          </p:nvSpPr>
          <p:spPr>
            <a:xfrm>
              <a:off x="7891780" y="4888230"/>
              <a:ext cx="1003960" cy="32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FFFFFF"/>
                  </a:solidFill>
                  <a:latin typeface="Microsoft YaHei UI"/>
                  <a:ea typeface="Microsoft YaHei"/>
                  <a:cs typeface="Microsoft YaHei UI"/>
                </a:rPr>
                <a:t>规划 Skill</a:t>
              </a:r>
            </a:p>
          </p:txBody>
        </p:sp>
        <p:sp>
          <p:nvSpPr>
            <p:cNvPr id="48" name="Line 44">
              <a:extLst>
                <a:ext uri="{FF2B5EF4-FFF2-40B4-BE49-F238E27FC236}">
                  <a16:creationId xmlns:a16="http://schemas.microsoft.com/office/drawing/2014/main" id="{81410C9C-35A5-2242-248A-E04A6E5CB2DA}"/>
                </a:ext>
              </a:extLst>
            </p:cNvPr>
            <p:cNvSpPr/>
            <p:nvPr/>
          </p:nvSpPr>
          <p:spPr>
            <a:xfrm>
              <a:off x="7670800" y="5346700"/>
              <a:ext cx="3708400" cy="9525"/>
            </a:xfrm>
            <a:custGeom>
              <a:avLst/>
              <a:gdLst/>
              <a:ahLst/>
              <a:cxnLst/>
              <a:rect l="l" t="t" r="r" b="b"/>
              <a:pathLst>
                <a:path w="3708400" h="9525">
                  <a:moveTo>
                    <a:pt x="0" y="0"/>
                  </a:moveTo>
                  <a:lnTo>
                    <a:pt x="3708400" y="0"/>
                  </a:lnTo>
                </a:path>
              </a:pathLst>
            </a:custGeom>
            <a:noFill/>
            <a:ln w="12700">
              <a:solidFill>
                <a:srgbClr val="FFFFFF">
                  <a:alpha val="32000"/>
                </a:srgbClr>
              </a:solidFill>
            </a:ln>
          </p:spPr>
        </p:sp>
        <p:sp>
          <p:nvSpPr>
            <p:cNvPr id="49" name="TextBox 45">
              <a:extLst>
                <a:ext uri="{FF2B5EF4-FFF2-40B4-BE49-F238E27FC236}">
                  <a16:creationId xmlns:a16="http://schemas.microsoft.com/office/drawing/2014/main" id="{6A88B34D-5DF7-A266-8D29-DD7A853CDD48}"/>
                </a:ext>
              </a:extLst>
            </p:cNvPr>
            <p:cNvSpPr txBox="1"/>
            <p:nvPr/>
          </p:nvSpPr>
          <p:spPr>
            <a:xfrm>
              <a:off x="7653655" y="5505768"/>
              <a:ext cx="23025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FFF7A"/>
                  </a:solidFill>
                  <a:latin typeface="Microsoft YaHei UI"/>
                  <a:ea typeface="Microsoft YaHei"/>
                  <a:cs typeface="Microsoft YaHei UI"/>
                </a:rPr>
                <a:t>预期付费者：家长，待验证</a:t>
              </a:r>
            </a:p>
          </p:txBody>
        </p:sp>
        <p:sp>
          <p:nvSpPr>
            <p:cNvPr id="50" name="TextBox 46">
              <a:extLst>
                <a:ext uri="{FF2B5EF4-FFF2-40B4-BE49-F238E27FC236}">
                  <a16:creationId xmlns:a16="http://schemas.microsoft.com/office/drawing/2014/main" id="{5D432113-1605-21BE-12EA-F12D6C094285}"/>
                </a:ext>
              </a:extLst>
            </p:cNvPr>
            <p:cNvSpPr txBox="1"/>
            <p:nvPr/>
          </p:nvSpPr>
          <p:spPr>
            <a:xfrm>
              <a:off x="7656830" y="5774055"/>
              <a:ext cx="2668270" cy="223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FFFFFF">
                      <a:alphaMod val="72000"/>
                    </a:srgbClr>
                  </a:solidFill>
                  <a:latin typeface="Microsoft YaHei UI"/>
                  <a:ea typeface="Microsoft YaHei"/>
                  <a:cs typeface="Microsoft YaHei UI"/>
                </a:rPr>
                <a:t>先让真实家庭愿意一直用，再谈怎么收费</a:t>
              </a:r>
            </a:p>
          </p:txBody>
        </p:sp>
      </p:grpSp>
      <p:grpSp>
        <p:nvGrpSpPr>
          <p:cNvPr id="99" name="Group 50">
            <a:extLst>
              <a:ext uri="{FF2B5EF4-FFF2-40B4-BE49-F238E27FC236}">
                <a16:creationId xmlns:a16="http://schemas.microsoft.com/office/drawing/2014/main" id="{58B9508B-1551-BCF2-5EF1-AAB9FB80C7B6}"/>
              </a:ext>
            </a:extLst>
          </p:cNvPr>
          <p:cNvGrpSpPr/>
          <p:nvPr/>
        </p:nvGrpSpPr>
        <p:grpSpPr>
          <a:xfrm>
            <a:off x="518160" y="6490018"/>
            <a:ext cx="11157585" cy="274320"/>
            <a:chOff x="518160" y="6490018"/>
            <a:chExt cx="11157585" cy="274320"/>
          </a:xfrm>
        </p:grpSpPr>
        <p:sp>
          <p:nvSpPr>
            <p:cNvPr id="100" name="TextBox 48">
              <a:extLst>
                <a:ext uri="{FF2B5EF4-FFF2-40B4-BE49-F238E27FC236}">
                  <a16:creationId xmlns:a16="http://schemas.microsoft.com/office/drawing/2014/main" id="{EA986730-7531-5881-7A4B-F7D90469E687}"/>
                </a:ext>
              </a:extLst>
            </p:cNvPr>
            <p:cNvSpPr txBox="1"/>
            <p:nvPr/>
          </p:nvSpPr>
          <p:spPr>
            <a:xfrm>
              <a:off x="518160" y="6506210"/>
              <a:ext cx="56231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D6D69"/>
                  </a:solidFill>
                  <a:latin typeface="Consolas"/>
                  <a:ea typeface="Microsoft YaHei"/>
                  <a:cs typeface="Consolas"/>
                </a:rPr>
                <a:t>working system today / real family outcomes next / product form later</a:t>
              </a:r>
            </a:p>
          </p:txBody>
        </p:sp>
        <p:sp>
          <p:nvSpPr>
            <p:cNvPr id="101" name="TextBox 49">
              <a:extLst>
                <a:ext uri="{FF2B5EF4-FFF2-40B4-BE49-F238E27FC236}">
                  <a16:creationId xmlns:a16="http://schemas.microsoft.com/office/drawing/2014/main" id="{05994BED-0F0C-8C63-275C-B7E41C8213DD}"/>
                </a:ext>
              </a:extLst>
            </p:cNvPr>
            <p:cNvSpPr txBox="1"/>
            <p:nvPr/>
          </p:nvSpPr>
          <p:spPr>
            <a:xfrm>
              <a:off x="11433529" y="64900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002FA7"/>
                  </a:solidFill>
                  <a:latin typeface="Microsoft YaHei UI"/>
                  <a:ea typeface="Microsoft YaHei"/>
                  <a:cs typeface="Microsoft YaHei UI"/>
                </a:rPr>
                <a:t>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11 Father and Daughter Closing">
            <a:extLst>
              <a:ext uri="{FF2B5EF4-FFF2-40B4-BE49-F238E27FC236}">
                <a16:creationId xmlns:a16="http://schemas.microsoft.com/office/drawing/2014/main" id="{9D0BA819-2A89-11A8-E59F-ACE75AFC0D2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4377</Words>
  <Application>Microsoft Office PowerPoint</Application>
  <PresentationFormat>宽屏</PresentationFormat>
  <Paragraphs>303</Paragraphs>
  <Slides>10</Slides>
  <Notes>10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 UI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中顺 陈</cp:lastModifiedBy>
  <cp:revision>18</cp:revision>
  <dcterms:created xsi:type="dcterms:W3CDTF">2013-01-27T09:14:16Z</dcterms:created>
  <dcterms:modified xsi:type="dcterms:W3CDTF">2026-08-10T12:17:51Z</dcterms:modified>
  <cp:category/>
</cp:coreProperties>
</file>